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y="6858000" cx="12192000"/>
  <p:notesSz cx="6858000" cy="9144000"/>
  <p:embeddedFontLst>
    <p:embeddedFont>
      <p:font typeface="Work Sans"/>
      <p:regular r:id="rId30"/>
      <p:bold r:id="rId31"/>
      <p:italic r:id="rId32"/>
      <p:boldItalic r:id="rId33"/>
    </p:embeddedFont>
    <p:embeddedFont>
      <p:font typeface="Work Sans Light"/>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595">
          <p15:clr>
            <a:srgbClr val="A4A3A4"/>
          </p15:clr>
        </p15:guide>
        <p15:guide id="2" pos="3840">
          <p15:clr>
            <a:srgbClr val="A4A3A4"/>
          </p15:clr>
        </p15:guide>
        <p15:guide id="3" orient="horz" pos="187">
          <p15:clr>
            <a:srgbClr val="A4A3A4"/>
          </p15:clr>
        </p15:guide>
      </p15:sldGuideLst>
    </p:ext>
    <p:ext uri="GoogleSlidesCustomDataVersion2">
      <go:slidesCustomData xmlns:go="http://customooxmlschemas.google.com/" r:id="rId38" roundtripDataSignature="AMtx7mhJi12koaq4VH+yA/2QbUamNlwXV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595" orient="horz"/>
        <p:guide pos="3840"/>
        <p:guide pos="187"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WorkSans-bold.fntdata"/><Relationship Id="rId30" Type="http://schemas.openxmlformats.org/officeDocument/2006/relationships/font" Target="fonts/WorkSans-regular.fntdata"/><Relationship Id="rId11" Type="http://schemas.openxmlformats.org/officeDocument/2006/relationships/slide" Target="slides/slide6.xml"/><Relationship Id="rId33" Type="http://schemas.openxmlformats.org/officeDocument/2006/relationships/font" Target="fonts/WorkSans-boldItalic.fntdata"/><Relationship Id="rId10" Type="http://schemas.openxmlformats.org/officeDocument/2006/relationships/slide" Target="slides/slide5.xml"/><Relationship Id="rId32" Type="http://schemas.openxmlformats.org/officeDocument/2006/relationships/font" Target="fonts/WorkSans-italic.fntdata"/><Relationship Id="rId13" Type="http://schemas.openxmlformats.org/officeDocument/2006/relationships/slide" Target="slides/slide8.xml"/><Relationship Id="rId35" Type="http://schemas.openxmlformats.org/officeDocument/2006/relationships/font" Target="fonts/WorkSansLight-bold.fntdata"/><Relationship Id="rId12" Type="http://schemas.openxmlformats.org/officeDocument/2006/relationships/slide" Target="slides/slide7.xml"/><Relationship Id="rId34" Type="http://schemas.openxmlformats.org/officeDocument/2006/relationships/font" Target="fonts/WorkSansLight-regular.fntdata"/><Relationship Id="rId15" Type="http://schemas.openxmlformats.org/officeDocument/2006/relationships/slide" Target="slides/slide10.xml"/><Relationship Id="rId37" Type="http://schemas.openxmlformats.org/officeDocument/2006/relationships/font" Target="fonts/WorkSansLight-boldItalic.fntdata"/><Relationship Id="rId14" Type="http://schemas.openxmlformats.org/officeDocument/2006/relationships/slide" Target="slides/slide9.xml"/><Relationship Id="rId36" Type="http://schemas.openxmlformats.org/officeDocument/2006/relationships/font" Target="fonts/WorkSansLight-italic.fntdata"/><Relationship Id="rId17" Type="http://schemas.openxmlformats.org/officeDocument/2006/relationships/slide" Target="slides/slide12.xml"/><Relationship Id="rId16" Type="http://schemas.openxmlformats.org/officeDocument/2006/relationships/slide" Target="slides/slide11.xml"/><Relationship Id="rId38" Type="http://customschemas.google.com/relationships/presentationmetadata" Target="meta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s-CO"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 name="Google Shape;9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 name="Google Shape;10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 name="Google Shape;11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 name="Google Shape;12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 name="Google Shape;14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 name="Google Shape;155;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4" name="Google Shape;164;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3" name="Google Shape;17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2" name="Google Shape;182;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8" name="Google Shape;18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7" name="Google Shape;19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5" name="Google Shape;21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9439f1cb08_5_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4" name="Google Shape;224;g39439f1cb08_5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3" name="Google Shape;23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9" name="Google Shape;23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0" name="Google Shape;250;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3" name="Google Shape;273;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9" name="Google Shape;279;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9" name="Google Shape;28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 blanco" type="blank">
  <p:cSld name="BLANK">
    <p:spTree>
      <p:nvGrpSpPr>
        <p:cNvPr id="15" name="Shape 15"/>
        <p:cNvGrpSpPr/>
        <p:nvPr/>
      </p:nvGrpSpPr>
      <p:grpSpPr>
        <a:xfrm>
          <a:off x="0" y="0"/>
          <a:ext cx="0" cy="0"/>
          <a:chOff x="0" y="0"/>
          <a:chExt cx="0" cy="0"/>
        </a:xfrm>
      </p:grpSpPr>
      <p:sp>
        <p:nvSpPr>
          <p:cNvPr id="16" name="Google Shape;16;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 name="Google Shape;18;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apositiva de título" type="title">
  <p:cSld name="TITLE">
    <p:spTree>
      <p:nvGrpSpPr>
        <p:cNvPr id="19" name="Shape 19"/>
        <p:cNvGrpSpPr/>
        <p:nvPr/>
      </p:nvGrpSpPr>
      <p:grpSpPr>
        <a:xfrm>
          <a:off x="0" y="0"/>
          <a:ext cx="0" cy="0"/>
          <a:chOff x="0" y="0"/>
          <a:chExt cx="0" cy="0"/>
        </a:xfrm>
      </p:grpSpPr>
      <p:sp>
        <p:nvSpPr>
          <p:cNvPr id="20" name="Google Shape;20;p26"/>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26"/>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22" name="Google Shape;22;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objetos" type="obj">
  <p:cSld name="OBJECT">
    <p:spTree>
      <p:nvGrpSpPr>
        <p:cNvPr id="25" name="Shape 25"/>
        <p:cNvGrpSpPr/>
        <p:nvPr/>
      </p:nvGrpSpPr>
      <p:grpSpPr>
        <a:xfrm>
          <a:off x="0" y="0"/>
          <a:ext cx="0" cy="0"/>
          <a:chOff x="0" y="0"/>
          <a:chExt cx="0" cy="0"/>
        </a:xfrm>
      </p:grpSpPr>
      <p:sp>
        <p:nvSpPr>
          <p:cNvPr id="26" name="Google Shape;26;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2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cabezado de sección" type="secHead">
  <p:cSld name="SECTION_HEADER">
    <p:spTree>
      <p:nvGrpSpPr>
        <p:cNvPr id="31" name="Shape 31"/>
        <p:cNvGrpSpPr/>
        <p:nvPr/>
      </p:nvGrpSpPr>
      <p:grpSpPr>
        <a:xfrm>
          <a:off x="0" y="0"/>
          <a:ext cx="0" cy="0"/>
          <a:chOff x="0" y="0"/>
          <a:chExt cx="0" cy="0"/>
        </a:xfrm>
      </p:grpSpPr>
      <p:sp>
        <p:nvSpPr>
          <p:cNvPr id="32" name="Google Shape;32;p28"/>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28"/>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34" name="Google Shape;34;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6" name="Google Shape;36;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os objetos" type="twoObj">
  <p:cSld name="TWO_OBJECTS">
    <p:spTree>
      <p:nvGrpSpPr>
        <p:cNvPr id="37" name="Shape 37"/>
        <p:cNvGrpSpPr/>
        <p:nvPr/>
      </p:nvGrpSpPr>
      <p:grpSpPr>
        <a:xfrm>
          <a:off x="0" y="0"/>
          <a:ext cx="0" cy="0"/>
          <a:chOff x="0" y="0"/>
          <a:chExt cx="0" cy="0"/>
        </a:xfrm>
      </p:grpSpPr>
      <p:sp>
        <p:nvSpPr>
          <p:cNvPr id="38" name="Google Shape;38;p2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9"/>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0" name="Google Shape;40;p29"/>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ación" type="twoTxTwoObj">
  <p:cSld name="TWO_OBJECTS_WITH_TEXT">
    <p:spTree>
      <p:nvGrpSpPr>
        <p:cNvPr id="44" name="Shape 44"/>
        <p:cNvGrpSpPr/>
        <p:nvPr/>
      </p:nvGrpSpPr>
      <p:grpSpPr>
        <a:xfrm>
          <a:off x="0" y="0"/>
          <a:ext cx="0" cy="0"/>
          <a:chOff x="0" y="0"/>
          <a:chExt cx="0" cy="0"/>
        </a:xfrm>
      </p:grpSpPr>
      <p:sp>
        <p:nvSpPr>
          <p:cNvPr id="45" name="Google Shape;45;p30"/>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30"/>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7" name="Google Shape;47;p30"/>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30"/>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9" name="Google Shape;49;p30"/>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0" name="Google Shape;50;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olo el título" type="titleOnly">
  <p:cSld name="TITLE_ONLY">
    <p:spTree>
      <p:nvGrpSpPr>
        <p:cNvPr id="53" name="Shape 53"/>
        <p:cNvGrpSpPr/>
        <p:nvPr/>
      </p:nvGrpSpPr>
      <p:grpSpPr>
        <a:xfrm>
          <a:off x="0" y="0"/>
          <a:ext cx="0" cy="0"/>
          <a:chOff x="0" y="0"/>
          <a:chExt cx="0" cy="0"/>
        </a:xfrm>
      </p:grpSpPr>
      <p:sp>
        <p:nvSpPr>
          <p:cNvPr id="54" name="Google Shape;54;p3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3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3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3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con título" type="objTx">
  <p:cSld name="OBJECT_WITH_CAPTION_TEXT">
    <p:spTree>
      <p:nvGrpSpPr>
        <p:cNvPr id="58" name="Shape 58"/>
        <p:cNvGrpSpPr/>
        <p:nvPr/>
      </p:nvGrpSpPr>
      <p:grpSpPr>
        <a:xfrm>
          <a:off x="0" y="0"/>
          <a:ext cx="0" cy="0"/>
          <a:chOff x="0" y="0"/>
          <a:chExt cx="0" cy="0"/>
        </a:xfrm>
      </p:grpSpPr>
      <p:sp>
        <p:nvSpPr>
          <p:cNvPr id="59" name="Google Shape;59;p3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3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1" name="Google Shape;61;p3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2" name="Google Shape;62;p3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3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3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n con título" type="picTx">
  <p:cSld name="PICTURE_WITH_CAPTION_TEXT">
    <p:spTree>
      <p:nvGrpSpPr>
        <p:cNvPr id="65" name="Shape 65"/>
        <p:cNvGrpSpPr/>
        <p:nvPr/>
      </p:nvGrpSpPr>
      <p:grpSpPr>
        <a:xfrm>
          <a:off x="0" y="0"/>
          <a:ext cx="0" cy="0"/>
          <a:chOff x="0" y="0"/>
          <a:chExt cx="0" cy="0"/>
        </a:xfrm>
      </p:grpSpPr>
      <p:sp>
        <p:nvSpPr>
          <p:cNvPr id="66" name="Google Shape;66;p3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33"/>
          <p:cNvSpPr/>
          <p:nvPr>
            <p:ph idx="2" type="pic"/>
          </p:nvPr>
        </p:nvSpPr>
        <p:spPr>
          <a:xfrm>
            <a:off x="5183188" y="987425"/>
            <a:ext cx="6172200" cy="4873625"/>
          </a:xfrm>
          <a:prstGeom prst="rect">
            <a:avLst/>
          </a:prstGeom>
          <a:noFill/>
          <a:ln>
            <a:noFill/>
          </a:ln>
        </p:spPr>
      </p:sp>
      <p:sp>
        <p:nvSpPr>
          <p:cNvPr id="68" name="Google Shape;68;p3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9" name="Google Shape;69;p3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3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3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y texto vertical" type="vertTx">
  <p:cSld name="VERTICAL_TEXT">
    <p:spTree>
      <p:nvGrpSpPr>
        <p:cNvPr id="72" name="Shape 72"/>
        <p:cNvGrpSpPr/>
        <p:nvPr/>
      </p:nvGrpSpPr>
      <p:grpSpPr>
        <a:xfrm>
          <a:off x="0" y="0"/>
          <a:ext cx="0" cy="0"/>
          <a:chOff x="0" y="0"/>
          <a:chExt cx="0" cy="0"/>
        </a:xfrm>
      </p:grpSpPr>
      <p:sp>
        <p:nvSpPr>
          <p:cNvPr id="73" name="Google Shape;73;p3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3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3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3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3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ítulo vertical y texto" type="vertTitleAndTx">
  <p:cSld name="VERTICAL_TITLE_AND_VERTICAL_TEXT">
    <p:spTree>
      <p:nvGrpSpPr>
        <p:cNvPr id="78" name="Shape 78"/>
        <p:cNvGrpSpPr/>
        <p:nvPr/>
      </p:nvGrpSpPr>
      <p:grpSpPr>
        <a:xfrm>
          <a:off x="0" y="0"/>
          <a:ext cx="0" cy="0"/>
          <a:chOff x="0" y="0"/>
          <a:chExt cx="0" cy="0"/>
        </a:xfrm>
      </p:grpSpPr>
      <p:sp>
        <p:nvSpPr>
          <p:cNvPr id="79" name="Google Shape;79;p3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3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3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3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3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seño personalizado">
  <p:cSld name="Diseño personalizado">
    <p:bg>
      <p:bgPr>
        <a:blipFill>
          <a:blip r:embed="rId2">
            <a:alphaModFix/>
          </a:blip>
          <a:stretch>
            <a:fillRect/>
          </a:stretch>
        </a:blipFill>
      </p:bgPr>
    </p:bg>
    <p:spTree>
      <p:nvGrpSpPr>
        <p:cNvPr id="84" name="Shape 84"/>
        <p:cNvGrpSpPr/>
        <p:nvPr/>
      </p:nvGrpSpPr>
      <p:grpSpPr>
        <a:xfrm>
          <a:off x="0" y="0"/>
          <a:ext cx="0" cy="0"/>
          <a:chOff x="0" y="0"/>
          <a:chExt cx="0" cy="0"/>
        </a:xfrm>
      </p:grpSpPr>
      <p:sp>
        <p:nvSpPr>
          <p:cNvPr id="85" name="Google Shape;85;p3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3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3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3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3" name="Google Shape;13;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4" name="Google Shape;14;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s-CO"/>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1.pn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3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2.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3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9.png"/><Relationship Id="rId5" Type="http://schemas.openxmlformats.org/officeDocument/2006/relationships/image" Target="../media/image24.png"/><Relationship Id="rId6"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5.png"/><Relationship Id="rId5"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2" name="Shape 92"/>
        <p:cNvGrpSpPr/>
        <p:nvPr/>
      </p:nvGrpSpPr>
      <p:grpSpPr>
        <a:xfrm>
          <a:off x="0" y="0"/>
          <a:ext cx="0" cy="0"/>
          <a:chOff x="0" y="0"/>
          <a:chExt cx="0" cy="0"/>
        </a:xfrm>
      </p:grpSpPr>
      <p:sp>
        <p:nvSpPr>
          <p:cNvPr id="93" name="Google Shape;93;p1"/>
          <p:cNvSpPr txBox="1"/>
          <p:nvPr/>
        </p:nvSpPr>
        <p:spPr>
          <a:xfrm>
            <a:off x="946700" y="1909950"/>
            <a:ext cx="7245900" cy="3324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3F3F3F"/>
              </a:buClr>
              <a:buSzPts val="5400"/>
              <a:buFont typeface="Work Sans"/>
              <a:buNone/>
            </a:pPr>
            <a:r>
              <a:rPr b="1" i="0" lang="es-CO" sz="5200" u="none" cap="none" strike="noStrike">
                <a:solidFill>
                  <a:srgbClr val="3F3F3F"/>
                </a:solidFill>
                <a:latin typeface="Work Sans"/>
                <a:ea typeface="Work Sans"/>
                <a:cs typeface="Work Sans"/>
                <a:sym typeface="Work Sans"/>
              </a:rPr>
              <a:t>Sistema de información</a:t>
            </a:r>
            <a:endParaRPr b="1" i="0" sz="5200" u="none" cap="none" strike="noStrike">
              <a:solidFill>
                <a:srgbClr val="3F3F3F"/>
              </a:solidFill>
              <a:latin typeface="Work Sans"/>
              <a:ea typeface="Work Sans"/>
              <a:cs typeface="Work Sans"/>
              <a:sym typeface="Work Sans"/>
            </a:endParaRPr>
          </a:p>
          <a:p>
            <a:pPr indent="0" lvl="0" marL="0" marR="0" rtl="0" algn="l">
              <a:lnSpc>
                <a:spcPct val="100000"/>
              </a:lnSpc>
              <a:spcBef>
                <a:spcPts val="0"/>
              </a:spcBef>
              <a:spcAft>
                <a:spcPts val="0"/>
              </a:spcAft>
              <a:buClr>
                <a:srgbClr val="3F3F3F"/>
              </a:buClr>
              <a:buSzPts val="5400"/>
              <a:buFont typeface="Work Sans"/>
              <a:buNone/>
            </a:pPr>
            <a:r>
              <a:rPr b="1" i="0" lang="es-CO" sz="5200" u="none" cap="none" strike="noStrike">
                <a:solidFill>
                  <a:srgbClr val="3F3F3F"/>
                </a:solidFill>
                <a:latin typeface="Work Sans"/>
                <a:ea typeface="Work Sans"/>
                <a:cs typeface="Work Sans"/>
                <a:sym typeface="Work Sans"/>
              </a:rPr>
              <a:t>CheerClick Systems</a:t>
            </a:r>
            <a:endParaRPr b="1" i="0" sz="5200" u="none" cap="none" strike="noStrike">
              <a:solidFill>
                <a:srgbClr val="3F3F3F"/>
              </a:solidFill>
              <a:latin typeface="Work Sans"/>
              <a:ea typeface="Work Sans"/>
              <a:cs typeface="Work Sans"/>
              <a:sym typeface="Work Sans"/>
            </a:endParaRPr>
          </a:p>
          <a:p>
            <a:pPr indent="0" lvl="0" marL="0" marR="0" rtl="0" algn="l">
              <a:lnSpc>
                <a:spcPct val="100000"/>
              </a:lnSpc>
              <a:spcBef>
                <a:spcPts val="0"/>
              </a:spcBef>
              <a:spcAft>
                <a:spcPts val="0"/>
              </a:spcAft>
              <a:buClr>
                <a:srgbClr val="3F3F3F"/>
              </a:buClr>
              <a:buSzPts val="5400"/>
              <a:buFont typeface="Work Sans"/>
              <a:buNone/>
            </a:pPr>
            <a:r>
              <a:t/>
            </a:r>
            <a:endParaRPr b="1" i="0" sz="5400" u="none" cap="none" strike="noStrike">
              <a:solidFill>
                <a:srgbClr val="3F3F3F"/>
              </a:solidFill>
              <a:latin typeface="Work Sans"/>
              <a:ea typeface="Work Sans"/>
              <a:cs typeface="Work Sans"/>
              <a:sym typeface="Work Sans"/>
            </a:endParaRPr>
          </a:p>
        </p:txBody>
      </p:sp>
      <p:pic>
        <p:nvPicPr>
          <p:cNvPr id="94" name="Google Shape;94;p1"/>
          <p:cNvPicPr preferRelativeResize="0"/>
          <p:nvPr/>
        </p:nvPicPr>
        <p:blipFill rotWithShape="1">
          <a:blip r:embed="rId4">
            <a:alphaModFix/>
          </a:blip>
          <a:srcRect b="0" l="0" r="0" t="0"/>
          <a:stretch/>
        </p:blipFill>
        <p:spPr>
          <a:xfrm>
            <a:off x="9703875" y="4220151"/>
            <a:ext cx="1419425" cy="16323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98" name="Shape 98"/>
        <p:cNvGrpSpPr/>
        <p:nvPr/>
      </p:nvGrpSpPr>
      <p:grpSpPr>
        <a:xfrm>
          <a:off x="0" y="0"/>
          <a:ext cx="0" cy="0"/>
          <a:chOff x="0" y="0"/>
          <a:chExt cx="0" cy="0"/>
        </a:xfrm>
      </p:grpSpPr>
      <p:sp>
        <p:nvSpPr>
          <p:cNvPr id="99" name="Google Shape;99;p2"/>
          <p:cNvSpPr txBox="1"/>
          <p:nvPr/>
        </p:nvSpPr>
        <p:spPr>
          <a:xfrm>
            <a:off x="3443550" y="2169125"/>
            <a:ext cx="5304900" cy="1015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4D4D4C"/>
              </a:buClr>
              <a:buSzPts val="6000"/>
              <a:buFont typeface="Work Sans"/>
              <a:buNone/>
            </a:pPr>
            <a:r>
              <a:rPr b="1" i="0" lang="es-CO" sz="6000" u="none" cap="none" strike="noStrike">
                <a:solidFill>
                  <a:srgbClr val="4D4D4C"/>
                </a:solidFill>
                <a:latin typeface="Work Sans"/>
                <a:ea typeface="Work Sans"/>
                <a:cs typeface="Work Sans"/>
                <a:sym typeface="Work Sans"/>
              </a:rPr>
              <a:t>APRENDICES</a:t>
            </a:r>
            <a:endParaRPr b="1" i="0" sz="7200" u="none" cap="none" strike="noStrike">
              <a:solidFill>
                <a:srgbClr val="4D4D4C"/>
              </a:solidFill>
              <a:latin typeface="Work Sans"/>
              <a:ea typeface="Work Sans"/>
              <a:cs typeface="Work Sans"/>
              <a:sym typeface="Work Sans"/>
            </a:endParaRPr>
          </a:p>
        </p:txBody>
      </p:sp>
      <p:cxnSp>
        <p:nvCxnSpPr>
          <p:cNvPr id="100" name="Google Shape;100;p2"/>
          <p:cNvCxnSpPr/>
          <p:nvPr/>
        </p:nvCxnSpPr>
        <p:spPr>
          <a:xfrm>
            <a:off x="4972228" y="3324314"/>
            <a:ext cx="2247544" cy="0"/>
          </a:xfrm>
          <a:prstGeom prst="straightConnector1">
            <a:avLst/>
          </a:prstGeom>
          <a:noFill/>
          <a:ln cap="flat" cmpd="sng" w="12700">
            <a:solidFill>
              <a:srgbClr val="38AA00"/>
            </a:solidFill>
            <a:prstDash val="solid"/>
            <a:miter lim="800000"/>
            <a:headEnd len="sm" w="sm" type="none"/>
            <a:tailEnd len="sm" w="sm" type="none"/>
          </a:ln>
        </p:spPr>
      </p:cxnSp>
      <p:sp>
        <p:nvSpPr>
          <p:cNvPr id="101" name="Google Shape;101;p2"/>
          <p:cNvSpPr txBox="1"/>
          <p:nvPr/>
        </p:nvSpPr>
        <p:spPr>
          <a:xfrm>
            <a:off x="4168816" y="3463724"/>
            <a:ext cx="3854400" cy="1477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100"/>
              <a:buFont typeface="Arial"/>
              <a:buNone/>
            </a:pPr>
            <a:r>
              <a:rPr b="0" i="0" lang="es-CO" sz="1800" u="none" cap="none" strike="noStrike">
                <a:solidFill>
                  <a:srgbClr val="000000"/>
                </a:solidFill>
                <a:latin typeface="Calibri"/>
                <a:ea typeface="Calibri"/>
                <a:cs typeface="Calibri"/>
                <a:sym typeface="Calibri"/>
              </a:rPr>
              <a:t>           Juan Sebastian Serrano Luis</a:t>
            </a:r>
            <a:endParaRPr b="0" i="0" sz="18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chemeClr val="dk1"/>
              </a:buClr>
              <a:buSzPts val="1100"/>
              <a:buFont typeface="Arial"/>
              <a:buNone/>
            </a:pPr>
            <a:r>
              <a:rPr b="0" i="0" lang="es-CO" sz="1800" u="none" cap="none" strike="noStrike">
                <a:solidFill>
                  <a:srgbClr val="000000"/>
                </a:solidFill>
                <a:latin typeface="Calibri"/>
                <a:ea typeface="Calibri"/>
                <a:cs typeface="Calibri"/>
                <a:sym typeface="Calibri"/>
              </a:rPr>
              <a:t>Leonardo Jara Molina</a:t>
            </a:r>
            <a:endParaRPr b="0" i="0" sz="18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chemeClr val="dk1"/>
              </a:buClr>
              <a:buSzPts val="1100"/>
              <a:buFont typeface="Arial"/>
              <a:buNone/>
            </a:pPr>
            <a:r>
              <a:rPr b="0" i="0" lang="es-CO" sz="1800" u="none" cap="none" strike="noStrike">
                <a:solidFill>
                  <a:schemeClr val="dk1"/>
                </a:solidFill>
                <a:latin typeface="Calibri"/>
                <a:ea typeface="Calibri"/>
                <a:cs typeface="Calibri"/>
                <a:sym typeface="Calibri"/>
              </a:rPr>
              <a:t>Karen Tatiana Martínez González</a:t>
            </a:r>
            <a:endParaRPr b="0" i="0" sz="18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chemeClr val="dk1"/>
              </a:buClr>
              <a:buSzPts val="1100"/>
              <a:buFont typeface="Arial"/>
              <a:buNone/>
            </a:pPr>
            <a:r>
              <a:rPr b="0" i="0" lang="es-CO" sz="1800" u="none" cap="none" strike="noStrike">
                <a:solidFill>
                  <a:schemeClr val="dk1"/>
                </a:solidFill>
                <a:latin typeface="Calibri"/>
                <a:ea typeface="Calibri"/>
                <a:cs typeface="Calibri"/>
                <a:sym typeface="Calibri"/>
              </a:rPr>
              <a:t>Amy Lee Aroca Español</a:t>
            </a:r>
            <a:endParaRPr b="0" i="0" sz="1800" u="none" cap="none" strike="noStrike">
              <a:solidFill>
                <a:srgbClr val="000000"/>
              </a:solidFill>
              <a:latin typeface="Calibri"/>
              <a:ea typeface="Calibri"/>
              <a:cs typeface="Calibri"/>
              <a:sym typeface="Calibri"/>
            </a:endParaRPr>
          </a:p>
          <a:p>
            <a:pPr indent="0" lvl="0" marL="0" marR="0" rtl="0" algn="ctr">
              <a:lnSpc>
                <a:spcPct val="100000"/>
              </a:lnSpc>
              <a:spcBef>
                <a:spcPts val="0"/>
              </a:spcBef>
              <a:spcAft>
                <a:spcPts val="0"/>
              </a:spcAft>
              <a:buClr>
                <a:schemeClr val="dk1"/>
              </a:buClr>
              <a:buSzPts val="1100"/>
              <a:buFont typeface="Arial"/>
              <a:buNone/>
            </a:pPr>
            <a:r>
              <a:rPr b="0" i="0" lang="es-CO" sz="1800" u="none" cap="none" strike="noStrike">
                <a:solidFill>
                  <a:srgbClr val="000000"/>
                </a:solidFill>
                <a:latin typeface="Calibri"/>
                <a:ea typeface="Calibri"/>
                <a:cs typeface="Calibri"/>
                <a:sym typeface="Calibri"/>
              </a:rPr>
              <a:t>ADSO</a:t>
            </a:r>
            <a:endParaRPr b="0" i="0" sz="1800" u="none" cap="none" strike="noStrike">
              <a:solidFill>
                <a:srgbClr val="000000"/>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05" name="Shape 105"/>
        <p:cNvGrpSpPr/>
        <p:nvPr/>
      </p:nvGrpSpPr>
      <p:grpSpPr>
        <a:xfrm>
          <a:off x="0" y="0"/>
          <a:ext cx="0" cy="0"/>
          <a:chOff x="0" y="0"/>
          <a:chExt cx="0" cy="0"/>
        </a:xfrm>
      </p:grpSpPr>
      <p:sp>
        <p:nvSpPr>
          <p:cNvPr id="106" name="Google Shape;106;p3"/>
          <p:cNvSpPr txBox="1"/>
          <p:nvPr/>
        </p:nvSpPr>
        <p:spPr>
          <a:xfrm>
            <a:off x="636850" y="546825"/>
            <a:ext cx="6640200" cy="646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4D4D4C"/>
              </a:buClr>
              <a:buSzPts val="6000"/>
              <a:buFont typeface="Work Sans"/>
              <a:buNone/>
            </a:pPr>
            <a:r>
              <a:rPr b="1" i="0" lang="es-CO" sz="3600" u="none" cap="none" strike="noStrike">
                <a:solidFill>
                  <a:srgbClr val="4D4D4C"/>
                </a:solidFill>
                <a:latin typeface="Work Sans"/>
                <a:ea typeface="Work Sans"/>
                <a:cs typeface="Work Sans"/>
                <a:sym typeface="Work Sans"/>
              </a:rPr>
              <a:t>Tabla de Contenido</a:t>
            </a:r>
            <a:endParaRPr b="1" i="0" sz="3600" u="none" cap="none" strike="noStrike">
              <a:solidFill>
                <a:srgbClr val="4D4D4C"/>
              </a:solidFill>
              <a:latin typeface="Work Sans"/>
              <a:ea typeface="Work Sans"/>
              <a:cs typeface="Work Sans"/>
              <a:sym typeface="Work Sans"/>
            </a:endParaRPr>
          </a:p>
        </p:txBody>
      </p:sp>
      <p:cxnSp>
        <p:nvCxnSpPr>
          <p:cNvPr id="107" name="Google Shape;107;p3"/>
          <p:cNvCxnSpPr/>
          <p:nvPr/>
        </p:nvCxnSpPr>
        <p:spPr>
          <a:xfrm flipH="1" rot="10800000">
            <a:off x="636853" y="1333364"/>
            <a:ext cx="6564000" cy="5700"/>
          </a:xfrm>
          <a:prstGeom prst="straightConnector1">
            <a:avLst/>
          </a:prstGeom>
          <a:noFill/>
          <a:ln cap="flat" cmpd="sng" w="12700">
            <a:solidFill>
              <a:srgbClr val="38AA00"/>
            </a:solidFill>
            <a:prstDash val="solid"/>
            <a:miter lim="800000"/>
            <a:headEnd len="sm" w="sm" type="none"/>
            <a:tailEnd len="sm" w="sm" type="none"/>
          </a:ln>
        </p:spPr>
      </p:cxnSp>
      <p:sp>
        <p:nvSpPr>
          <p:cNvPr id="108" name="Google Shape;108;p3"/>
          <p:cNvSpPr txBox="1"/>
          <p:nvPr/>
        </p:nvSpPr>
        <p:spPr>
          <a:xfrm>
            <a:off x="636850" y="2110625"/>
            <a:ext cx="6075000" cy="2862900"/>
          </a:xfrm>
          <a:prstGeom prst="rect">
            <a:avLst/>
          </a:prstGeom>
          <a:noFill/>
          <a:ln>
            <a:noFill/>
          </a:ln>
        </p:spPr>
        <p:txBody>
          <a:bodyPr anchorCtr="0" anchor="t" bIns="45700" lIns="91425" spcFirstLastPara="1" rIns="91425" wrap="square" tIns="45700">
            <a:spAutoFit/>
          </a:bodyPr>
          <a:lstStyle/>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Planteamiento del Problema                                     </a:t>
            </a:r>
            <a:endParaRPr b="1"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Justificación                                                              </a:t>
            </a:r>
            <a:endParaRPr b="1"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Pregunta Problema                                                   </a:t>
            </a:r>
            <a:endParaRPr b="1"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Módulos y Roles                                                       </a:t>
            </a:r>
            <a:endParaRPr b="0"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Objetivo General                                                      </a:t>
            </a:r>
            <a:endParaRPr b="1"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Objetivos Específicos                                                </a:t>
            </a:r>
            <a:endParaRPr b="0"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Delimitación y Alcance                                             </a:t>
            </a:r>
            <a:r>
              <a:rPr b="1" i="0" lang="es-CO" sz="1800" u="none" cap="none" strike="noStrike">
                <a:solidFill>
                  <a:srgbClr val="000000"/>
                </a:solidFill>
                <a:latin typeface="Arial"/>
                <a:ea typeface="Arial"/>
                <a:cs typeface="Arial"/>
                <a:sym typeface="Arial"/>
              </a:rPr>
              <a:t> </a:t>
            </a:r>
            <a:endParaRPr b="1"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Diagramas de procesos                                           </a:t>
            </a:r>
            <a:endParaRPr b="1"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Recolección de datos                                               </a:t>
            </a:r>
            <a:endParaRPr b="1" i="0" sz="1800" u="none" cap="none" strike="noStrike">
              <a:solidFill>
                <a:srgbClr val="000000"/>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800"/>
              <a:buFont typeface="Arial"/>
              <a:buNone/>
            </a:pPr>
            <a:r>
              <a:rPr b="0" i="0" lang="es-CO" sz="1800" u="none" cap="none" strike="noStrike">
                <a:solidFill>
                  <a:srgbClr val="000000"/>
                </a:solidFill>
                <a:latin typeface="Arial"/>
                <a:ea typeface="Arial"/>
                <a:cs typeface="Arial"/>
                <a:sym typeface="Arial"/>
              </a:rPr>
              <a:t>Requerimientos Funcionales y No funcionales                                                          </a:t>
            </a:r>
            <a:endParaRPr b="1" i="0" sz="1800" u="none" cap="none" strike="noStrike">
              <a:solidFill>
                <a:srgbClr val="000000"/>
              </a:solidFill>
              <a:latin typeface="Arial"/>
              <a:ea typeface="Arial"/>
              <a:cs typeface="Arial"/>
              <a:sym typeface="Arial"/>
            </a:endParaRPr>
          </a:p>
        </p:txBody>
      </p:sp>
      <p:pic>
        <p:nvPicPr>
          <p:cNvPr id="109" name="Google Shape;109;p3"/>
          <p:cNvPicPr preferRelativeResize="0"/>
          <p:nvPr/>
        </p:nvPicPr>
        <p:blipFill rotWithShape="1">
          <a:blip r:embed="rId4">
            <a:alphaModFix/>
          </a:blip>
          <a:srcRect b="0" l="0" r="0" t="0"/>
          <a:stretch/>
        </p:blipFill>
        <p:spPr>
          <a:xfrm>
            <a:off x="7659752" y="1556417"/>
            <a:ext cx="3971309" cy="3971309"/>
          </a:xfrm>
          <a:prstGeom prst="rect">
            <a:avLst/>
          </a:prstGeom>
          <a:noFill/>
          <a:ln>
            <a:noFill/>
          </a:ln>
        </p:spPr>
      </p:pic>
      <p:sp>
        <p:nvSpPr>
          <p:cNvPr id="110" name="Google Shape;110;p3"/>
          <p:cNvSpPr txBox="1"/>
          <p:nvPr/>
        </p:nvSpPr>
        <p:spPr>
          <a:xfrm>
            <a:off x="6171900" y="2110625"/>
            <a:ext cx="1251000" cy="3140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5</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6</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7</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8</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9</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10</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11</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12</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16</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chemeClr val="dk1"/>
                </a:solidFill>
                <a:latin typeface="Arial"/>
                <a:ea typeface="Arial"/>
                <a:cs typeface="Arial"/>
                <a:sym typeface="Arial"/>
              </a:rPr>
              <a:t>19</a:t>
            </a:r>
            <a:endParaRPr b="1"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14" name="Shape 114"/>
        <p:cNvGrpSpPr/>
        <p:nvPr/>
      </p:nvGrpSpPr>
      <p:grpSpPr>
        <a:xfrm>
          <a:off x="0" y="0"/>
          <a:ext cx="0" cy="0"/>
          <a:chOff x="0" y="0"/>
          <a:chExt cx="0" cy="0"/>
        </a:xfrm>
      </p:grpSpPr>
      <p:sp>
        <p:nvSpPr>
          <p:cNvPr id="115" name="Google Shape;115;p4"/>
          <p:cNvSpPr/>
          <p:nvPr/>
        </p:nvSpPr>
        <p:spPr>
          <a:xfrm>
            <a:off x="3423628" y="3954050"/>
            <a:ext cx="5344743" cy="1200329"/>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4"/>
          <p:cNvSpPr txBox="1"/>
          <p:nvPr/>
        </p:nvSpPr>
        <p:spPr>
          <a:xfrm>
            <a:off x="2288450" y="2644050"/>
            <a:ext cx="7934700" cy="1569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lt1"/>
              </a:buClr>
              <a:buSzPts val="6000"/>
              <a:buFont typeface="Work Sans"/>
              <a:buNone/>
            </a:pPr>
            <a:r>
              <a:rPr b="1" i="0" lang="es-CO" sz="4800" u="none" cap="none" strike="noStrike">
                <a:solidFill>
                  <a:schemeClr val="lt1"/>
                </a:solidFill>
                <a:latin typeface="Arial"/>
                <a:ea typeface="Arial"/>
                <a:cs typeface="Arial"/>
                <a:sym typeface="Arial"/>
              </a:rPr>
              <a:t>Entregable N°1 Formulación del proyecto</a:t>
            </a:r>
            <a:endParaRPr b="1" i="0" sz="4800" u="none" cap="none" strike="noStrike">
              <a:solidFill>
                <a:schemeClr val="lt1"/>
              </a:solidFill>
              <a:latin typeface="Arial"/>
              <a:ea typeface="Arial"/>
              <a:cs typeface="Arial"/>
              <a:sym typeface="Arial"/>
            </a:endParaRPr>
          </a:p>
        </p:txBody>
      </p:sp>
      <p:cxnSp>
        <p:nvCxnSpPr>
          <p:cNvPr id="117" name="Google Shape;117;p4"/>
          <p:cNvCxnSpPr/>
          <p:nvPr/>
        </p:nvCxnSpPr>
        <p:spPr>
          <a:xfrm>
            <a:off x="2493500" y="4175550"/>
            <a:ext cx="7524600" cy="38400"/>
          </a:xfrm>
          <a:prstGeom prst="straightConnector1">
            <a:avLst/>
          </a:prstGeom>
          <a:noFill/>
          <a:ln cap="flat" cmpd="sng" w="12700">
            <a:solidFill>
              <a:schemeClr val="lt1"/>
            </a:solidFill>
            <a:prstDash val="solid"/>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1" name="Shape 121"/>
        <p:cNvGrpSpPr/>
        <p:nvPr/>
      </p:nvGrpSpPr>
      <p:grpSpPr>
        <a:xfrm>
          <a:off x="0" y="0"/>
          <a:ext cx="0" cy="0"/>
          <a:chOff x="0" y="0"/>
          <a:chExt cx="0" cy="0"/>
        </a:xfrm>
      </p:grpSpPr>
      <p:sp>
        <p:nvSpPr>
          <p:cNvPr id="122" name="Google Shape;122;p5"/>
          <p:cNvSpPr txBox="1"/>
          <p:nvPr/>
        </p:nvSpPr>
        <p:spPr>
          <a:xfrm>
            <a:off x="456236" y="416690"/>
            <a:ext cx="9815700" cy="5280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FFFFFF"/>
              </a:buClr>
              <a:buSzPts val="3600"/>
              <a:buFont typeface="Work Sans"/>
              <a:buNone/>
            </a:pPr>
            <a:r>
              <a:rPr b="1" i="0" lang="es-CO" sz="3600" u="none" cap="none" strike="noStrike">
                <a:solidFill>
                  <a:srgbClr val="FFFFFF"/>
                </a:solidFill>
                <a:latin typeface="Work Sans"/>
                <a:ea typeface="Work Sans"/>
                <a:cs typeface="Work Sans"/>
                <a:sym typeface="Work Sans"/>
              </a:rPr>
              <a:t>Planteamiento del problema</a:t>
            </a:r>
            <a:endParaRPr b="0" i="0" sz="1400" u="none" cap="none" strike="noStrike">
              <a:solidFill>
                <a:srgbClr val="000000"/>
              </a:solidFill>
              <a:latin typeface="Arial"/>
              <a:ea typeface="Arial"/>
              <a:cs typeface="Arial"/>
              <a:sym typeface="Arial"/>
            </a:endParaRPr>
          </a:p>
        </p:txBody>
      </p:sp>
      <p:sp>
        <p:nvSpPr>
          <p:cNvPr id="123" name="Google Shape;123;p5"/>
          <p:cNvSpPr txBox="1"/>
          <p:nvPr/>
        </p:nvSpPr>
        <p:spPr>
          <a:xfrm>
            <a:off x="767000" y="1794475"/>
            <a:ext cx="7574700" cy="4166100"/>
          </a:xfrm>
          <a:prstGeom prst="rect">
            <a:avLst/>
          </a:prstGeom>
          <a:noFill/>
          <a:ln>
            <a:noFill/>
          </a:ln>
        </p:spPr>
        <p:txBody>
          <a:bodyPr anchorCtr="0" anchor="t" bIns="91425" lIns="91425" spcFirstLastPara="1" rIns="91425" wrap="square" tIns="91425">
            <a:noAutofit/>
          </a:bodyPr>
          <a:lstStyle/>
          <a:p>
            <a:pPr indent="0" lvl="0" marL="0" marR="0" rtl="0" algn="just">
              <a:lnSpc>
                <a:spcPct val="100000"/>
              </a:lnSpc>
              <a:spcBef>
                <a:spcPts val="0"/>
              </a:spcBef>
              <a:spcAft>
                <a:spcPts val="0"/>
              </a:spcAft>
              <a:buClr>
                <a:schemeClr val="dk1"/>
              </a:buClr>
              <a:buSzPts val="1100"/>
              <a:buFont typeface="Arial"/>
              <a:buNone/>
            </a:pPr>
            <a:r>
              <a:rPr b="0" i="0" lang="es-CO" sz="1800" u="none" cap="none" strike="noStrike">
                <a:solidFill>
                  <a:schemeClr val="dk1"/>
                </a:solidFill>
                <a:latin typeface="Arial"/>
                <a:ea typeface="Arial"/>
                <a:cs typeface="Arial"/>
                <a:sym typeface="Arial"/>
              </a:rPr>
              <a:t>El Club Deportivo “Blood Tigers Cheers” (Bosa Centro) es un equipo de competición de cheerleading que combina gimnasia, danza y porrismo. Su enfoque está en la velocidad y la conexión fluida de elementos acrobáticos. Utiliza una técnica por niveles para asegurar el fortalecimiento y el cuidado del cuerpo, buscando la excelencia en la ejecución de cada deportista.</a:t>
            </a:r>
            <a:endParaRPr b="0" i="0" sz="1800" u="none" cap="none" strike="noStrike">
              <a:solidFill>
                <a:schemeClr val="dk1"/>
              </a:solidFill>
              <a:latin typeface="Arial"/>
              <a:ea typeface="Arial"/>
              <a:cs typeface="Arial"/>
              <a:sym typeface="Arial"/>
            </a:endParaRPr>
          </a:p>
          <a:p>
            <a:pPr indent="0" lvl="0" marL="0" marR="0" rtl="0" algn="just">
              <a:lnSpc>
                <a:spcPct val="100000"/>
              </a:lnSpc>
              <a:spcBef>
                <a:spcPts val="0"/>
              </a:spcBef>
              <a:spcAft>
                <a:spcPts val="0"/>
              </a:spcAft>
              <a:buClr>
                <a:schemeClr val="dk1"/>
              </a:buClr>
              <a:buSzPts val="1100"/>
              <a:buFont typeface="Arial"/>
              <a:buNone/>
            </a:pPr>
            <a:r>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rPr b="0" i="0" lang="es-CO" sz="1800" u="none" cap="none" strike="noStrike">
                <a:solidFill>
                  <a:schemeClr val="dk1"/>
                </a:solidFill>
                <a:latin typeface="Arial"/>
                <a:ea typeface="Arial"/>
                <a:cs typeface="Arial"/>
                <a:sym typeface="Arial"/>
              </a:rPr>
              <a:t>Actualmente, el club presenta dificultades d</a:t>
            </a:r>
            <a:r>
              <a:rPr b="0" i="0" lang="es-CO" sz="1800" u="none" cap="none" strike="noStrike">
                <a:solidFill>
                  <a:schemeClr val="dk1"/>
                </a:solidFill>
                <a:latin typeface="Arial"/>
                <a:ea typeface="Arial"/>
                <a:cs typeface="Arial"/>
                <a:sym typeface="Arial"/>
              </a:rPr>
              <a:t>ebido a la gestión manual y poco eficiente de actividades clave. Esto incluye los procesos de Inscripción, coordinación de horarios, control de inventario y monitoreo del rendimiento. Adicionalmente, la ausencia de un canal formal de PQRS genera una comunicación ineficiente para los atletas, padres y la institución.</a:t>
            </a:r>
            <a:endParaRPr b="0" i="0" sz="1800" u="none" cap="none" strike="noStrike">
              <a:solidFill>
                <a:schemeClr val="dk1"/>
              </a:solidFill>
              <a:latin typeface="Arial"/>
              <a:ea typeface="Arial"/>
              <a:cs typeface="Arial"/>
              <a:sym typeface="Arial"/>
            </a:endParaRPr>
          </a:p>
        </p:txBody>
      </p:sp>
      <p:pic>
        <p:nvPicPr>
          <p:cNvPr id="124" name="Google Shape;124;p5"/>
          <p:cNvPicPr preferRelativeResize="0"/>
          <p:nvPr/>
        </p:nvPicPr>
        <p:blipFill rotWithShape="1">
          <a:blip r:embed="rId4">
            <a:alphaModFix/>
          </a:blip>
          <a:srcRect b="0" l="0" r="0" t="0"/>
          <a:stretch/>
        </p:blipFill>
        <p:spPr>
          <a:xfrm>
            <a:off x="8974575" y="2694513"/>
            <a:ext cx="2366026" cy="2366026"/>
          </a:xfrm>
          <a:prstGeom prst="rect">
            <a:avLst/>
          </a:prstGeom>
          <a:noFill/>
          <a:ln>
            <a:noFill/>
          </a:ln>
        </p:spPr>
      </p:pic>
      <p:sp>
        <p:nvSpPr>
          <p:cNvPr id="125" name="Google Shape;125;p5"/>
          <p:cNvSpPr txBox="1"/>
          <p:nvPr/>
        </p:nvSpPr>
        <p:spPr>
          <a:xfrm>
            <a:off x="11580535" y="6106250"/>
            <a:ext cx="617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29" name="Shape 129"/>
        <p:cNvGrpSpPr/>
        <p:nvPr/>
      </p:nvGrpSpPr>
      <p:grpSpPr>
        <a:xfrm>
          <a:off x="0" y="0"/>
          <a:ext cx="0" cy="0"/>
          <a:chOff x="0" y="0"/>
          <a:chExt cx="0" cy="0"/>
        </a:xfrm>
      </p:grpSpPr>
      <p:sp>
        <p:nvSpPr>
          <p:cNvPr id="130" name="Google Shape;130;p6"/>
          <p:cNvSpPr txBox="1"/>
          <p:nvPr/>
        </p:nvSpPr>
        <p:spPr>
          <a:xfrm>
            <a:off x="456236" y="416690"/>
            <a:ext cx="9815809" cy="527874"/>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FFFFFF"/>
              </a:buClr>
              <a:buSzPts val="3600"/>
              <a:buFont typeface="Work Sans"/>
              <a:buNone/>
            </a:pPr>
            <a:r>
              <a:rPr b="1" i="0" lang="es-CO" sz="3600" u="none" cap="none" strike="noStrike">
                <a:solidFill>
                  <a:srgbClr val="FFFFFF"/>
                </a:solidFill>
                <a:latin typeface="Work Sans"/>
                <a:ea typeface="Work Sans"/>
                <a:cs typeface="Work Sans"/>
                <a:sym typeface="Work Sans"/>
              </a:rPr>
              <a:t>Justificación</a:t>
            </a:r>
            <a:endParaRPr b="0" i="0" sz="1400" u="none" cap="none" strike="noStrike">
              <a:solidFill>
                <a:srgbClr val="000000"/>
              </a:solidFill>
              <a:latin typeface="Arial"/>
              <a:ea typeface="Arial"/>
              <a:cs typeface="Arial"/>
              <a:sym typeface="Arial"/>
            </a:endParaRPr>
          </a:p>
        </p:txBody>
      </p:sp>
      <p:sp>
        <p:nvSpPr>
          <p:cNvPr id="131" name="Google Shape;131;p6"/>
          <p:cNvSpPr txBox="1"/>
          <p:nvPr/>
        </p:nvSpPr>
        <p:spPr>
          <a:xfrm>
            <a:off x="661550" y="1580100"/>
            <a:ext cx="7413300" cy="46662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b="0" i="0" lang="es-CO" sz="1800" u="none" cap="none" strike="noStrike">
                <a:solidFill>
                  <a:schemeClr val="dk1"/>
                </a:solidFill>
                <a:latin typeface="Arial"/>
                <a:ea typeface="Arial"/>
                <a:cs typeface="Arial"/>
                <a:sym typeface="Arial"/>
              </a:rPr>
              <a:t>El análisis del Club "Blood Tigers Cheers" identificó falencias en procesos clave como Inscripción, calificación del rendimiento, organización de horarios</a:t>
            </a:r>
            <a:r>
              <a:rPr b="0" i="0" lang="es-CO" sz="1800" u="none" cap="none" strike="noStrike">
                <a:solidFill>
                  <a:schemeClr val="dk1"/>
                </a:solidFill>
                <a:latin typeface="Arial"/>
                <a:ea typeface="Arial"/>
                <a:cs typeface="Arial"/>
                <a:sym typeface="Arial"/>
              </a:rPr>
              <a:t>, manejo de inventario</a:t>
            </a:r>
            <a:r>
              <a:rPr b="0" i="0" lang="es-CO" sz="1800" u="none" cap="none" strike="noStrike">
                <a:solidFill>
                  <a:schemeClr val="dk1"/>
                </a:solidFill>
                <a:latin typeface="Arial"/>
                <a:ea typeface="Arial"/>
                <a:cs typeface="Arial"/>
                <a:sym typeface="Arial"/>
              </a:rPr>
              <a:t> y PQRS. La causa de estas dificultades es que la gestión se realiza de forma manual, lo que genera confusiones e ineficiencia en todos los procedimientos.</a:t>
            </a:r>
            <a:endParaRPr b="0"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t/>
            </a:r>
            <a:endParaRPr b="0" i="0" sz="1800" u="none" cap="none" strike="noStrike">
              <a:solidFill>
                <a:schemeClr val="dk1"/>
              </a:solidFill>
              <a:latin typeface="Arial"/>
              <a:ea typeface="Arial"/>
              <a:cs typeface="Arial"/>
              <a:sym typeface="Arial"/>
            </a:endParaRPr>
          </a:p>
          <a:p>
            <a:pPr indent="0" lvl="0" marL="0" marR="0" rtl="0" algn="l">
              <a:lnSpc>
                <a:spcPct val="115000"/>
              </a:lnSpc>
              <a:spcBef>
                <a:spcPts val="1200"/>
              </a:spcBef>
              <a:spcAft>
                <a:spcPts val="0"/>
              </a:spcAft>
              <a:buClr>
                <a:schemeClr val="dk1"/>
              </a:buClr>
              <a:buSzPts val="1100"/>
              <a:buFont typeface="Arial"/>
              <a:buNone/>
            </a:pPr>
            <a:r>
              <a:rPr b="0" i="0" lang="es-CO" sz="1800" u="none" cap="none" strike="noStrike">
                <a:solidFill>
                  <a:schemeClr val="dk1"/>
                </a:solidFill>
                <a:latin typeface="Arial"/>
                <a:ea typeface="Arial"/>
                <a:cs typeface="Arial"/>
                <a:sym typeface="Arial"/>
              </a:rPr>
              <a:t>Para mejorar la calidad de los servicios y fortalecer la administración interna, es fundamental desarrollar un sistema que optimice los procesos manuales. Este sistema garantizará un control confiable al ofrecer información clara y veraz a directivos, entrenadores y deportistas, logrando agilizar el funcionamiento general del club y continuar motivando la formación deportiva integral.</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1200"/>
              </a:spcBef>
              <a:spcAft>
                <a:spcPts val="0"/>
              </a:spcAft>
              <a:buClr>
                <a:schemeClr val="dk1"/>
              </a:buClr>
              <a:buSzPts val="1100"/>
              <a:buFont typeface="Arial"/>
              <a:buNone/>
            </a:pPr>
            <a:r>
              <a:t/>
            </a:r>
            <a:endParaRPr b="0" i="0" sz="2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0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t/>
            </a:r>
            <a:endParaRPr b="0" i="0" sz="2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900" u="none" cap="none" strike="noStrike">
              <a:solidFill>
                <a:schemeClr val="dk1"/>
              </a:solidFill>
              <a:latin typeface="Calibri"/>
              <a:ea typeface="Calibri"/>
              <a:cs typeface="Calibri"/>
              <a:sym typeface="Calibri"/>
            </a:endParaRPr>
          </a:p>
        </p:txBody>
      </p:sp>
      <p:sp>
        <p:nvSpPr>
          <p:cNvPr id="132" name="Google Shape;132;p6"/>
          <p:cNvSpPr txBox="1"/>
          <p:nvPr/>
        </p:nvSpPr>
        <p:spPr>
          <a:xfrm>
            <a:off x="11580535" y="6106250"/>
            <a:ext cx="3501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6</a:t>
            </a:r>
            <a:endParaRPr b="0" i="0" sz="1400" u="none" cap="none" strike="noStrike">
              <a:solidFill>
                <a:srgbClr val="000000"/>
              </a:solidFill>
              <a:latin typeface="Arial"/>
              <a:ea typeface="Arial"/>
              <a:cs typeface="Arial"/>
              <a:sym typeface="Arial"/>
            </a:endParaRPr>
          </a:p>
        </p:txBody>
      </p:sp>
      <p:pic>
        <p:nvPicPr>
          <p:cNvPr id="133" name="Google Shape;133;p6"/>
          <p:cNvPicPr preferRelativeResize="0"/>
          <p:nvPr/>
        </p:nvPicPr>
        <p:blipFill rotWithShape="1">
          <a:blip r:embed="rId4">
            <a:alphaModFix/>
          </a:blip>
          <a:srcRect b="0" l="0" r="0" t="0"/>
          <a:stretch/>
        </p:blipFill>
        <p:spPr>
          <a:xfrm>
            <a:off x="8909550" y="2115813"/>
            <a:ext cx="2670975" cy="33484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7" name="Shape 137"/>
        <p:cNvGrpSpPr/>
        <p:nvPr/>
      </p:nvGrpSpPr>
      <p:grpSpPr>
        <a:xfrm>
          <a:off x="0" y="0"/>
          <a:ext cx="0" cy="0"/>
          <a:chOff x="0" y="0"/>
          <a:chExt cx="0" cy="0"/>
        </a:xfrm>
      </p:grpSpPr>
      <p:sp>
        <p:nvSpPr>
          <p:cNvPr id="138" name="Google Shape;138;p7"/>
          <p:cNvSpPr txBox="1"/>
          <p:nvPr/>
        </p:nvSpPr>
        <p:spPr>
          <a:xfrm>
            <a:off x="731976" y="1549922"/>
            <a:ext cx="27237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Pregunta </a:t>
            </a:r>
            <a:endParaRPr b="1" i="0" sz="3600" u="none" cap="none" strike="noStrike">
              <a:solidFill>
                <a:srgbClr val="38AA00"/>
              </a:solidFill>
              <a:latin typeface="Work Sans"/>
              <a:ea typeface="Work Sans"/>
              <a:cs typeface="Work Sans"/>
              <a:sym typeface="Work Sans"/>
            </a:endParaRPr>
          </a:p>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Problema</a:t>
            </a:r>
            <a:endParaRPr b="1" i="0" sz="3600" u="none" cap="none" strike="noStrike">
              <a:solidFill>
                <a:srgbClr val="38AA00"/>
              </a:solidFill>
              <a:latin typeface="Work Sans"/>
              <a:ea typeface="Work Sans"/>
              <a:cs typeface="Work Sans"/>
              <a:sym typeface="Work Sans"/>
            </a:endParaRPr>
          </a:p>
        </p:txBody>
      </p:sp>
      <p:sp>
        <p:nvSpPr>
          <p:cNvPr id="139" name="Google Shape;139;p7"/>
          <p:cNvSpPr txBox="1"/>
          <p:nvPr/>
        </p:nvSpPr>
        <p:spPr>
          <a:xfrm>
            <a:off x="554175" y="2969626"/>
            <a:ext cx="5389500" cy="1754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es-CO" sz="1800" u="none" cap="none" strike="noStrike">
                <a:solidFill>
                  <a:schemeClr val="dk1"/>
                </a:solidFill>
                <a:latin typeface="Arial"/>
                <a:ea typeface="Arial"/>
                <a:cs typeface="Arial"/>
                <a:sym typeface="Arial"/>
              </a:rPr>
              <a:t>¿De qué manera se pueden optimizar todos lo procesos de Inscripción</a:t>
            </a:r>
            <a:r>
              <a:rPr b="0" i="0" lang="es-CO" sz="1800" u="none" cap="none" strike="noStrike">
                <a:solidFill>
                  <a:schemeClr val="dk1"/>
                </a:solidFill>
                <a:latin typeface="Arial"/>
                <a:ea typeface="Arial"/>
                <a:cs typeface="Arial"/>
                <a:sym typeface="Arial"/>
              </a:rPr>
              <a:t>, control de inventario</a:t>
            </a:r>
            <a:r>
              <a:rPr b="0" i="0" lang="es-CO" sz="1800" u="none" cap="none" strike="noStrike">
                <a:solidFill>
                  <a:schemeClr val="dk1"/>
                </a:solidFill>
                <a:latin typeface="Arial"/>
                <a:ea typeface="Arial"/>
                <a:cs typeface="Arial"/>
                <a:sym typeface="Arial"/>
              </a:rPr>
              <a:t>, planificación de horarios, PQRS y un sistema de calificación dependiendo del rendimiento de los atletas que se encuentran dentro del club deportivo (Blood Tigers Cheers)?</a:t>
            </a:r>
            <a:endParaRPr b="0" i="0" sz="1800" u="none" cap="none" strike="noStrike">
              <a:solidFill>
                <a:srgbClr val="000000"/>
              </a:solidFill>
              <a:latin typeface="Arial"/>
              <a:ea typeface="Arial"/>
              <a:cs typeface="Arial"/>
              <a:sym typeface="Arial"/>
            </a:endParaRPr>
          </a:p>
        </p:txBody>
      </p:sp>
      <p:cxnSp>
        <p:nvCxnSpPr>
          <p:cNvPr id="140" name="Google Shape;140;p7"/>
          <p:cNvCxnSpPr/>
          <p:nvPr/>
        </p:nvCxnSpPr>
        <p:spPr>
          <a:xfrm flipH="1" rot="10800000">
            <a:off x="731968" y="2691945"/>
            <a:ext cx="3338400" cy="24300"/>
          </a:xfrm>
          <a:prstGeom prst="straightConnector1">
            <a:avLst/>
          </a:prstGeom>
          <a:noFill/>
          <a:ln cap="flat" cmpd="sng" w="12700">
            <a:solidFill>
              <a:srgbClr val="4D4D4C"/>
            </a:solidFill>
            <a:prstDash val="solid"/>
            <a:miter lim="800000"/>
            <a:headEnd len="sm" w="sm" type="none"/>
            <a:tailEnd len="sm" w="sm" type="none"/>
          </a:ln>
        </p:spPr>
      </p:cxnSp>
      <p:pic>
        <p:nvPicPr>
          <p:cNvPr id="141" name="Google Shape;141;p7"/>
          <p:cNvPicPr preferRelativeResize="0"/>
          <p:nvPr/>
        </p:nvPicPr>
        <p:blipFill rotWithShape="1">
          <a:blip r:embed="rId4">
            <a:alphaModFix/>
          </a:blip>
          <a:srcRect b="0" l="0" r="0" t="0"/>
          <a:stretch/>
        </p:blipFill>
        <p:spPr>
          <a:xfrm>
            <a:off x="5943675" y="1229603"/>
            <a:ext cx="5715000" cy="4714875"/>
          </a:xfrm>
          <a:prstGeom prst="rect">
            <a:avLst/>
          </a:prstGeom>
          <a:noFill/>
          <a:ln>
            <a:noFill/>
          </a:ln>
        </p:spPr>
      </p:pic>
      <p:sp>
        <p:nvSpPr>
          <p:cNvPr id="142" name="Google Shape;142;p7"/>
          <p:cNvSpPr txBox="1"/>
          <p:nvPr/>
        </p:nvSpPr>
        <p:spPr>
          <a:xfrm>
            <a:off x="11580535" y="6106250"/>
            <a:ext cx="3501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7</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46" name="Shape 146"/>
        <p:cNvGrpSpPr/>
        <p:nvPr/>
      </p:nvGrpSpPr>
      <p:grpSpPr>
        <a:xfrm>
          <a:off x="0" y="0"/>
          <a:ext cx="0" cy="0"/>
          <a:chOff x="0" y="0"/>
          <a:chExt cx="0" cy="0"/>
        </a:xfrm>
      </p:grpSpPr>
      <p:sp>
        <p:nvSpPr>
          <p:cNvPr id="147" name="Google Shape;147;p8"/>
          <p:cNvSpPr txBox="1"/>
          <p:nvPr/>
        </p:nvSpPr>
        <p:spPr>
          <a:xfrm>
            <a:off x="774586" y="296887"/>
            <a:ext cx="9815700" cy="7416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4D4D4C"/>
              </a:buClr>
              <a:buSzPts val="3600"/>
              <a:buFont typeface="Work Sans"/>
              <a:buNone/>
            </a:pPr>
            <a:r>
              <a:rPr b="1" i="0" lang="es-CO" sz="3600" u="none" cap="none" strike="noStrike">
                <a:solidFill>
                  <a:srgbClr val="38AA00"/>
                </a:solidFill>
                <a:latin typeface="Work Sans"/>
                <a:ea typeface="Work Sans"/>
                <a:cs typeface="Work Sans"/>
                <a:sym typeface="Work Sans"/>
              </a:rPr>
              <a:t>Módulos y Roles                                                                                                                                                                                                                                                                                                                                                                                                                                                                                                                                                                                                                                                                                                                                                                                                                                                                                                                                                                                                                                                                                                                                                                                                                                                                                                                                                                                                                                                                                                                                                                                                                                                                                                                                                                                                                                                                                                                                                                                                                                                                                                                                                                                                                                                                                                                                 </a:t>
            </a:r>
            <a:endParaRPr b="0" i="0" sz="1400" u="none" cap="none" strike="noStrike">
              <a:solidFill>
                <a:srgbClr val="38AA00"/>
              </a:solidFill>
              <a:latin typeface="Arial"/>
              <a:ea typeface="Arial"/>
              <a:cs typeface="Arial"/>
              <a:sym typeface="Arial"/>
            </a:endParaRPr>
          </a:p>
        </p:txBody>
      </p:sp>
      <p:sp>
        <p:nvSpPr>
          <p:cNvPr id="148" name="Google Shape;148;p8"/>
          <p:cNvSpPr txBox="1"/>
          <p:nvPr/>
        </p:nvSpPr>
        <p:spPr>
          <a:xfrm>
            <a:off x="9618925" y="4212950"/>
            <a:ext cx="3763800" cy="615600"/>
          </a:xfrm>
          <a:prstGeom prst="rect">
            <a:avLst/>
          </a:prstGeom>
          <a:noFill/>
          <a:ln>
            <a:noFill/>
          </a:ln>
        </p:spPr>
        <p:txBody>
          <a:bodyPr anchorCtr="0" anchor="t" bIns="45700" lIns="91425" spcFirstLastPara="1" rIns="91425" wrap="square" tIns="45700">
            <a:spAutoFit/>
          </a:bodyPr>
          <a:lstStyle/>
          <a:p>
            <a:pPr indent="0" lvl="0" marL="457200" marR="0" rtl="0" algn="l">
              <a:lnSpc>
                <a:spcPct val="100000"/>
              </a:lnSpc>
              <a:spcBef>
                <a:spcPts val="0"/>
              </a:spcBef>
              <a:spcAft>
                <a:spcPts val="0"/>
              </a:spcAft>
              <a:buClr>
                <a:srgbClr val="000000"/>
              </a:buClr>
              <a:buSzPts val="1800"/>
              <a:buFont typeface="Arial"/>
              <a:buNone/>
            </a:pPr>
            <a:br>
              <a:rPr b="0" i="0" lang="es-CO" sz="1800" u="none" cap="none" strike="noStrike">
                <a:solidFill>
                  <a:schemeClr val="dk1"/>
                </a:solidFill>
                <a:latin typeface="Arial"/>
                <a:ea typeface="Arial"/>
                <a:cs typeface="Arial"/>
                <a:sym typeface="Arial"/>
              </a:rPr>
            </a:br>
            <a:endParaRPr b="0" i="0" sz="1600" u="none" cap="none" strike="noStrike">
              <a:solidFill>
                <a:schemeClr val="dk1"/>
              </a:solidFill>
              <a:latin typeface="Work Sans Light"/>
              <a:ea typeface="Work Sans Light"/>
              <a:cs typeface="Work Sans Light"/>
              <a:sym typeface="Work Sans Light"/>
            </a:endParaRPr>
          </a:p>
        </p:txBody>
      </p:sp>
      <p:cxnSp>
        <p:nvCxnSpPr>
          <p:cNvPr id="149" name="Google Shape;149;p8"/>
          <p:cNvCxnSpPr/>
          <p:nvPr/>
        </p:nvCxnSpPr>
        <p:spPr>
          <a:xfrm>
            <a:off x="825911" y="823297"/>
            <a:ext cx="3845700" cy="0"/>
          </a:xfrm>
          <a:prstGeom prst="straightConnector1">
            <a:avLst/>
          </a:prstGeom>
          <a:noFill/>
          <a:ln cap="flat" cmpd="sng" w="12700">
            <a:solidFill>
              <a:srgbClr val="4D4D4C"/>
            </a:solidFill>
            <a:prstDash val="solid"/>
            <a:miter lim="800000"/>
            <a:headEnd len="sm" w="sm" type="none"/>
            <a:tailEnd len="sm" w="sm" type="none"/>
          </a:ln>
        </p:spPr>
      </p:cxnSp>
      <p:sp>
        <p:nvSpPr>
          <p:cNvPr id="150" name="Google Shape;150;p8"/>
          <p:cNvSpPr txBox="1"/>
          <p:nvPr/>
        </p:nvSpPr>
        <p:spPr>
          <a:xfrm>
            <a:off x="11580535" y="6106250"/>
            <a:ext cx="3501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8</a:t>
            </a:r>
            <a:endParaRPr b="0" i="0" sz="1400" u="none" cap="none" strike="noStrike">
              <a:solidFill>
                <a:srgbClr val="000000"/>
              </a:solidFill>
              <a:latin typeface="Arial"/>
              <a:ea typeface="Arial"/>
              <a:cs typeface="Arial"/>
              <a:sym typeface="Arial"/>
            </a:endParaRPr>
          </a:p>
        </p:txBody>
      </p:sp>
      <p:pic>
        <p:nvPicPr>
          <p:cNvPr id="151" name="Google Shape;151;p8" title="ROLES - visual selection.png"/>
          <p:cNvPicPr preferRelativeResize="0"/>
          <p:nvPr/>
        </p:nvPicPr>
        <p:blipFill rotWithShape="1">
          <a:blip r:embed="rId4">
            <a:alphaModFix/>
          </a:blip>
          <a:srcRect b="8013" l="0" r="0" t="7439"/>
          <a:stretch/>
        </p:blipFill>
        <p:spPr>
          <a:xfrm>
            <a:off x="6707562" y="1253405"/>
            <a:ext cx="3262950" cy="5009533"/>
          </a:xfrm>
          <a:prstGeom prst="rect">
            <a:avLst/>
          </a:prstGeom>
          <a:noFill/>
          <a:ln>
            <a:noFill/>
          </a:ln>
        </p:spPr>
      </p:pic>
      <p:pic>
        <p:nvPicPr>
          <p:cNvPr id="152" name="Google Shape;152;p8" title="MÓDULOS - visual selection (2).png"/>
          <p:cNvPicPr preferRelativeResize="0"/>
          <p:nvPr/>
        </p:nvPicPr>
        <p:blipFill rotWithShape="1">
          <a:blip r:embed="rId5">
            <a:alphaModFix/>
          </a:blip>
          <a:srcRect b="8836" l="6757" r="7144" t="16075"/>
          <a:stretch/>
        </p:blipFill>
        <p:spPr>
          <a:xfrm>
            <a:off x="872575" y="1294225"/>
            <a:ext cx="4224975" cy="49278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56" name="Shape 156"/>
        <p:cNvGrpSpPr/>
        <p:nvPr/>
      </p:nvGrpSpPr>
      <p:grpSpPr>
        <a:xfrm>
          <a:off x="0" y="0"/>
          <a:ext cx="0" cy="0"/>
          <a:chOff x="0" y="0"/>
          <a:chExt cx="0" cy="0"/>
        </a:xfrm>
      </p:grpSpPr>
      <p:sp>
        <p:nvSpPr>
          <p:cNvPr id="157" name="Google Shape;157;p9"/>
          <p:cNvSpPr txBox="1"/>
          <p:nvPr/>
        </p:nvSpPr>
        <p:spPr>
          <a:xfrm>
            <a:off x="932354" y="381002"/>
            <a:ext cx="9815700" cy="7416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4D4D4C"/>
              </a:buClr>
              <a:buSzPts val="3600"/>
              <a:buFont typeface="Work Sans"/>
              <a:buNone/>
            </a:pPr>
            <a:r>
              <a:rPr b="1" i="0" lang="es-CO" sz="3600" u="none" cap="none" strike="noStrike">
                <a:solidFill>
                  <a:srgbClr val="38AA00"/>
                </a:solidFill>
                <a:latin typeface="Work Sans"/>
                <a:ea typeface="Work Sans"/>
                <a:cs typeface="Work Sans"/>
                <a:sym typeface="Work Sans"/>
              </a:rPr>
              <a:t>Objetivo general</a:t>
            </a:r>
            <a:endParaRPr b="0" i="0" sz="1400" u="none" cap="none" strike="noStrike">
              <a:solidFill>
                <a:srgbClr val="38AA00"/>
              </a:solidFill>
              <a:latin typeface="Arial"/>
              <a:ea typeface="Arial"/>
              <a:cs typeface="Arial"/>
              <a:sym typeface="Arial"/>
            </a:endParaRPr>
          </a:p>
        </p:txBody>
      </p:sp>
      <p:sp>
        <p:nvSpPr>
          <p:cNvPr id="158" name="Google Shape;158;p9"/>
          <p:cNvSpPr txBox="1"/>
          <p:nvPr/>
        </p:nvSpPr>
        <p:spPr>
          <a:xfrm>
            <a:off x="1008200" y="2024025"/>
            <a:ext cx="5657700" cy="3738900"/>
          </a:xfrm>
          <a:prstGeom prst="rect">
            <a:avLst/>
          </a:prstGeom>
          <a:noFill/>
          <a:ln>
            <a:noFill/>
          </a:ln>
        </p:spPr>
        <p:txBody>
          <a:bodyPr anchorCtr="0" anchor="t" bIns="45700" lIns="91425" spcFirstLastPara="1" rIns="91425" wrap="square" tIns="45700">
            <a:noAutofit/>
          </a:bodyPr>
          <a:lstStyle/>
          <a:p>
            <a:pPr indent="0" lvl="0" marL="0" marR="0" rtl="0" algn="just">
              <a:lnSpc>
                <a:spcPct val="100000"/>
              </a:lnSpc>
              <a:spcBef>
                <a:spcPts val="0"/>
              </a:spcBef>
              <a:spcAft>
                <a:spcPts val="0"/>
              </a:spcAft>
              <a:buClr>
                <a:srgbClr val="000000"/>
              </a:buClr>
              <a:buSzPts val="1900"/>
              <a:buFont typeface="Arial"/>
              <a:buNone/>
            </a:pPr>
            <a:r>
              <a:t/>
            </a:r>
            <a:endParaRPr b="1" i="0" sz="1900" u="none" cap="none" strike="noStrike">
              <a:solidFill>
                <a:schemeClr val="dk1"/>
              </a:solidFill>
              <a:latin typeface="Arial"/>
              <a:ea typeface="Arial"/>
              <a:cs typeface="Arial"/>
              <a:sym typeface="Arial"/>
            </a:endParaRPr>
          </a:p>
          <a:p>
            <a:pPr indent="0" lvl="0" marL="457200" marR="0" rtl="0" algn="just">
              <a:lnSpc>
                <a:spcPct val="100000"/>
              </a:lnSpc>
              <a:spcBef>
                <a:spcPts val="0"/>
              </a:spcBef>
              <a:spcAft>
                <a:spcPts val="0"/>
              </a:spcAft>
              <a:buClr>
                <a:srgbClr val="000000"/>
              </a:buClr>
              <a:buSzPts val="1900"/>
              <a:buFont typeface="Arial"/>
              <a:buNone/>
            </a:pPr>
            <a:r>
              <a:t/>
            </a:r>
            <a:endParaRPr b="1" i="0" sz="1900" u="sng" cap="none" strike="noStrike">
              <a:solidFill>
                <a:schemeClr val="dk1"/>
              </a:solidFill>
              <a:latin typeface="Arial"/>
              <a:ea typeface="Arial"/>
              <a:cs typeface="Arial"/>
              <a:sym typeface="Arial"/>
            </a:endParaRPr>
          </a:p>
          <a:p>
            <a:pPr indent="0" lvl="0" marL="0" marR="0" rtl="0" algn="just">
              <a:lnSpc>
                <a:spcPct val="100000"/>
              </a:lnSpc>
              <a:spcBef>
                <a:spcPts val="0"/>
              </a:spcBef>
              <a:spcAft>
                <a:spcPts val="0"/>
              </a:spcAft>
              <a:buClr>
                <a:srgbClr val="000000"/>
              </a:buClr>
              <a:buSzPts val="1800"/>
              <a:buFont typeface="Arial"/>
              <a:buNone/>
            </a:pPr>
            <a:r>
              <a:rPr b="0" i="0" lang="es-CO" sz="1800" u="none" cap="none" strike="noStrike">
                <a:solidFill>
                  <a:schemeClr val="dk1"/>
                </a:solidFill>
                <a:latin typeface="Arial"/>
                <a:ea typeface="Arial"/>
                <a:cs typeface="Arial"/>
                <a:sym typeface="Arial"/>
              </a:rPr>
              <a:t>Desarrollar un sistema de información (Web y Móvil) para el club deportivo “Blood Tigers Cheers” que permitirá hacer más eficaces todos los procesos relacionados con inscripciones,</a:t>
            </a:r>
            <a:r>
              <a:rPr b="0" i="0" lang="es-CO" sz="1800" u="none" cap="none" strike="noStrike">
                <a:solidFill>
                  <a:schemeClr val="dk1"/>
                </a:solidFill>
                <a:latin typeface="Arial"/>
                <a:ea typeface="Arial"/>
                <a:cs typeface="Arial"/>
                <a:sym typeface="Arial"/>
              </a:rPr>
              <a:t> control de inventario, </a:t>
            </a:r>
            <a:r>
              <a:rPr b="0" i="0" lang="es-CO" sz="1800" u="none" cap="none" strike="noStrike">
                <a:solidFill>
                  <a:schemeClr val="dk1"/>
                </a:solidFill>
                <a:latin typeface="Arial"/>
                <a:ea typeface="Arial"/>
                <a:cs typeface="Arial"/>
                <a:sym typeface="Arial"/>
              </a:rPr>
              <a:t>gestión de horario (clases, eventos y etc), PQRS y un sistema de calificación, evaluando el rendimiento de los atletas. Con el fin de hacer mucho más eficiente el desarrollo de estas tareas.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1" i="0" sz="1800" u="sng"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800"/>
              <a:buFont typeface="Arial"/>
              <a:buNone/>
            </a:pPr>
            <a:r>
              <a:rPr b="1" i="0" lang="es-CO" sz="1800" u="sng" cap="none" strike="noStrike">
                <a:solidFill>
                  <a:schemeClr val="dk1"/>
                </a:solidFill>
                <a:latin typeface="Calibri"/>
                <a:ea typeface="Calibri"/>
                <a:cs typeface="Calibri"/>
                <a:sym typeface="Calibri"/>
              </a:rPr>
              <a:t> </a:t>
            </a:r>
            <a:endParaRPr b="1" i="0" sz="1800" u="sng"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600"/>
              <a:buFont typeface="Arial"/>
              <a:buNone/>
            </a:pPr>
            <a:r>
              <a:t/>
            </a:r>
            <a:endParaRPr b="0" i="0" sz="1600" u="none" cap="none" strike="noStrike">
              <a:solidFill>
                <a:schemeClr val="dk1"/>
              </a:solidFill>
              <a:latin typeface="Work Sans Light"/>
              <a:ea typeface="Work Sans Light"/>
              <a:cs typeface="Work Sans Light"/>
              <a:sym typeface="Work Sans Light"/>
            </a:endParaRPr>
          </a:p>
        </p:txBody>
      </p:sp>
      <p:sp>
        <p:nvSpPr>
          <p:cNvPr id="159" name="Google Shape;159;p9"/>
          <p:cNvSpPr txBox="1"/>
          <p:nvPr/>
        </p:nvSpPr>
        <p:spPr>
          <a:xfrm>
            <a:off x="11580535" y="6106250"/>
            <a:ext cx="3501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9</a:t>
            </a:r>
            <a:endParaRPr b="0" i="0" sz="1400" u="none" cap="none" strike="noStrike">
              <a:solidFill>
                <a:srgbClr val="000000"/>
              </a:solidFill>
              <a:latin typeface="Arial"/>
              <a:ea typeface="Arial"/>
              <a:cs typeface="Arial"/>
              <a:sym typeface="Arial"/>
            </a:endParaRPr>
          </a:p>
        </p:txBody>
      </p:sp>
      <p:cxnSp>
        <p:nvCxnSpPr>
          <p:cNvPr id="160" name="Google Shape;160;p9"/>
          <p:cNvCxnSpPr/>
          <p:nvPr/>
        </p:nvCxnSpPr>
        <p:spPr>
          <a:xfrm flipH="1" rot="10800000">
            <a:off x="1012949" y="1047872"/>
            <a:ext cx="5019000" cy="9600"/>
          </a:xfrm>
          <a:prstGeom prst="straightConnector1">
            <a:avLst/>
          </a:prstGeom>
          <a:noFill/>
          <a:ln cap="flat" cmpd="sng" w="12700">
            <a:solidFill>
              <a:srgbClr val="4D4D4C"/>
            </a:solidFill>
            <a:prstDash val="solid"/>
            <a:miter lim="800000"/>
            <a:headEnd len="sm" w="sm" type="none"/>
            <a:tailEnd len="sm" w="sm" type="none"/>
          </a:ln>
        </p:spPr>
      </p:cxnSp>
      <p:pic>
        <p:nvPicPr>
          <p:cNvPr id="161" name="Google Shape;161;p9"/>
          <p:cNvPicPr preferRelativeResize="0"/>
          <p:nvPr/>
        </p:nvPicPr>
        <p:blipFill rotWithShape="1">
          <a:blip r:embed="rId4">
            <a:alphaModFix/>
          </a:blip>
          <a:srcRect b="0" l="0" r="0" t="0"/>
          <a:stretch/>
        </p:blipFill>
        <p:spPr>
          <a:xfrm>
            <a:off x="6709325" y="1983352"/>
            <a:ext cx="5221301" cy="3820252"/>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65" name="Shape 165"/>
        <p:cNvGrpSpPr/>
        <p:nvPr/>
      </p:nvGrpSpPr>
      <p:grpSpPr>
        <a:xfrm>
          <a:off x="0" y="0"/>
          <a:ext cx="0" cy="0"/>
          <a:chOff x="0" y="0"/>
          <a:chExt cx="0" cy="0"/>
        </a:xfrm>
      </p:grpSpPr>
      <p:sp>
        <p:nvSpPr>
          <p:cNvPr id="166" name="Google Shape;166;p10"/>
          <p:cNvSpPr txBox="1"/>
          <p:nvPr/>
        </p:nvSpPr>
        <p:spPr>
          <a:xfrm>
            <a:off x="311614" y="355577"/>
            <a:ext cx="9815700" cy="7416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4D4D4C"/>
              </a:buClr>
              <a:buSzPts val="3600"/>
              <a:buFont typeface="Work Sans"/>
              <a:buNone/>
            </a:pPr>
            <a:r>
              <a:rPr b="1" i="0" lang="es-CO" sz="3600" u="none" cap="none" strike="noStrike">
                <a:solidFill>
                  <a:srgbClr val="38AA00"/>
                </a:solidFill>
                <a:latin typeface="Work Sans"/>
                <a:ea typeface="Work Sans"/>
                <a:cs typeface="Work Sans"/>
                <a:sym typeface="Work Sans"/>
              </a:rPr>
              <a:t>Objetivos Específicos</a:t>
            </a:r>
            <a:endParaRPr b="0" i="0" sz="1400" u="none" cap="none" strike="noStrike">
              <a:solidFill>
                <a:srgbClr val="38AA00"/>
              </a:solidFill>
              <a:latin typeface="Arial"/>
              <a:ea typeface="Arial"/>
              <a:cs typeface="Arial"/>
              <a:sym typeface="Arial"/>
            </a:endParaRPr>
          </a:p>
        </p:txBody>
      </p:sp>
      <p:sp>
        <p:nvSpPr>
          <p:cNvPr id="167" name="Google Shape;167;p10"/>
          <p:cNvSpPr txBox="1"/>
          <p:nvPr/>
        </p:nvSpPr>
        <p:spPr>
          <a:xfrm>
            <a:off x="11580521" y="6106250"/>
            <a:ext cx="5019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10</a:t>
            </a:r>
            <a:endParaRPr b="0" i="0" sz="1400" u="none" cap="none" strike="noStrike">
              <a:solidFill>
                <a:srgbClr val="000000"/>
              </a:solidFill>
              <a:latin typeface="Arial"/>
              <a:ea typeface="Arial"/>
              <a:cs typeface="Arial"/>
              <a:sym typeface="Arial"/>
            </a:endParaRPr>
          </a:p>
        </p:txBody>
      </p:sp>
      <p:pic>
        <p:nvPicPr>
          <p:cNvPr id="168" name="Google Shape;168;p10"/>
          <p:cNvPicPr preferRelativeResize="0"/>
          <p:nvPr/>
        </p:nvPicPr>
        <p:blipFill rotWithShape="1">
          <a:blip r:embed="rId4">
            <a:alphaModFix/>
          </a:blip>
          <a:srcRect b="0" l="0" r="0" t="0"/>
          <a:stretch/>
        </p:blipFill>
        <p:spPr>
          <a:xfrm>
            <a:off x="457250" y="944575"/>
            <a:ext cx="10795146" cy="5608424"/>
          </a:xfrm>
          <a:prstGeom prst="rect">
            <a:avLst/>
          </a:prstGeom>
          <a:noFill/>
          <a:ln>
            <a:noFill/>
          </a:ln>
        </p:spPr>
      </p:pic>
      <p:sp>
        <p:nvSpPr>
          <p:cNvPr id="169" name="Google Shape;169;p10"/>
          <p:cNvSpPr/>
          <p:nvPr/>
        </p:nvSpPr>
        <p:spPr>
          <a:xfrm>
            <a:off x="9556513" y="6041300"/>
            <a:ext cx="1535400" cy="59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Calibri"/>
              <a:ea typeface="Calibri"/>
              <a:cs typeface="Calibri"/>
              <a:sym typeface="Calibri"/>
            </a:endParaRPr>
          </a:p>
        </p:txBody>
      </p:sp>
      <p:cxnSp>
        <p:nvCxnSpPr>
          <p:cNvPr id="170" name="Google Shape;170;p10"/>
          <p:cNvCxnSpPr/>
          <p:nvPr/>
        </p:nvCxnSpPr>
        <p:spPr>
          <a:xfrm flipH="1" rot="10800000">
            <a:off x="382324" y="988747"/>
            <a:ext cx="5019000" cy="9600"/>
          </a:xfrm>
          <a:prstGeom prst="straightConnector1">
            <a:avLst/>
          </a:prstGeom>
          <a:noFill/>
          <a:ln cap="flat" cmpd="sng" w="12700">
            <a:solidFill>
              <a:srgbClr val="4D4D4C"/>
            </a:solidFill>
            <a:prstDash val="solid"/>
            <a:miter lim="800000"/>
            <a:headEnd len="sm" w="sm" type="none"/>
            <a:tailEnd len="sm" w="sm"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74" name="Shape 174"/>
        <p:cNvGrpSpPr/>
        <p:nvPr/>
      </p:nvGrpSpPr>
      <p:grpSpPr>
        <a:xfrm>
          <a:off x="0" y="0"/>
          <a:ext cx="0" cy="0"/>
          <a:chOff x="0" y="0"/>
          <a:chExt cx="0" cy="0"/>
        </a:xfrm>
      </p:grpSpPr>
      <p:sp>
        <p:nvSpPr>
          <p:cNvPr id="175" name="Google Shape;175;p11"/>
          <p:cNvSpPr txBox="1"/>
          <p:nvPr/>
        </p:nvSpPr>
        <p:spPr>
          <a:xfrm>
            <a:off x="823449" y="296875"/>
            <a:ext cx="30528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Delimitación y alcance</a:t>
            </a:r>
            <a:endParaRPr b="1" i="0" sz="3600" u="none" cap="none" strike="noStrike">
              <a:solidFill>
                <a:srgbClr val="38AA00"/>
              </a:solidFill>
              <a:latin typeface="Work Sans"/>
              <a:ea typeface="Work Sans"/>
              <a:cs typeface="Work Sans"/>
              <a:sym typeface="Work Sans"/>
            </a:endParaRPr>
          </a:p>
        </p:txBody>
      </p:sp>
      <p:sp>
        <p:nvSpPr>
          <p:cNvPr id="176" name="Google Shape;176;p11"/>
          <p:cNvSpPr txBox="1"/>
          <p:nvPr/>
        </p:nvSpPr>
        <p:spPr>
          <a:xfrm>
            <a:off x="743775" y="1848225"/>
            <a:ext cx="6529500" cy="3878700"/>
          </a:xfrm>
          <a:prstGeom prst="rect">
            <a:avLst/>
          </a:prstGeom>
          <a:noFill/>
          <a:ln>
            <a:noFill/>
          </a:ln>
        </p:spPr>
        <p:txBody>
          <a:bodyPr anchorCtr="0" anchor="t" bIns="45700" lIns="91425" spcFirstLastPara="1" rIns="91425" wrap="square" tIns="45700">
            <a:spAutoFit/>
          </a:bodyPr>
          <a:lstStyle/>
          <a:p>
            <a:pPr indent="0" lvl="0" marL="0" marR="0" rtl="0" algn="just">
              <a:lnSpc>
                <a:spcPct val="100000"/>
              </a:lnSpc>
              <a:spcBef>
                <a:spcPts val="0"/>
              </a:spcBef>
              <a:spcAft>
                <a:spcPts val="0"/>
              </a:spcAft>
              <a:buClr>
                <a:schemeClr val="dk1"/>
              </a:buClr>
              <a:buSzPts val="1100"/>
              <a:buFont typeface="Arial"/>
              <a:buNone/>
            </a:pPr>
            <a:r>
              <a:rPr b="0" i="0" lang="es-CO" sz="1800" u="none" cap="none" strike="noStrike">
                <a:solidFill>
                  <a:schemeClr val="dk1"/>
                </a:solidFill>
                <a:latin typeface="Arial"/>
                <a:ea typeface="Arial"/>
                <a:cs typeface="Arial"/>
                <a:sym typeface="Arial"/>
              </a:rPr>
              <a:t>El sistema será desarrollado para el club deportivo “Blood Tigers Cheers” en un periodo estimado de 21 meses (equivalente a 7 trimestres), tiempo en el cual se desarrollará un sistema capaz de optimizar los principales procedimientos, que permitan gestionar el proceso de inscripción, gestión de los horarios, de entrenamiento, control del inventario, administrar de manera organizada los PQRS y evaluar el rendimiento deportivo de los atletas a través de un sistema de calificación bien estructurado.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100"/>
              <a:buFont typeface="Arial"/>
              <a:buNone/>
            </a:pPr>
            <a:r>
              <a:rPr b="0" i="0" lang="es-CO" sz="2100" u="none" cap="none" strike="noStrike">
                <a:solidFill>
                  <a:schemeClr val="dk1"/>
                </a:solidFill>
                <a:latin typeface="Calibri"/>
                <a:ea typeface="Calibri"/>
                <a:cs typeface="Calibri"/>
                <a:sym typeface="Calibri"/>
              </a:rPr>
              <a:t>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177" name="Google Shape;177;p11"/>
          <p:cNvCxnSpPr/>
          <p:nvPr/>
        </p:nvCxnSpPr>
        <p:spPr>
          <a:xfrm flipH="1" rot="10800000">
            <a:off x="823449" y="1398655"/>
            <a:ext cx="3338400" cy="24300"/>
          </a:xfrm>
          <a:prstGeom prst="straightConnector1">
            <a:avLst/>
          </a:prstGeom>
          <a:noFill/>
          <a:ln cap="flat" cmpd="sng" w="12700">
            <a:solidFill>
              <a:srgbClr val="4D4D4C"/>
            </a:solidFill>
            <a:prstDash val="solid"/>
            <a:miter lim="800000"/>
            <a:headEnd len="sm" w="sm" type="none"/>
            <a:tailEnd len="sm" w="sm" type="none"/>
          </a:ln>
        </p:spPr>
      </p:cxnSp>
      <p:pic>
        <p:nvPicPr>
          <p:cNvPr id="178" name="Google Shape;178;p11"/>
          <p:cNvPicPr preferRelativeResize="0"/>
          <p:nvPr/>
        </p:nvPicPr>
        <p:blipFill rotWithShape="1">
          <a:blip r:embed="rId4">
            <a:alphaModFix/>
          </a:blip>
          <a:srcRect b="0" l="0" r="0" t="0"/>
          <a:stretch/>
        </p:blipFill>
        <p:spPr>
          <a:xfrm>
            <a:off x="8129500" y="1867450"/>
            <a:ext cx="3123100" cy="3123100"/>
          </a:xfrm>
          <a:prstGeom prst="rect">
            <a:avLst/>
          </a:prstGeom>
          <a:noFill/>
          <a:ln>
            <a:noFill/>
          </a:ln>
        </p:spPr>
      </p:pic>
      <p:sp>
        <p:nvSpPr>
          <p:cNvPr id="179" name="Google Shape;179;p11"/>
          <p:cNvSpPr txBox="1"/>
          <p:nvPr/>
        </p:nvSpPr>
        <p:spPr>
          <a:xfrm>
            <a:off x="11341318" y="6106250"/>
            <a:ext cx="589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3" name="Shape 183"/>
        <p:cNvGrpSpPr/>
        <p:nvPr/>
      </p:nvGrpSpPr>
      <p:grpSpPr>
        <a:xfrm>
          <a:off x="0" y="0"/>
          <a:ext cx="0" cy="0"/>
          <a:chOff x="0" y="0"/>
          <a:chExt cx="0" cy="0"/>
        </a:xfrm>
      </p:grpSpPr>
      <p:sp>
        <p:nvSpPr>
          <p:cNvPr id="184" name="Google Shape;184;p12"/>
          <p:cNvSpPr txBox="1"/>
          <p:nvPr/>
        </p:nvSpPr>
        <p:spPr>
          <a:xfrm>
            <a:off x="2693025" y="2644050"/>
            <a:ext cx="7054800" cy="1569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lt1"/>
              </a:buClr>
              <a:buSzPts val="6000"/>
              <a:buFont typeface="Work Sans"/>
              <a:buNone/>
            </a:pPr>
            <a:r>
              <a:rPr b="1" i="0" lang="es-CO" sz="4800" u="none" cap="none" strike="noStrike">
                <a:solidFill>
                  <a:schemeClr val="lt1"/>
                </a:solidFill>
                <a:latin typeface="Arial"/>
                <a:ea typeface="Arial"/>
                <a:cs typeface="Arial"/>
                <a:sym typeface="Arial"/>
              </a:rPr>
              <a:t>Entregable N° 2 Diagrama de Procesos</a:t>
            </a:r>
            <a:endParaRPr b="1" i="0" sz="4800" u="none" cap="none" strike="noStrike">
              <a:solidFill>
                <a:schemeClr val="lt1"/>
              </a:solidFill>
              <a:latin typeface="Arial"/>
              <a:ea typeface="Arial"/>
              <a:cs typeface="Arial"/>
              <a:sym typeface="Arial"/>
            </a:endParaRPr>
          </a:p>
        </p:txBody>
      </p:sp>
      <p:cxnSp>
        <p:nvCxnSpPr>
          <p:cNvPr id="185" name="Google Shape;185;p12"/>
          <p:cNvCxnSpPr/>
          <p:nvPr/>
        </p:nvCxnSpPr>
        <p:spPr>
          <a:xfrm>
            <a:off x="2458125" y="4239975"/>
            <a:ext cx="7524600" cy="38400"/>
          </a:xfrm>
          <a:prstGeom prst="straightConnector1">
            <a:avLst/>
          </a:prstGeom>
          <a:noFill/>
          <a:ln cap="flat" cmpd="sng" w="12700">
            <a:solidFill>
              <a:schemeClr val="lt1"/>
            </a:solidFill>
            <a:prstDash val="solid"/>
            <a:miter lim="800000"/>
            <a:headEnd len="sm" w="sm" type="none"/>
            <a:tailEnd len="sm" w="sm" type="none"/>
          </a:ln>
        </p:spPr>
      </p:cxn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89" name="Shape 189"/>
        <p:cNvGrpSpPr/>
        <p:nvPr/>
      </p:nvGrpSpPr>
      <p:grpSpPr>
        <a:xfrm>
          <a:off x="0" y="0"/>
          <a:ext cx="0" cy="0"/>
          <a:chOff x="0" y="0"/>
          <a:chExt cx="0" cy="0"/>
        </a:xfrm>
      </p:grpSpPr>
      <p:sp>
        <p:nvSpPr>
          <p:cNvPr id="190" name="Google Shape;190;p13"/>
          <p:cNvSpPr txBox="1"/>
          <p:nvPr/>
        </p:nvSpPr>
        <p:spPr>
          <a:xfrm>
            <a:off x="828875" y="529250"/>
            <a:ext cx="9933600" cy="1381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Diagrama de proceso - Gestión de horarios</a:t>
            </a:r>
            <a:endParaRPr b="1" i="0" sz="3600" u="none" cap="none" strike="noStrike">
              <a:solidFill>
                <a:srgbClr val="38AA00"/>
              </a:solidFill>
              <a:latin typeface="Work Sans"/>
              <a:ea typeface="Work Sans"/>
              <a:cs typeface="Work Sans"/>
              <a:sym typeface="Work Sans"/>
            </a:endParaRPr>
          </a:p>
        </p:txBody>
      </p:sp>
      <p:sp>
        <p:nvSpPr>
          <p:cNvPr id="191" name="Google Shape;191;p13"/>
          <p:cNvSpPr txBox="1"/>
          <p:nvPr/>
        </p:nvSpPr>
        <p:spPr>
          <a:xfrm>
            <a:off x="354975" y="2470350"/>
            <a:ext cx="6687900" cy="106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192" name="Google Shape;192;p13"/>
          <p:cNvCxnSpPr>
            <a:stCxn id="190" idx="1"/>
            <a:endCxn id="190" idx="3"/>
          </p:cNvCxnSpPr>
          <p:nvPr/>
        </p:nvCxnSpPr>
        <p:spPr>
          <a:xfrm>
            <a:off x="828875" y="1220000"/>
            <a:ext cx="9933600" cy="0"/>
          </a:xfrm>
          <a:prstGeom prst="straightConnector1">
            <a:avLst/>
          </a:prstGeom>
          <a:noFill/>
          <a:ln cap="flat" cmpd="sng" w="12700">
            <a:solidFill>
              <a:srgbClr val="4D4D4C"/>
            </a:solidFill>
            <a:prstDash val="solid"/>
            <a:miter lim="800000"/>
            <a:headEnd len="sm" w="sm" type="none"/>
            <a:tailEnd len="sm" w="sm" type="none"/>
          </a:ln>
        </p:spPr>
      </p:cxnSp>
      <p:pic>
        <p:nvPicPr>
          <p:cNvPr id="193" name="Google Shape;193;p13"/>
          <p:cNvPicPr preferRelativeResize="0"/>
          <p:nvPr/>
        </p:nvPicPr>
        <p:blipFill rotWithShape="1">
          <a:blip r:embed="rId4">
            <a:alphaModFix/>
          </a:blip>
          <a:srcRect b="0" l="0" r="0" t="0"/>
          <a:stretch/>
        </p:blipFill>
        <p:spPr>
          <a:xfrm>
            <a:off x="925800" y="1385175"/>
            <a:ext cx="8836064" cy="5118674"/>
          </a:xfrm>
          <a:prstGeom prst="rect">
            <a:avLst/>
          </a:prstGeom>
          <a:noFill/>
          <a:ln>
            <a:noFill/>
          </a:ln>
        </p:spPr>
      </p:pic>
      <p:sp>
        <p:nvSpPr>
          <p:cNvPr id="194" name="Google Shape;194;p13"/>
          <p:cNvSpPr txBox="1"/>
          <p:nvPr/>
        </p:nvSpPr>
        <p:spPr>
          <a:xfrm>
            <a:off x="11354144" y="6106250"/>
            <a:ext cx="5766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98" name="Shape 198"/>
        <p:cNvGrpSpPr/>
        <p:nvPr/>
      </p:nvGrpSpPr>
      <p:grpSpPr>
        <a:xfrm>
          <a:off x="0" y="0"/>
          <a:ext cx="0" cy="0"/>
          <a:chOff x="0" y="0"/>
          <a:chExt cx="0" cy="0"/>
        </a:xfrm>
      </p:grpSpPr>
      <p:sp>
        <p:nvSpPr>
          <p:cNvPr id="199" name="Google Shape;199;p14"/>
          <p:cNvSpPr txBox="1"/>
          <p:nvPr/>
        </p:nvSpPr>
        <p:spPr>
          <a:xfrm>
            <a:off x="503925" y="160650"/>
            <a:ext cx="10785000" cy="1381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Diagrama de proceso - </a:t>
            </a:r>
            <a:r>
              <a:rPr b="1" lang="es-CO" sz="3600">
                <a:solidFill>
                  <a:srgbClr val="38AA00"/>
                </a:solidFill>
                <a:latin typeface="Work Sans"/>
                <a:ea typeface="Work Sans"/>
                <a:cs typeface="Work Sans"/>
                <a:sym typeface="Work Sans"/>
              </a:rPr>
              <a:t>Encargado de</a:t>
            </a:r>
            <a:r>
              <a:rPr b="1" i="0" lang="es-CO" sz="3600" u="none" cap="none" strike="noStrike">
                <a:solidFill>
                  <a:srgbClr val="38AA00"/>
                </a:solidFill>
                <a:latin typeface="Work Sans"/>
                <a:ea typeface="Work Sans"/>
                <a:cs typeface="Work Sans"/>
                <a:sym typeface="Work Sans"/>
              </a:rPr>
              <a:t> Inventario</a:t>
            </a:r>
            <a:endParaRPr b="1" i="0" sz="3600" u="none" cap="none" strike="noStrike">
              <a:solidFill>
                <a:srgbClr val="38AA00"/>
              </a:solidFill>
              <a:latin typeface="Work Sans"/>
              <a:ea typeface="Work Sans"/>
              <a:cs typeface="Work Sans"/>
              <a:sym typeface="Work Sans"/>
            </a:endParaRPr>
          </a:p>
          <a:p>
            <a:pPr indent="0" lvl="0" marL="0" marR="0" rtl="0" algn="l">
              <a:lnSpc>
                <a:spcPct val="90000"/>
              </a:lnSpc>
              <a:spcBef>
                <a:spcPts val="0"/>
              </a:spcBef>
              <a:spcAft>
                <a:spcPts val="0"/>
              </a:spcAft>
              <a:buClr>
                <a:srgbClr val="38AA00"/>
              </a:buClr>
              <a:buSzPts val="3600"/>
              <a:buFont typeface="Work Sans"/>
              <a:buNone/>
            </a:pPr>
            <a:r>
              <a:t/>
            </a:r>
            <a:endParaRPr b="1" i="0" sz="3600" u="none" cap="none" strike="noStrike">
              <a:solidFill>
                <a:srgbClr val="38AA00"/>
              </a:solidFill>
              <a:latin typeface="Work Sans"/>
              <a:ea typeface="Work Sans"/>
              <a:cs typeface="Work Sans"/>
              <a:sym typeface="Work Sans"/>
            </a:endParaRPr>
          </a:p>
        </p:txBody>
      </p:sp>
      <p:sp>
        <p:nvSpPr>
          <p:cNvPr id="200" name="Google Shape;200;p14"/>
          <p:cNvSpPr txBox="1"/>
          <p:nvPr/>
        </p:nvSpPr>
        <p:spPr>
          <a:xfrm>
            <a:off x="354975" y="2470350"/>
            <a:ext cx="6687900" cy="106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01" name="Google Shape;201;p14"/>
          <p:cNvCxnSpPr/>
          <p:nvPr/>
        </p:nvCxnSpPr>
        <p:spPr>
          <a:xfrm>
            <a:off x="503925" y="1224125"/>
            <a:ext cx="8863200" cy="8700"/>
          </a:xfrm>
          <a:prstGeom prst="straightConnector1">
            <a:avLst/>
          </a:prstGeom>
          <a:noFill/>
          <a:ln cap="flat" cmpd="sng" w="12700">
            <a:solidFill>
              <a:srgbClr val="4D4D4C"/>
            </a:solidFill>
            <a:prstDash val="solid"/>
            <a:miter lim="800000"/>
            <a:headEnd len="sm" w="sm" type="none"/>
            <a:tailEnd len="sm" w="sm" type="none"/>
          </a:ln>
        </p:spPr>
      </p:cxnSp>
      <p:sp>
        <p:nvSpPr>
          <p:cNvPr id="202" name="Google Shape;202;p14"/>
          <p:cNvSpPr txBox="1"/>
          <p:nvPr/>
        </p:nvSpPr>
        <p:spPr>
          <a:xfrm>
            <a:off x="11290075" y="6106250"/>
            <a:ext cx="6405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13</a:t>
            </a:r>
            <a:endParaRPr b="0" i="0" sz="1400" u="none" cap="none" strike="noStrike">
              <a:solidFill>
                <a:srgbClr val="000000"/>
              </a:solidFill>
              <a:latin typeface="Arial"/>
              <a:ea typeface="Arial"/>
              <a:cs typeface="Arial"/>
              <a:sym typeface="Arial"/>
            </a:endParaRPr>
          </a:p>
        </p:txBody>
      </p:sp>
      <p:pic>
        <p:nvPicPr>
          <p:cNvPr id="203" name="Google Shape;203;p14"/>
          <p:cNvPicPr preferRelativeResize="0"/>
          <p:nvPr/>
        </p:nvPicPr>
        <p:blipFill rotWithShape="1">
          <a:blip r:embed="rId4">
            <a:alphaModFix/>
          </a:blip>
          <a:srcRect b="0" l="0" r="0" t="0"/>
          <a:stretch/>
        </p:blipFill>
        <p:spPr>
          <a:xfrm>
            <a:off x="354975" y="1576912"/>
            <a:ext cx="9933599" cy="528108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07" name="Shape 207"/>
        <p:cNvGrpSpPr/>
        <p:nvPr/>
      </p:nvGrpSpPr>
      <p:grpSpPr>
        <a:xfrm>
          <a:off x="0" y="0"/>
          <a:ext cx="0" cy="0"/>
          <a:chOff x="0" y="0"/>
          <a:chExt cx="0" cy="0"/>
        </a:xfrm>
      </p:grpSpPr>
      <p:sp>
        <p:nvSpPr>
          <p:cNvPr id="208" name="Google Shape;208;p15"/>
          <p:cNvSpPr txBox="1"/>
          <p:nvPr/>
        </p:nvSpPr>
        <p:spPr>
          <a:xfrm>
            <a:off x="828875" y="529250"/>
            <a:ext cx="9933600" cy="1381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300" u="none" cap="none" strike="noStrike">
                <a:solidFill>
                  <a:srgbClr val="38AA00"/>
                </a:solidFill>
                <a:latin typeface="Work Sans"/>
                <a:ea typeface="Work Sans"/>
                <a:cs typeface="Work Sans"/>
                <a:sym typeface="Work Sans"/>
              </a:rPr>
              <a:t>Diagrama de proceso – Calificación de Atletas</a:t>
            </a:r>
            <a:endParaRPr b="1" i="0" sz="3300" u="none" cap="none" strike="noStrike">
              <a:solidFill>
                <a:srgbClr val="38AA00"/>
              </a:solidFill>
              <a:latin typeface="Work Sans"/>
              <a:ea typeface="Work Sans"/>
              <a:cs typeface="Work Sans"/>
              <a:sym typeface="Work Sans"/>
            </a:endParaRPr>
          </a:p>
          <a:p>
            <a:pPr indent="0" lvl="0" marL="0" marR="0" rtl="0" algn="l">
              <a:lnSpc>
                <a:spcPct val="90000"/>
              </a:lnSpc>
              <a:spcBef>
                <a:spcPts val="0"/>
              </a:spcBef>
              <a:spcAft>
                <a:spcPts val="0"/>
              </a:spcAft>
              <a:buClr>
                <a:srgbClr val="38AA00"/>
              </a:buClr>
              <a:buSzPts val="3600"/>
              <a:buFont typeface="Work Sans"/>
              <a:buNone/>
            </a:pPr>
            <a:r>
              <a:t/>
            </a:r>
            <a:endParaRPr b="1" i="0" sz="3600" u="none" cap="none" strike="noStrike">
              <a:solidFill>
                <a:srgbClr val="38AA00"/>
              </a:solidFill>
              <a:latin typeface="Work Sans"/>
              <a:ea typeface="Work Sans"/>
              <a:cs typeface="Work Sans"/>
              <a:sym typeface="Work Sans"/>
            </a:endParaRPr>
          </a:p>
        </p:txBody>
      </p:sp>
      <p:sp>
        <p:nvSpPr>
          <p:cNvPr id="209" name="Google Shape;209;p15"/>
          <p:cNvSpPr txBox="1"/>
          <p:nvPr/>
        </p:nvSpPr>
        <p:spPr>
          <a:xfrm>
            <a:off x="354975" y="2470350"/>
            <a:ext cx="6687900" cy="106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10" name="Google Shape;210;p15"/>
          <p:cNvCxnSpPr>
            <a:stCxn id="208" idx="1"/>
            <a:endCxn id="208" idx="3"/>
          </p:cNvCxnSpPr>
          <p:nvPr/>
        </p:nvCxnSpPr>
        <p:spPr>
          <a:xfrm>
            <a:off x="828875" y="1220000"/>
            <a:ext cx="9933600" cy="0"/>
          </a:xfrm>
          <a:prstGeom prst="straightConnector1">
            <a:avLst/>
          </a:prstGeom>
          <a:noFill/>
          <a:ln cap="flat" cmpd="sng" w="12700">
            <a:solidFill>
              <a:srgbClr val="4D4D4C"/>
            </a:solidFill>
            <a:prstDash val="solid"/>
            <a:miter lim="800000"/>
            <a:headEnd len="sm" w="sm" type="none"/>
            <a:tailEnd len="sm" w="sm" type="none"/>
          </a:ln>
        </p:spPr>
      </p:cxnSp>
      <p:sp>
        <p:nvSpPr>
          <p:cNvPr id="211" name="Google Shape;211;p15"/>
          <p:cNvSpPr txBox="1"/>
          <p:nvPr/>
        </p:nvSpPr>
        <p:spPr>
          <a:xfrm>
            <a:off x="11580534" y="6106250"/>
            <a:ext cx="503613" cy="461624"/>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14</a:t>
            </a:r>
            <a:endParaRPr b="0" i="0" sz="1400" u="none" cap="none" strike="noStrike">
              <a:solidFill>
                <a:srgbClr val="000000"/>
              </a:solidFill>
              <a:latin typeface="Arial"/>
              <a:ea typeface="Arial"/>
              <a:cs typeface="Arial"/>
              <a:sym typeface="Arial"/>
            </a:endParaRPr>
          </a:p>
        </p:txBody>
      </p:sp>
      <p:pic>
        <p:nvPicPr>
          <p:cNvPr id="212" name="Google Shape;212;p15"/>
          <p:cNvPicPr preferRelativeResize="0"/>
          <p:nvPr/>
        </p:nvPicPr>
        <p:blipFill>
          <a:blip r:embed="rId4">
            <a:alphaModFix/>
          </a:blip>
          <a:stretch>
            <a:fillRect/>
          </a:stretch>
        </p:blipFill>
        <p:spPr>
          <a:xfrm>
            <a:off x="616400" y="1300975"/>
            <a:ext cx="10812027" cy="51676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16" name="Shape 216"/>
        <p:cNvGrpSpPr/>
        <p:nvPr/>
      </p:nvGrpSpPr>
      <p:grpSpPr>
        <a:xfrm>
          <a:off x="0" y="0"/>
          <a:ext cx="0" cy="0"/>
          <a:chOff x="0" y="0"/>
          <a:chExt cx="0" cy="0"/>
        </a:xfrm>
      </p:grpSpPr>
      <p:sp>
        <p:nvSpPr>
          <p:cNvPr id="217" name="Google Shape;217;p16"/>
          <p:cNvSpPr txBox="1"/>
          <p:nvPr/>
        </p:nvSpPr>
        <p:spPr>
          <a:xfrm>
            <a:off x="828875" y="529250"/>
            <a:ext cx="9933600" cy="1381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Diagrama de proceso – Inscripciones</a:t>
            </a:r>
            <a:endParaRPr b="1" i="0" sz="3600" u="none" cap="none" strike="noStrike">
              <a:solidFill>
                <a:srgbClr val="38AA00"/>
              </a:solidFill>
              <a:latin typeface="Work Sans"/>
              <a:ea typeface="Work Sans"/>
              <a:cs typeface="Work Sans"/>
              <a:sym typeface="Work Sans"/>
            </a:endParaRPr>
          </a:p>
          <a:p>
            <a:pPr indent="0" lvl="0" marL="0" marR="0" rtl="0" algn="l">
              <a:lnSpc>
                <a:spcPct val="90000"/>
              </a:lnSpc>
              <a:spcBef>
                <a:spcPts val="0"/>
              </a:spcBef>
              <a:spcAft>
                <a:spcPts val="0"/>
              </a:spcAft>
              <a:buClr>
                <a:srgbClr val="38AA00"/>
              </a:buClr>
              <a:buSzPts val="3600"/>
              <a:buFont typeface="Work Sans"/>
              <a:buNone/>
            </a:pPr>
            <a:r>
              <a:t/>
            </a:r>
            <a:endParaRPr b="1" i="0" sz="3600" u="none" cap="none" strike="noStrike">
              <a:solidFill>
                <a:srgbClr val="38AA00"/>
              </a:solidFill>
              <a:latin typeface="Work Sans"/>
              <a:ea typeface="Work Sans"/>
              <a:cs typeface="Work Sans"/>
              <a:sym typeface="Work Sans"/>
            </a:endParaRPr>
          </a:p>
        </p:txBody>
      </p:sp>
      <p:sp>
        <p:nvSpPr>
          <p:cNvPr id="218" name="Google Shape;218;p16"/>
          <p:cNvSpPr txBox="1"/>
          <p:nvPr/>
        </p:nvSpPr>
        <p:spPr>
          <a:xfrm>
            <a:off x="354975" y="2470350"/>
            <a:ext cx="6687900" cy="106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19" name="Google Shape;219;p16"/>
          <p:cNvCxnSpPr>
            <a:stCxn id="217" idx="1"/>
            <a:endCxn id="217" idx="3"/>
          </p:cNvCxnSpPr>
          <p:nvPr/>
        </p:nvCxnSpPr>
        <p:spPr>
          <a:xfrm>
            <a:off x="828875" y="1220000"/>
            <a:ext cx="9933600" cy="0"/>
          </a:xfrm>
          <a:prstGeom prst="straightConnector1">
            <a:avLst/>
          </a:prstGeom>
          <a:noFill/>
          <a:ln cap="flat" cmpd="sng" w="12700">
            <a:solidFill>
              <a:srgbClr val="4D4D4C"/>
            </a:solidFill>
            <a:prstDash val="solid"/>
            <a:miter lim="800000"/>
            <a:headEnd len="sm" w="sm" type="none"/>
            <a:tailEnd len="sm" w="sm" type="none"/>
          </a:ln>
        </p:spPr>
      </p:cxnSp>
      <p:sp>
        <p:nvSpPr>
          <p:cNvPr id="220" name="Google Shape;220;p16"/>
          <p:cNvSpPr txBox="1"/>
          <p:nvPr/>
        </p:nvSpPr>
        <p:spPr>
          <a:xfrm>
            <a:off x="11580534" y="6106250"/>
            <a:ext cx="503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pic>
        <p:nvPicPr>
          <p:cNvPr id="221" name="Google Shape;221;p16"/>
          <p:cNvPicPr preferRelativeResize="0"/>
          <p:nvPr/>
        </p:nvPicPr>
        <p:blipFill rotWithShape="1">
          <a:blip r:embed="rId4">
            <a:alphaModFix/>
          </a:blip>
          <a:srcRect b="0" l="0" r="0" t="0"/>
          <a:stretch/>
        </p:blipFill>
        <p:spPr>
          <a:xfrm>
            <a:off x="570350" y="1563900"/>
            <a:ext cx="10751652" cy="4542339"/>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25" name="Shape 225"/>
        <p:cNvGrpSpPr/>
        <p:nvPr/>
      </p:nvGrpSpPr>
      <p:grpSpPr>
        <a:xfrm>
          <a:off x="0" y="0"/>
          <a:ext cx="0" cy="0"/>
          <a:chOff x="0" y="0"/>
          <a:chExt cx="0" cy="0"/>
        </a:xfrm>
      </p:grpSpPr>
      <p:sp>
        <p:nvSpPr>
          <p:cNvPr id="226" name="Google Shape;226;g39439f1cb08_5_1"/>
          <p:cNvSpPr txBox="1"/>
          <p:nvPr/>
        </p:nvSpPr>
        <p:spPr>
          <a:xfrm>
            <a:off x="828875" y="529250"/>
            <a:ext cx="9933600" cy="1381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Diagrama de proceso – </a:t>
            </a:r>
            <a:r>
              <a:rPr b="1" lang="es-CO" sz="3600">
                <a:solidFill>
                  <a:srgbClr val="38AA00"/>
                </a:solidFill>
                <a:latin typeface="Work Sans"/>
                <a:ea typeface="Work Sans"/>
                <a:cs typeface="Work Sans"/>
                <a:sym typeface="Work Sans"/>
              </a:rPr>
              <a:t>PQRS</a:t>
            </a:r>
            <a:endParaRPr b="1" i="0" sz="3600" u="none" cap="none" strike="noStrike">
              <a:solidFill>
                <a:srgbClr val="38AA00"/>
              </a:solidFill>
              <a:latin typeface="Work Sans"/>
              <a:ea typeface="Work Sans"/>
              <a:cs typeface="Work Sans"/>
              <a:sym typeface="Work Sans"/>
            </a:endParaRPr>
          </a:p>
          <a:p>
            <a:pPr indent="0" lvl="0" marL="0" marR="0" rtl="0" algn="l">
              <a:lnSpc>
                <a:spcPct val="90000"/>
              </a:lnSpc>
              <a:spcBef>
                <a:spcPts val="0"/>
              </a:spcBef>
              <a:spcAft>
                <a:spcPts val="0"/>
              </a:spcAft>
              <a:buClr>
                <a:srgbClr val="38AA00"/>
              </a:buClr>
              <a:buSzPts val="3600"/>
              <a:buFont typeface="Work Sans"/>
              <a:buNone/>
            </a:pPr>
            <a:r>
              <a:t/>
            </a:r>
            <a:endParaRPr b="1" i="0" sz="3600" u="none" cap="none" strike="noStrike">
              <a:solidFill>
                <a:srgbClr val="38AA00"/>
              </a:solidFill>
              <a:latin typeface="Work Sans"/>
              <a:ea typeface="Work Sans"/>
              <a:cs typeface="Work Sans"/>
              <a:sym typeface="Work Sans"/>
            </a:endParaRPr>
          </a:p>
        </p:txBody>
      </p:sp>
      <p:sp>
        <p:nvSpPr>
          <p:cNvPr id="227" name="Google Shape;227;g39439f1cb08_5_1"/>
          <p:cNvSpPr txBox="1"/>
          <p:nvPr/>
        </p:nvSpPr>
        <p:spPr>
          <a:xfrm>
            <a:off x="354975" y="2470350"/>
            <a:ext cx="6687900" cy="106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100"/>
              <a:buFont typeface="Arial"/>
              <a:buNone/>
            </a:pPr>
            <a:r>
              <a:t/>
            </a: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28" name="Google Shape;228;g39439f1cb08_5_1"/>
          <p:cNvCxnSpPr>
            <a:stCxn id="226" idx="1"/>
            <a:endCxn id="226" idx="3"/>
          </p:cNvCxnSpPr>
          <p:nvPr/>
        </p:nvCxnSpPr>
        <p:spPr>
          <a:xfrm>
            <a:off x="828875" y="1220000"/>
            <a:ext cx="9933600" cy="0"/>
          </a:xfrm>
          <a:prstGeom prst="straightConnector1">
            <a:avLst/>
          </a:prstGeom>
          <a:noFill/>
          <a:ln cap="flat" cmpd="sng" w="12700">
            <a:solidFill>
              <a:srgbClr val="4D4D4C"/>
            </a:solidFill>
            <a:prstDash val="solid"/>
            <a:miter lim="800000"/>
            <a:headEnd len="sm" w="sm" type="none"/>
            <a:tailEnd len="sm" w="sm" type="none"/>
          </a:ln>
        </p:spPr>
      </p:cxnSp>
      <p:sp>
        <p:nvSpPr>
          <p:cNvPr id="229" name="Google Shape;229;g39439f1cb08_5_1"/>
          <p:cNvSpPr txBox="1"/>
          <p:nvPr/>
        </p:nvSpPr>
        <p:spPr>
          <a:xfrm>
            <a:off x="11580534" y="6106250"/>
            <a:ext cx="503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15</a:t>
            </a:r>
            <a:endParaRPr b="0" i="0" sz="1400" u="none" cap="none" strike="noStrike">
              <a:solidFill>
                <a:srgbClr val="000000"/>
              </a:solidFill>
              <a:latin typeface="Arial"/>
              <a:ea typeface="Arial"/>
              <a:cs typeface="Arial"/>
              <a:sym typeface="Arial"/>
            </a:endParaRPr>
          </a:p>
        </p:txBody>
      </p:sp>
      <p:pic>
        <p:nvPicPr>
          <p:cNvPr id="230" name="Google Shape;230;g39439f1cb08_5_1"/>
          <p:cNvPicPr preferRelativeResize="0"/>
          <p:nvPr/>
        </p:nvPicPr>
        <p:blipFill>
          <a:blip r:embed="rId4">
            <a:alphaModFix/>
          </a:blip>
          <a:stretch>
            <a:fillRect/>
          </a:stretch>
        </p:blipFill>
        <p:spPr>
          <a:xfrm>
            <a:off x="231350" y="1497125"/>
            <a:ext cx="11484247" cy="4518287"/>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34" name="Shape 234"/>
        <p:cNvGrpSpPr/>
        <p:nvPr/>
      </p:nvGrpSpPr>
      <p:grpSpPr>
        <a:xfrm>
          <a:off x="0" y="0"/>
          <a:ext cx="0" cy="0"/>
          <a:chOff x="0" y="0"/>
          <a:chExt cx="0" cy="0"/>
        </a:xfrm>
      </p:grpSpPr>
      <p:sp>
        <p:nvSpPr>
          <p:cNvPr id="235" name="Google Shape;235;p17"/>
          <p:cNvSpPr txBox="1"/>
          <p:nvPr/>
        </p:nvSpPr>
        <p:spPr>
          <a:xfrm>
            <a:off x="1203451" y="2644049"/>
            <a:ext cx="9785100" cy="1569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lt1"/>
              </a:buClr>
              <a:buSzPts val="6000"/>
              <a:buFont typeface="Work Sans"/>
              <a:buNone/>
            </a:pPr>
            <a:r>
              <a:rPr b="1" i="0" lang="es-CO" sz="4800" u="none" cap="none" strike="noStrike">
                <a:solidFill>
                  <a:schemeClr val="lt1"/>
                </a:solidFill>
                <a:latin typeface="Arial"/>
                <a:ea typeface="Arial"/>
                <a:cs typeface="Arial"/>
                <a:sym typeface="Arial"/>
              </a:rPr>
              <a:t>Entregable N° 3 </a:t>
            </a:r>
            <a:endParaRPr b="1" i="0" sz="4800" u="none" cap="none" strike="noStrike">
              <a:solidFill>
                <a:schemeClr val="lt1"/>
              </a:solidFill>
              <a:latin typeface="Arial"/>
              <a:ea typeface="Arial"/>
              <a:cs typeface="Arial"/>
              <a:sym typeface="Arial"/>
            </a:endParaRPr>
          </a:p>
          <a:p>
            <a:pPr indent="0" lvl="0" marL="0" marR="0" rtl="0" algn="ctr">
              <a:lnSpc>
                <a:spcPct val="100000"/>
              </a:lnSpc>
              <a:spcBef>
                <a:spcPts val="0"/>
              </a:spcBef>
              <a:spcAft>
                <a:spcPts val="0"/>
              </a:spcAft>
              <a:buClr>
                <a:schemeClr val="lt1"/>
              </a:buClr>
              <a:buSzPts val="6000"/>
              <a:buFont typeface="Work Sans"/>
              <a:buNone/>
            </a:pPr>
            <a:r>
              <a:rPr b="1" i="0" lang="es-CO" sz="4800" u="none" cap="none" strike="noStrike">
                <a:solidFill>
                  <a:schemeClr val="lt1"/>
                </a:solidFill>
                <a:latin typeface="Arial"/>
                <a:ea typeface="Arial"/>
                <a:cs typeface="Arial"/>
                <a:sym typeface="Arial"/>
              </a:rPr>
              <a:t>Técnica de recolección de datos</a:t>
            </a:r>
            <a:endParaRPr b="1" i="0" sz="4800" u="none" cap="none" strike="noStrike">
              <a:solidFill>
                <a:schemeClr val="lt1"/>
              </a:solidFill>
              <a:latin typeface="Arial"/>
              <a:ea typeface="Arial"/>
              <a:cs typeface="Arial"/>
              <a:sym typeface="Arial"/>
            </a:endParaRPr>
          </a:p>
        </p:txBody>
      </p:sp>
      <p:cxnSp>
        <p:nvCxnSpPr>
          <p:cNvPr id="236" name="Google Shape;236;p17"/>
          <p:cNvCxnSpPr/>
          <p:nvPr/>
        </p:nvCxnSpPr>
        <p:spPr>
          <a:xfrm>
            <a:off x="2486575" y="4439200"/>
            <a:ext cx="7524600" cy="38400"/>
          </a:xfrm>
          <a:prstGeom prst="straightConnector1">
            <a:avLst/>
          </a:prstGeom>
          <a:noFill/>
          <a:ln cap="flat" cmpd="sng" w="12700">
            <a:solidFill>
              <a:schemeClr val="lt1"/>
            </a:solidFill>
            <a:prstDash val="solid"/>
            <a:miter lim="800000"/>
            <a:headEnd len="sm" w="sm" type="none"/>
            <a:tailEnd len="sm" w="sm"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40" name="Shape 240"/>
        <p:cNvGrpSpPr/>
        <p:nvPr/>
      </p:nvGrpSpPr>
      <p:grpSpPr>
        <a:xfrm>
          <a:off x="0" y="0"/>
          <a:ext cx="0" cy="0"/>
          <a:chOff x="0" y="0"/>
          <a:chExt cx="0" cy="0"/>
        </a:xfrm>
      </p:grpSpPr>
      <p:sp>
        <p:nvSpPr>
          <p:cNvPr id="241" name="Google Shape;241;p18"/>
          <p:cNvSpPr txBox="1"/>
          <p:nvPr/>
        </p:nvSpPr>
        <p:spPr>
          <a:xfrm>
            <a:off x="292846" y="92654"/>
            <a:ext cx="82083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Inventario</a:t>
            </a:r>
            <a:endParaRPr b="1" i="0" sz="3600" u="none" cap="none" strike="noStrike">
              <a:solidFill>
                <a:srgbClr val="38AA00"/>
              </a:solidFill>
              <a:latin typeface="Work Sans"/>
              <a:ea typeface="Work Sans"/>
              <a:cs typeface="Work Sans"/>
              <a:sym typeface="Work Sans"/>
            </a:endParaRPr>
          </a:p>
        </p:txBody>
      </p:sp>
      <p:sp>
        <p:nvSpPr>
          <p:cNvPr id="242" name="Google Shape;242;p18"/>
          <p:cNvSpPr txBox="1"/>
          <p:nvPr/>
        </p:nvSpPr>
        <p:spPr>
          <a:xfrm>
            <a:off x="1091775" y="1533813"/>
            <a:ext cx="12112500" cy="7803900"/>
          </a:xfrm>
          <a:prstGeom prst="rect">
            <a:avLst/>
          </a:prstGeom>
          <a:noFill/>
          <a:ln>
            <a:noFill/>
          </a:ln>
        </p:spPr>
        <p:txBody>
          <a:bodyPr anchorCtr="0" anchor="t" bIns="45700" lIns="91425" spcFirstLastPara="1" rIns="91425" wrap="square" tIns="45700">
            <a:spAutoFit/>
          </a:bodyPr>
          <a:lstStyle/>
          <a:p>
            <a:pPr indent="0" lvl="0" marL="45720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chemeClr val="dk1"/>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rgbClr val="000000"/>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endParaRPr b="0" i="0" sz="24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400"/>
              <a:buFont typeface="Arial"/>
              <a:buNone/>
            </a:pPr>
            <a:br>
              <a:rPr b="0" i="0" lang="es-CO" sz="2400" u="none" cap="none" strike="noStrike">
                <a:solidFill>
                  <a:srgbClr val="000000"/>
                </a:solidFill>
                <a:latin typeface="Arial"/>
                <a:ea typeface="Arial"/>
                <a:cs typeface="Arial"/>
                <a:sym typeface="Arial"/>
              </a:rPr>
            </a:br>
            <a:br>
              <a:rPr b="0" i="0" lang="es-CO" sz="18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br>
              <a:rPr b="0" i="0" lang="es-CO" sz="2100" u="none" cap="none" strike="noStrike">
                <a:solidFill>
                  <a:schemeClr val="dk1"/>
                </a:solidFill>
                <a:latin typeface="Calibri"/>
                <a:ea typeface="Calibri"/>
                <a:cs typeface="Calibri"/>
                <a:sym typeface="Calibri"/>
              </a:rPr>
            </a:b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43" name="Google Shape;243;p18"/>
          <p:cNvCxnSpPr/>
          <p:nvPr/>
        </p:nvCxnSpPr>
        <p:spPr>
          <a:xfrm>
            <a:off x="292846" y="676818"/>
            <a:ext cx="2794800" cy="6000"/>
          </a:xfrm>
          <a:prstGeom prst="straightConnector1">
            <a:avLst/>
          </a:prstGeom>
          <a:noFill/>
          <a:ln cap="flat" cmpd="sng" w="12700">
            <a:solidFill>
              <a:srgbClr val="4D4D4C"/>
            </a:solidFill>
            <a:prstDash val="solid"/>
            <a:miter lim="800000"/>
            <a:headEnd len="sm" w="sm" type="none"/>
            <a:tailEnd len="sm" w="sm" type="none"/>
          </a:ln>
        </p:spPr>
      </p:cxnSp>
      <p:sp>
        <p:nvSpPr>
          <p:cNvPr id="244" name="Google Shape;244;p18"/>
          <p:cNvSpPr txBox="1"/>
          <p:nvPr/>
        </p:nvSpPr>
        <p:spPr>
          <a:xfrm>
            <a:off x="459500" y="1310363"/>
            <a:ext cx="3690300" cy="7389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rgbClr val="000000"/>
                </a:solidFill>
                <a:latin typeface="Arial"/>
                <a:ea typeface="Arial"/>
                <a:cs typeface="Arial"/>
                <a:sym typeface="Arial"/>
              </a:rPr>
              <a:t>¿Qué problemas ha tenido con el manejo de inventario?</a:t>
            </a:r>
            <a:endParaRPr b="1" i="0" sz="1800" u="none" cap="none" strike="noStrike">
              <a:solidFill>
                <a:srgbClr val="000000"/>
              </a:solidFill>
              <a:latin typeface="Arial"/>
              <a:ea typeface="Arial"/>
              <a:cs typeface="Arial"/>
              <a:sym typeface="Arial"/>
            </a:endParaRPr>
          </a:p>
        </p:txBody>
      </p:sp>
      <p:pic>
        <p:nvPicPr>
          <p:cNvPr id="245" name="Google Shape;245;p18"/>
          <p:cNvPicPr preferRelativeResize="0"/>
          <p:nvPr/>
        </p:nvPicPr>
        <p:blipFill rotWithShape="1">
          <a:blip r:embed="rId4">
            <a:alphaModFix/>
          </a:blip>
          <a:srcRect b="0" l="0" r="0" t="0"/>
          <a:stretch/>
        </p:blipFill>
        <p:spPr>
          <a:xfrm>
            <a:off x="4615025" y="1234450"/>
            <a:ext cx="6642400" cy="1660525"/>
          </a:xfrm>
          <a:prstGeom prst="rect">
            <a:avLst/>
          </a:prstGeom>
          <a:noFill/>
          <a:ln>
            <a:noFill/>
          </a:ln>
        </p:spPr>
      </p:pic>
      <p:pic>
        <p:nvPicPr>
          <p:cNvPr id="246" name="Google Shape;246;p18"/>
          <p:cNvPicPr preferRelativeResize="0"/>
          <p:nvPr/>
        </p:nvPicPr>
        <p:blipFill rotWithShape="1">
          <a:blip r:embed="rId5">
            <a:alphaModFix/>
          </a:blip>
          <a:srcRect b="0" l="0" r="0" t="0"/>
          <a:stretch/>
        </p:blipFill>
        <p:spPr>
          <a:xfrm>
            <a:off x="5023075" y="2894975"/>
            <a:ext cx="5712862" cy="3440075"/>
          </a:xfrm>
          <a:prstGeom prst="rect">
            <a:avLst/>
          </a:prstGeom>
          <a:noFill/>
          <a:ln>
            <a:noFill/>
          </a:ln>
        </p:spPr>
      </p:pic>
      <p:sp>
        <p:nvSpPr>
          <p:cNvPr id="247" name="Google Shape;247;p18"/>
          <p:cNvSpPr txBox="1"/>
          <p:nvPr/>
        </p:nvSpPr>
        <p:spPr>
          <a:xfrm>
            <a:off x="11580534" y="6106250"/>
            <a:ext cx="503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51" name="Shape 251"/>
        <p:cNvGrpSpPr/>
        <p:nvPr/>
      </p:nvGrpSpPr>
      <p:grpSpPr>
        <a:xfrm>
          <a:off x="0" y="0"/>
          <a:ext cx="0" cy="0"/>
          <a:chOff x="0" y="0"/>
          <a:chExt cx="0" cy="0"/>
        </a:xfrm>
      </p:grpSpPr>
      <p:sp>
        <p:nvSpPr>
          <p:cNvPr id="252" name="Google Shape;252;p19"/>
          <p:cNvSpPr txBox="1"/>
          <p:nvPr/>
        </p:nvSpPr>
        <p:spPr>
          <a:xfrm>
            <a:off x="347346" y="123979"/>
            <a:ext cx="82083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PQRS</a:t>
            </a:r>
            <a:endParaRPr b="1" i="0" sz="3600" u="none" cap="none" strike="noStrike">
              <a:solidFill>
                <a:srgbClr val="38AA00"/>
              </a:solidFill>
              <a:latin typeface="Work Sans"/>
              <a:ea typeface="Work Sans"/>
              <a:cs typeface="Work Sans"/>
              <a:sym typeface="Work Sans"/>
            </a:endParaRPr>
          </a:p>
        </p:txBody>
      </p:sp>
      <p:sp>
        <p:nvSpPr>
          <p:cNvPr id="253" name="Google Shape;253;p19"/>
          <p:cNvSpPr txBox="1"/>
          <p:nvPr/>
        </p:nvSpPr>
        <p:spPr>
          <a:xfrm>
            <a:off x="39750" y="1013425"/>
            <a:ext cx="12112500" cy="7803900"/>
          </a:xfrm>
          <a:prstGeom prst="rect">
            <a:avLst/>
          </a:prstGeom>
          <a:noFill/>
          <a:ln>
            <a:noFill/>
          </a:ln>
        </p:spPr>
        <p:txBody>
          <a:bodyPr anchorCtr="0" anchor="t" bIns="45700" lIns="91425" spcFirstLastPara="1" rIns="91425" wrap="square" tIns="45700">
            <a:spAutoFit/>
          </a:bodyPr>
          <a:lstStyle/>
          <a:p>
            <a:pPr indent="0" lvl="0" marL="45720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chemeClr val="dk1"/>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rgbClr val="000000"/>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endParaRPr b="0" i="0" sz="24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400"/>
              <a:buFont typeface="Arial"/>
              <a:buNone/>
            </a:pPr>
            <a:br>
              <a:rPr b="0" i="0" lang="es-CO" sz="2400" u="none" cap="none" strike="noStrike">
                <a:solidFill>
                  <a:srgbClr val="000000"/>
                </a:solidFill>
                <a:latin typeface="Arial"/>
                <a:ea typeface="Arial"/>
                <a:cs typeface="Arial"/>
                <a:sym typeface="Arial"/>
              </a:rPr>
            </a:br>
            <a:br>
              <a:rPr b="0" i="0" lang="es-CO" sz="18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br>
              <a:rPr b="0" i="0" lang="es-CO" sz="2100" u="none" cap="none" strike="noStrike">
                <a:solidFill>
                  <a:schemeClr val="dk1"/>
                </a:solidFill>
                <a:latin typeface="Calibri"/>
                <a:ea typeface="Calibri"/>
                <a:cs typeface="Calibri"/>
                <a:sym typeface="Calibri"/>
              </a:rPr>
            </a:b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54" name="Google Shape;254;p19"/>
          <p:cNvCxnSpPr/>
          <p:nvPr/>
        </p:nvCxnSpPr>
        <p:spPr>
          <a:xfrm>
            <a:off x="366021" y="813368"/>
            <a:ext cx="1597500" cy="12000"/>
          </a:xfrm>
          <a:prstGeom prst="straightConnector1">
            <a:avLst/>
          </a:prstGeom>
          <a:noFill/>
          <a:ln cap="flat" cmpd="sng" w="12700">
            <a:solidFill>
              <a:srgbClr val="4D4D4C"/>
            </a:solidFill>
            <a:prstDash val="solid"/>
            <a:miter lim="800000"/>
            <a:headEnd len="sm" w="sm" type="none"/>
            <a:tailEnd len="sm" w="sm" type="none"/>
          </a:ln>
        </p:spPr>
      </p:cxnSp>
      <p:sp>
        <p:nvSpPr>
          <p:cNvPr id="255" name="Google Shape;255;p19"/>
          <p:cNvSpPr txBox="1"/>
          <p:nvPr/>
        </p:nvSpPr>
        <p:spPr>
          <a:xfrm>
            <a:off x="366025" y="1013425"/>
            <a:ext cx="3959700" cy="1293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rgbClr val="000000"/>
                </a:solidFill>
                <a:latin typeface="Arial"/>
                <a:ea typeface="Arial"/>
                <a:cs typeface="Arial"/>
                <a:sym typeface="Arial"/>
              </a:rPr>
              <a:t>¿Qué tan fácil le resulta registrar una petición, queja, reclamo o sugerencia (PQRS) en el Club Blood Tigers Cheers?</a:t>
            </a:r>
            <a:endParaRPr b="1" i="0" sz="1800" u="none" cap="none" strike="noStrike">
              <a:solidFill>
                <a:srgbClr val="000000"/>
              </a:solidFill>
              <a:latin typeface="Arial"/>
              <a:ea typeface="Arial"/>
              <a:cs typeface="Arial"/>
              <a:sym typeface="Arial"/>
            </a:endParaRPr>
          </a:p>
        </p:txBody>
      </p:sp>
      <p:pic>
        <p:nvPicPr>
          <p:cNvPr id="256" name="Google Shape;256;p19"/>
          <p:cNvPicPr preferRelativeResize="0"/>
          <p:nvPr/>
        </p:nvPicPr>
        <p:blipFill rotWithShape="1">
          <a:blip r:embed="rId4">
            <a:alphaModFix/>
          </a:blip>
          <a:srcRect b="0" l="0" r="0" t="0"/>
          <a:stretch/>
        </p:blipFill>
        <p:spPr>
          <a:xfrm>
            <a:off x="5046725" y="983875"/>
            <a:ext cx="6030675" cy="1570488"/>
          </a:xfrm>
          <a:prstGeom prst="rect">
            <a:avLst/>
          </a:prstGeom>
          <a:noFill/>
          <a:ln>
            <a:noFill/>
          </a:ln>
        </p:spPr>
      </p:pic>
      <p:pic>
        <p:nvPicPr>
          <p:cNvPr id="257" name="Google Shape;257;p19"/>
          <p:cNvPicPr preferRelativeResize="0"/>
          <p:nvPr/>
        </p:nvPicPr>
        <p:blipFill rotWithShape="1">
          <a:blip r:embed="rId5">
            <a:alphaModFix/>
          </a:blip>
          <a:srcRect b="0" l="0" r="0" t="0"/>
          <a:stretch/>
        </p:blipFill>
        <p:spPr>
          <a:xfrm>
            <a:off x="5123950" y="2737775"/>
            <a:ext cx="5629276" cy="3484350"/>
          </a:xfrm>
          <a:prstGeom prst="rect">
            <a:avLst/>
          </a:prstGeom>
          <a:noFill/>
          <a:ln>
            <a:noFill/>
          </a:ln>
        </p:spPr>
      </p:pic>
      <p:sp>
        <p:nvSpPr>
          <p:cNvPr id="258" name="Google Shape;258;p19"/>
          <p:cNvSpPr txBox="1"/>
          <p:nvPr/>
        </p:nvSpPr>
        <p:spPr>
          <a:xfrm>
            <a:off x="11580534" y="6106250"/>
            <a:ext cx="503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17</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62" name="Shape 262"/>
        <p:cNvGrpSpPr/>
        <p:nvPr/>
      </p:nvGrpSpPr>
      <p:grpSpPr>
        <a:xfrm>
          <a:off x="0" y="0"/>
          <a:ext cx="0" cy="0"/>
          <a:chOff x="0" y="0"/>
          <a:chExt cx="0" cy="0"/>
        </a:xfrm>
      </p:grpSpPr>
      <p:sp>
        <p:nvSpPr>
          <p:cNvPr id="263" name="Google Shape;263;p20"/>
          <p:cNvSpPr txBox="1"/>
          <p:nvPr/>
        </p:nvSpPr>
        <p:spPr>
          <a:xfrm>
            <a:off x="319746" y="109854"/>
            <a:ext cx="8208300" cy="6765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600" u="none" cap="none" strike="noStrike">
                <a:solidFill>
                  <a:srgbClr val="38AA00"/>
                </a:solidFill>
                <a:latin typeface="Work Sans"/>
                <a:ea typeface="Work Sans"/>
                <a:cs typeface="Work Sans"/>
                <a:sym typeface="Work Sans"/>
              </a:rPr>
              <a:t>Implementación Sistema</a:t>
            </a:r>
            <a:endParaRPr b="1" i="0" sz="3600" u="none" cap="none" strike="noStrike">
              <a:solidFill>
                <a:srgbClr val="38AA00"/>
              </a:solidFill>
              <a:latin typeface="Work Sans"/>
              <a:ea typeface="Work Sans"/>
              <a:cs typeface="Work Sans"/>
              <a:sym typeface="Work Sans"/>
            </a:endParaRPr>
          </a:p>
        </p:txBody>
      </p:sp>
      <p:sp>
        <p:nvSpPr>
          <p:cNvPr id="264" name="Google Shape;264;p20"/>
          <p:cNvSpPr txBox="1"/>
          <p:nvPr/>
        </p:nvSpPr>
        <p:spPr>
          <a:xfrm>
            <a:off x="39750" y="1013425"/>
            <a:ext cx="12112500" cy="7803900"/>
          </a:xfrm>
          <a:prstGeom prst="rect">
            <a:avLst/>
          </a:prstGeom>
          <a:noFill/>
          <a:ln>
            <a:noFill/>
          </a:ln>
        </p:spPr>
        <p:txBody>
          <a:bodyPr anchorCtr="0" anchor="t" bIns="45700" lIns="91425" spcFirstLastPara="1" rIns="91425" wrap="square" tIns="45700">
            <a:spAutoFit/>
          </a:bodyPr>
          <a:lstStyle/>
          <a:p>
            <a:pPr indent="0" lvl="0" marL="45720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chemeClr val="dk1"/>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rgbClr val="000000"/>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endParaRPr b="0" i="0" sz="24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400"/>
              <a:buFont typeface="Arial"/>
              <a:buNone/>
            </a:pPr>
            <a:br>
              <a:rPr b="0" i="0" lang="es-CO" sz="2400" u="none" cap="none" strike="noStrike">
                <a:solidFill>
                  <a:srgbClr val="000000"/>
                </a:solidFill>
                <a:latin typeface="Arial"/>
                <a:ea typeface="Arial"/>
                <a:cs typeface="Arial"/>
                <a:sym typeface="Arial"/>
              </a:rPr>
            </a:br>
            <a:br>
              <a:rPr b="0" i="0" lang="es-CO" sz="18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br>
              <a:rPr b="0" i="0" lang="es-CO" sz="2100" u="none" cap="none" strike="noStrike">
                <a:solidFill>
                  <a:schemeClr val="dk1"/>
                </a:solidFill>
                <a:latin typeface="Calibri"/>
                <a:ea typeface="Calibri"/>
                <a:cs typeface="Calibri"/>
                <a:sym typeface="Calibri"/>
              </a:rPr>
            </a:b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65" name="Google Shape;265;p20"/>
          <p:cNvCxnSpPr/>
          <p:nvPr/>
        </p:nvCxnSpPr>
        <p:spPr>
          <a:xfrm flipH="1" rot="10800000">
            <a:off x="396971" y="729518"/>
            <a:ext cx="6004500" cy="1800"/>
          </a:xfrm>
          <a:prstGeom prst="straightConnector1">
            <a:avLst/>
          </a:prstGeom>
          <a:noFill/>
          <a:ln cap="flat" cmpd="sng" w="12700">
            <a:solidFill>
              <a:srgbClr val="4D4D4C"/>
            </a:solidFill>
            <a:prstDash val="solid"/>
            <a:miter lim="800000"/>
            <a:headEnd len="sm" w="sm" type="none"/>
            <a:tailEnd len="sm" w="sm" type="none"/>
          </a:ln>
        </p:spPr>
      </p:cxnSp>
      <p:sp>
        <p:nvSpPr>
          <p:cNvPr id="266" name="Google Shape;266;p20"/>
          <p:cNvSpPr txBox="1"/>
          <p:nvPr/>
        </p:nvSpPr>
        <p:spPr>
          <a:xfrm>
            <a:off x="319750" y="1172075"/>
            <a:ext cx="3956400" cy="1293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1" i="0" lang="es-CO" sz="1800" u="none" cap="none" strike="noStrike">
                <a:solidFill>
                  <a:srgbClr val="000000"/>
                </a:solidFill>
                <a:latin typeface="Arial"/>
                <a:ea typeface="Arial"/>
                <a:cs typeface="Arial"/>
                <a:sym typeface="Arial"/>
              </a:rPr>
              <a:t>¿Cree que la implementación de un sistema (Web y Móvil) mejoraría las problemáticas mencionadas anteriormente?</a:t>
            </a:r>
            <a:endParaRPr b="1" i="0" sz="1800" u="none" cap="none" strike="noStrike">
              <a:solidFill>
                <a:srgbClr val="000000"/>
              </a:solidFill>
              <a:latin typeface="Arial"/>
              <a:ea typeface="Arial"/>
              <a:cs typeface="Arial"/>
              <a:sym typeface="Arial"/>
            </a:endParaRPr>
          </a:p>
        </p:txBody>
      </p:sp>
      <p:pic>
        <p:nvPicPr>
          <p:cNvPr id="267" name="Google Shape;267;p20"/>
          <p:cNvPicPr preferRelativeResize="0"/>
          <p:nvPr/>
        </p:nvPicPr>
        <p:blipFill rotWithShape="1">
          <a:blip r:embed="rId4">
            <a:alphaModFix/>
          </a:blip>
          <a:srcRect b="0" l="0" r="0" t="0"/>
          <a:stretch/>
        </p:blipFill>
        <p:spPr>
          <a:xfrm>
            <a:off x="4491825" y="1089200"/>
            <a:ext cx="7137476" cy="1526938"/>
          </a:xfrm>
          <a:prstGeom prst="rect">
            <a:avLst/>
          </a:prstGeom>
          <a:noFill/>
          <a:ln>
            <a:noFill/>
          </a:ln>
        </p:spPr>
      </p:pic>
      <p:pic>
        <p:nvPicPr>
          <p:cNvPr id="268" name="Google Shape;268;p20"/>
          <p:cNvPicPr preferRelativeResize="0"/>
          <p:nvPr/>
        </p:nvPicPr>
        <p:blipFill rotWithShape="1">
          <a:blip r:embed="rId5">
            <a:alphaModFix/>
          </a:blip>
          <a:srcRect b="0" l="0" r="0" t="0"/>
          <a:stretch/>
        </p:blipFill>
        <p:spPr>
          <a:xfrm>
            <a:off x="5374255" y="2793325"/>
            <a:ext cx="5745070" cy="3433150"/>
          </a:xfrm>
          <a:prstGeom prst="rect">
            <a:avLst/>
          </a:prstGeom>
          <a:noFill/>
          <a:ln>
            <a:noFill/>
          </a:ln>
        </p:spPr>
      </p:pic>
      <p:sp>
        <p:nvSpPr>
          <p:cNvPr id="269" name="Google Shape;269;p20"/>
          <p:cNvSpPr txBox="1"/>
          <p:nvPr/>
        </p:nvSpPr>
        <p:spPr>
          <a:xfrm>
            <a:off x="11580534" y="6106250"/>
            <a:ext cx="503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18</a:t>
            </a:r>
            <a:endParaRPr b="0" i="0" sz="1400" u="none" cap="none" strike="noStrike">
              <a:solidFill>
                <a:srgbClr val="000000"/>
              </a:solidFill>
              <a:latin typeface="Arial"/>
              <a:ea typeface="Arial"/>
              <a:cs typeface="Arial"/>
              <a:sym typeface="Arial"/>
            </a:endParaRPr>
          </a:p>
        </p:txBody>
      </p:sp>
      <p:pic>
        <p:nvPicPr>
          <p:cNvPr id="270" name="Google Shape;270;p20"/>
          <p:cNvPicPr preferRelativeResize="0"/>
          <p:nvPr/>
        </p:nvPicPr>
        <p:blipFill rotWithShape="1">
          <a:blip r:embed="rId6">
            <a:alphaModFix/>
          </a:blip>
          <a:srcRect b="0" l="0" r="0" t="0"/>
          <a:stretch/>
        </p:blipFill>
        <p:spPr>
          <a:xfrm>
            <a:off x="10992740" y="2103375"/>
            <a:ext cx="476250" cy="17145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74" name="Shape 274"/>
        <p:cNvGrpSpPr/>
        <p:nvPr/>
      </p:nvGrpSpPr>
      <p:grpSpPr>
        <a:xfrm>
          <a:off x="0" y="0"/>
          <a:ext cx="0" cy="0"/>
          <a:chOff x="0" y="0"/>
          <a:chExt cx="0" cy="0"/>
        </a:xfrm>
      </p:grpSpPr>
      <p:sp>
        <p:nvSpPr>
          <p:cNvPr id="275" name="Google Shape;275;p21"/>
          <p:cNvSpPr txBox="1"/>
          <p:nvPr/>
        </p:nvSpPr>
        <p:spPr>
          <a:xfrm>
            <a:off x="-7" y="1837662"/>
            <a:ext cx="12438000" cy="2124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lt1"/>
              </a:buClr>
              <a:buSzPts val="6000"/>
              <a:buFont typeface="Work Sans"/>
              <a:buNone/>
            </a:pPr>
            <a:r>
              <a:rPr b="1" i="0" lang="es-CO" sz="4400" u="none" cap="none" strike="noStrike">
                <a:solidFill>
                  <a:schemeClr val="lt1"/>
                </a:solidFill>
                <a:latin typeface="Arial"/>
                <a:ea typeface="Arial"/>
                <a:cs typeface="Arial"/>
                <a:sym typeface="Arial"/>
              </a:rPr>
              <a:t>Entregable N°4 </a:t>
            </a:r>
            <a:endParaRPr b="1" i="0" sz="4400" u="none" cap="none" strike="noStrike">
              <a:solidFill>
                <a:schemeClr val="lt1"/>
              </a:solidFill>
              <a:latin typeface="Arial"/>
              <a:ea typeface="Arial"/>
              <a:cs typeface="Arial"/>
              <a:sym typeface="Arial"/>
            </a:endParaRPr>
          </a:p>
          <a:p>
            <a:pPr indent="0" lvl="0" marL="0" marR="0" rtl="0" algn="ctr">
              <a:lnSpc>
                <a:spcPct val="100000"/>
              </a:lnSpc>
              <a:spcBef>
                <a:spcPts val="0"/>
              </a:spcBef>
              <a:spcAft>
                <a:spcPts val="0"/>
              </a:spcAft>
              <a:buClr>
                <a:schemeClr val="lt1"/>
              </a:buClr>
              <a:buSzPts val="6000"/>
              <a:buFont typeface="Work Sans"/>
              <a:buNone/>
            </a:pPr>
            <a:r>
              <a:rPr b="1" i="0" lang="es-CO" sz="4400" u="none" cap="none" strike="noStrike">
                <a:solidFill>
                  <a:schemeClr val="lt1"/>
                </a:solidFill>
                <a:latin typeface="Arial"/>
                <a:ea typeface="Arial"/>
                <a:cs typeface="Arial"/>
                <a:sym typeface="Arial"/>
              </a:rPr>
              <a:t>Requerimientos Funcionales y No Funcionales</a:t>
            </a:r>
            <a:endParaRPr b="1" i="0" sz="4400" u="none" cap="none" strike="noStrike">
              <a:solidFill>
                <a:schemeClr val="lt1"/>
              </a:solidFill>
              <a:latin typeface="Arial"/>
              <a:ea typeface="Arial"/>
              <a:cs typeface="Arial"/>
              <a:sym typeface="Arial"/>
            </a:endParaRPr>
          </a:p>
        </p:txBody>
      </p:sp>
      <p:cxnSp>
        <p:nvCxnSpPr>
          <p:cNvPr id="276" name="Google Shape;276;p21"/>
          <p:cNvCxnSpPr/>
          <p:nvPr/>
        </p:nvCxnSpPr>
        <p:spPr>
          <a:xfrm>
            <a:off x="1983725" y="4152450"/>
            <a:ext cx="8896200" cy="38400"/>
          </a:xfrm>
          <a:prstGeom prst="straightConnector1">
            <a:avLst/>
          </a:prstGeom>
          <a:noFill/>
          <a:ln cap="flat" cmpd="sng" w="12700">
            <a:solidFill>
              <a:schemeClr val="lt1"/>
            </a:solidFill>
            <a:prstDash val="solid"/>
            <a:miter lim="800000"/>
            <a:headEnd len="sm" w="sm" type="none"/>
            <a:tailEnd len="sm" w="sm" type="none"/>
          </a:ln>
        </p:spPr>
      </p:cxn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80" name="Shape 280"/>
        <p:cNvGrpSpPr/>
        <p:nvPr/>
      </p:nvGrpSpPr>
      <p:grpSpPr>
        <a:xfrm>
          <a:off x="0" y="0"/>
          <a:ext cx="0" cy="0"/>
          <a:chOff x="0" y="0"/>
          <a:chExt cx="0" cy="0"/>
        </a:xfrm>
      </p:grpSpPr>
      <p:sp>
        <p:nvSpPr>
          <p:cNvPr id="281" name="Google Shape;281;p22"/>
          <p:cNvSpPr txBox="1"/>
          <p:nvPr/>
        </p:nvSpPr>
        <p:spPr>
          <a:xfrm>
            <a:off x="419350" y="296875"/>
            <a:ext cx="11183400" cy="5802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rgbClr val="38AA00"/>
              </a:buClr>
              <a:buSzPts val="3600"/>
              <a:buFont typeface="Work Sans"/>
              <a:buNone/>
            </a:pPr>
            <a:r>
              <a:rPr b="1" i="0" lang="es-CO" sz="3300" u="none" cap="none" strike="noStrike">
                <a:solidFill>
                  <a:srgbClr val="38AA00"/>
                </a:solidFill>
                <a:latin typeface="Work Sans"/>
                <a:ea typeface="Work Sans"/>
                <a:cs typeface="Work Sans"/>
                <a:sym typeface="Work Sans"/>
              </a:rPr>
              <a:t>Requerimientos Funcionales y No Funcionales</a:t>
            </a:r>
            <a:endParaRPr b="1" i="0" sz="3300" u="none" cap="none" strike="noStrike">
              <a:solidFill>
                <a:srgbClr val="38AA00"/>
              </a:solidFill>
              <a:latin typeface="Work Sans"/>
              <a:ea typeface="Work Sans"/>
              <a:cs typeface="Work Sans"/>
              <a:sym typeface="Work Sans"/>
            </a:endParaRPr>
          </a:p>
        </p:txBody>
      </p:sp>
      <p:sp>
        <p:nvSpPr>
          <p:cNvPr id="282" name="Google Shape;282;p22"/>
          <p:cNvSpPr txBox="1"/>
          <p:nvPr/>
        </p:nvSpPr>
        <p:spPr>
          <a:xfrm>
            <a:off x="156900" y="1640675"/>
            <a:ext cx="11878200" cy="51618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1400"/>
              </a:spcBef>
              <a:spcAft>
                <a:spcPts val="0"/>
              </a:spcAft>
              <a:buClr>
                <a:srgbClr val="000000"/>
              </a:buClr>
              <a:buSzPts val="1400"/>
              <a:buFont typeface="Arial"/>
              <a:buNone/>
            </a:pPr>
            <a:r>
              <a:t/>
            </a:r>
            <a:endParaRPr b="0" i="0" sz="1400" u="none" cap="none" strike="noStrike">
              <a:solidFill>
                <a:schemeClr val="dk1"/>
              </a:solidFill>
              <a:latin typeface="Arial"/>
              <a:ea typeface="Arial"/>
              <a:cs typeface="Arial"/>
              <a:sym typeface="Arial"/>
            </a:endParaRPr>
          </a:p>
          <a:p>
            <a:pPr indent="0" lvl="0" marL="0" marR="0" rtl="0" algn="l">
              <a:lnSpc>
                <a:spcPct val="107000"/>
              </a:lnSpc>
              <a:spcBef>
                <a:spcPts val="400"/>
              </a:spcBef>
              <a:spcAft>
                <a:spcPts val="0"/>
              </a:spcAft>
              <a:buClr>
                <a:srgbClr val="000000"/>
              </a:buClr>
              <a:buSzPts val="1400"/>
              <a:buFont typeface="Arial"/>
              <a:buNone/>
            </a:pPr>
            <a:r>
              <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1400"/>
              <a:buFont typeface="Arial"/>
              <a:buNone/>
            </a:pPr>
            <a:br>
              <a:rPr b="0" i="0" lang="es-CO" sz="1400" u="none" cap="none" strike="noStrike">
                <a:solidFill>
                  <a:schemeClr val="dk1"/>
                </a:solidFill>
                <a:latin typeface="Arial"/>
                <a:ea typeface="Arial"/>
                <a:cs typeface="Arial"/>
                <a:sym typeface="Arial"/>
              </a:rPr>
            </a:br>
            <a:br>
              <a:rPr b="0" i="0" lang="es-CO" sz="1200" u="none" cap="none" strike="noStrike">
                <a:solidFill>
                  <a:schemeClr val="dk1"/>
                </a:solidFill>
                <a:latin typeface="Arial"/>
                <a:ea typeface="Arial"/>
                <a:cs typeface="Arial"/>
                <a:sym typeface="Arial"/>
              </a:rPr>
            </a:br>
            <a:endParaRPr b="0" i="0" sz="1200" u="none" cap="none" strike="noStrike">
              <a:solidFill>
                <a:schemeClr val="dk1"/>
              </a:solidFill>
              <a:latin typeface="Arial"/>
              <a:ea typeface="Arial"/>
              <a:cs typeface="Arial"/>
              <a:sym typeface="Arial"/>
            </a:endParaRPr>
          </a:p>
          <a:p>
            <a:pPr indent="0" lvl="0" marL="0" marR="0" rtl="0" algn="just">
              <a:lnSpc>
                <a:spcPct val="100000"/>
              </a:lnSpc>
              <a:spcBef>
                <a:spcPts val="780"/>
              </a:spcBef>
              <a:spcAft>
                <a:spcPts val="0"/>
              </a:spcAft>
              <a:buClr>
                <a:srgbClr val="000000"/>
              </a:buClr>
              <a:buSzPts val="1100"/>
              <a:buFont typeface="Arial"/>
              <a:buNone/>
            </a:pPr>
            <a:r>
              <a:t/>
            </a:r>
            <a:endParaRPr b="1" i="0" sz="1100" u="none" cap="none" strike="noStrike">
              <a:solidFill>
                <a:srgbClr val="000000"/>
              </a:solidFill>
              <a:latin typeface="Arial"/>
              <a:ea typeface="Arial"/>
              <a:cs typeface="Arial"/>
              <a:sym typeface="Arial"/>
            </a:endParaRPr>
          </a:p>
          <a:p>
            <a:pPr indent="0" lvl="0" marL="0" marR="0" rtl="0" algn="just">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chemeClr val="dk1"/>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endParaRPr b="0" i="0" sz="1700" u="none" cap="none" strike="noStrike">
              <a:solidFill>
                <a:srgbClr val="000000"/>
              </a:solidFill>
              <a:latin typeface="Calibri"/>
              <a:ea typeface="Calibri"/>
              <a:cs typeface="Calibri"/>
              <a:sym typeface="Calibri"/>
            </a:endParaRPr>
          </a:p>
          <a:p>
            <a:pPr indent="0" lvl="0" marL="0" marR="0" rtl="0" algn="l">
              <a:lnSpc>
                <a:spcPct val="100000"/>
              </a:lnSpc>
              <a:spcBef>
                <a:spcPts val="780"/>
              </a:spcBef>
              <a:spcAft>
                <a:spcPts val="0"/>
              </a:spcAft>
              <a:buClr>
                <a:srgbClr val="000000"/>
              </a:buClr>
              <a:buSzPts val="1700"/>
              <a:buFont typeface="Arial"/>
              <a:buNone/>
            </a:pP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7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endParaRPr b="0" i="0" sz="24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400"/>
              <a:buFont typeface="Arial"/>
              <a:buNone/>
            </a:pPr>
            <a:br>
              <a:rPr b="0" i="0" lang="es-CO" sz="2400" u="none" cap="none" strike="noStrike">
                <a:solidFill>
                  <a:srgbClr val="000000"/>
                </a:solidFill>
                <a:latin typeface="Arial"/>
                <a:ea typeface="Arial"/>
                <a:cs typeface="Arial"/>
                <a:sym typeface="Arial"/>
              </a:rPr>
            </a:br>
            <a:br>
              <a:rPr b="0" i="0" lang="es-CO" sz="1800" u="none" cap="none" strike="noStrike">
                <a:solidFill>
                  <a:srgbClr val="000000"/>
                </a:solidFill>
                <a:latin typeface="Calibri"/>
                <a:ea typeface="Calibri"/>
                <a:cs typeface="Calibri"/>
                <a:sym typeface="Calibri"/>
              </a:rPr>
            </a:br>
            <a:br>
              <a:rPr b="0" i="0" lang="es-CO" sz="1800" u="none" cap="none" strike="noStrike">
                <a:solidFill>
                  <a:srgbClr val="000000"/>
                </a:solidFill>
                <a:latin typeface="Calibri"/>
                <a:ea typeface="Calibri"/>
                <a:cs typeface="Calibri"/>
                <a:sym typeface="Calibri"/>
              </a:rPr>
            </a:br>
            <a:br>
              <a:rPr b="0" i="0" lang="es-CO" sz="2100" u="none" cap="none" strike="noStrike">
                <a:solidFill>
                  <a:schemeClr val="dk1"/>
                </a:solidFill>
                <a:latin typeface="Calibri"/>
                <a:ea typeface="Calibri"/>
                <a:cs typeface="Calibri"/>
                <a:sym typeface="Calibri"/>
              </a:rPr>
            </a:br>
            <a:endParaRPr b="0" i="0" sz="2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100"/>
              <a:buFont typeface="Arial"/>
              <a:buNone/>
            </a:pPr>
            <a:r>
              <a:t/>
            </a:r>
            <a:endParaRPr b="0" i="0" sz="2100" u="none" cap="none" strike="noStrike">
              <a:solidFill>
                <a:schemeClr val="dk1"/>
              </a:solidFill>
              <a:latin typeface="Calibri"/>
              <a:ea typeface="Calibri"/>
              <a:cs typeface="Calibri"/>
              <a:sym typeface="Calibri"/>
            </a:endParaRPr>
          </a:p>
        </p:txBody>
      </p:sp>
      <p:cxnSp>
        <p:nvCxnSpPr>
          <p:cNvPr id="283" name="Google Shape;283;p22"/>
          <p:cNvCxnSpPr/>
          <p:nvPr/>
        </p:nvCxnSpPr>
        <p:spPr>
          <a:xfrm flipH="1" rot="10800000">
            <a:off x="419346" y="910668"/>
            <a:ext cx="9896100" cy="33900"/>
          </a:xfrm>
          <a:prstGeom prst="straightConnector1">
            <a:avLst/>
          </a:prstGeom>
          <a:noFill/>
          <a:ln cap="flat" cmpd="sng" w="12700">
            <a:solidFill>
              <a:srgbClr val="4D4D4C"/>
            </a:solidFill>
            <a:prstDash val="solid"/>
            <a:miter lim="800000"/>
            <a:headEnd len="sm" w="sm" type="none"/>
            <a:tailEnd len="sm" w="sm" type="none"/>
          </a:ln>
        </p:spPr>
      </p:cxnSp>
      <p:sp>
        <p:nvSpPr>
          <p:cNvPr id="284" name="Google Shape;284;p22"/>
          <p:cNvSpPr txBox="1"/>
          <p:nvPr/>
        </p:nvSpPr>
        <p:spPr>
          <a:xfrm>
            <a:off x="11580534" y="6106250"/>
            <a:ext cx="5037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0" i="0" lang="es-CO" sz="2400" u="none" cap="none" strike="noStrike">
                <a:solidFill>
                  <a:srgbClr val="000000"/>
                </a:solidFill>
                <a:latin typeface="Calibri"/>
                <a:ea typeface="Calibri"/>
                <a:cs typeface="Calibri"/>
                <a:sym typeface="Calibri"/>
              </a:rPr>
              <a:t>19</a:t>
            </a:r>
            <a:endParaRPr b="0" i="0" sz="1400" u="none" cap="none" strike="noStrike">
              <a:solidFill>
                <a:srgbClr val="000000"/>
              </a:solidFill>
              <a:latin typeface="Arial"/>
              <a:ea typeface="Arial"/>
              <a:cs typeface="Arial"/>
              <a:sym typeface="Arial"/>
            </a:endParaRPr>
          </a:p>
        </p:txBody>
      </p:sp>
      <p:pic>
        <p:nvPicPr>
          <p:cNvPr id="285" name="Google Shape;285;p22"/>
          <p:cNvPicPr preferRelativeResize="0"/>
          <p:nvPr/>
        </p:nvPicPr>
        <p:blipFill rotWithShape="1">
          <a:blip r:embed="rId4">
            <a:alphaModFix/>
          </a:blip>
          <a:srcRect b="9656" l="5072" r="6243" t="0"/>
          <a:stretch/>
        </p:blipFill>
        <p:spPr>
          <a:xfrm>
            <a:off x="319800" y="1087500"/>
            <a:ext cx="4926551" cy="5018749"/>
          </a:xfrm>
          <a:prstGeom prst="rect">
            <a:avLst/>
          </a:prstGeom>
          <a:noFill/>
          <a:ln>
            <a:noFill/>
          </a:ln>
        </p:spPr>
      </p:pic>
      <p:pic>
        <p:nvPicPr>
          <p:cNvPr id="286" name="Google Shape;286;p22"/>
          <p:cNvPicPr preferRelativeResize="0"/>
          <p:nvPr/>
        </p:nvPicPr>
        <p:blipFill rotWithShape="1">
          <a:blip r:embed="rId5">
            <a:alphaModFix/>
          </a:blip>
          <a:srcRect b="0" l="0" r="0" t="0"/>
          <a:stretch/>
        </p:blipFill>
        <p:spPr>
          <a:xfrm>
            <a:off x="5817100" y="1410350"/>
            <a:ext cx="6055999" cy="403732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290" name="Shape 290"/>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