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6858000" cx="12192000"/>
  <p:notesSz cx="6858000" cy="9144000"/>
  <p:embeddedFontLst>
    <p:embeddedFont>
      <p:font typeface="Work Sans"/>
      <p:regular r:id="rId28"/>
      <p:bold r:id="rId29"/>
      <p:italic r:id="rId30"/>
      <p:boldItalic r:id="rId31"/>
    </p:embeddedFont>
    <p:embeddedFont>
      <p:font typeface="Work Sans Light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36" roundtripDataSignature="AMtx7mh08sUcyXQSsfvixf9lKpXsoYyK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WorkSans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Work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WorkSans-boldItalic.fntdata"/><Relationship Id="rId30" Type="http://schemas.openxmlformats.org/officeDocument/2006/relationships/font" Target="fonts/WorkSans-italic.fntdata"/><Relationship Id="rId11" Type="http://schemas.openxmlformats.org/officeDocument/2006/relationships/slide" Target="slides/slide6.xml"/><Relationship Id="rId33" Type="http://schemas.openxmlformats.org/officeDocument/2006/relationships/font" Target="fonts/WorkSansLight-bold.fntdata"/><Relationship Id="rId10" Type="http://schemas.openxmlformats.org/officeDocument/2006/relationships/slide" Target="slides/slide5.xml"/><Relationship Id="rId32" Type="http://schemas.openxmlformats.org/officeDocument/2006/relationships/font" Target="fonts/WorkSansLight-regular.fntdata"/><Relationship Id="rId13" Type="http://schemas.openxmlformats.org/officeDocument/2006/relationships/slide" Target="slides/slide8.xml"/><Relationship Id="rId35" Type="http://schemas.openxmlformats.org/officeDocument/2006/relationships/font" Target="fonts/WorkSansLight-boldItalic.fntdata"/><Relationship Id="rId12" Type="http://schemas.openxmlformats.org/officeDocument/2006/relationships/slide" Target="slides/slide7.xml"/><Relationship Id="rId34" Type="http://schemas.openxmlformats.org/officeDocument/2006/relationships/font" Target="fonts/WorkSansLight-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customschemas.google.com/relationships/presentationmetadata" Target="meta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6" name="Google Shape;13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3" name="Google Shape;17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7" name="Google Shape;19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9439f1cb08_5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5" name="Google Shape;215;g39439f1cb08_5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4" name="Google Shape;22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0" name="Google Shape;23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1" name="Google Shape;241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9" name="Google Shape;25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9" name="Google Shape;269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Relationship Id="rId4" Type="http://schemas.openxmlformats.org/officeDocument/2006/relationships/image" Target="../media/image3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pn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7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Relationship Id="rId4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Relationship Id="rId4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Relationship Id="rId4" Type="http://schemas.openxmlformats.org/officeDocument/2006/relationships/image" Target="../media/image18.png"/><Relationship Id="rId5" Type="http://schemas.openxmlformats.org/officeDocument/2006/relationships/image" Target="../media/image2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946700" y="1909950"/>
            <a:ext cx="7245900" cy="3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2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Sistema de información</a:t>
            </a:r>
            <a:endParaRPr b="1" i="0" sz="52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2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CheerClick Systems</a:t>
            </a:r>
            <a:endParaRPr b="1" i="0" sz="52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t/>
            </a:r>
            <a:endParaRPr b="1" i="0" sz="5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03875" y="4220151"/>
            <a:ext cx="1419425" cy="163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/>
        </p:nvSpPr>
        <p:spPr>
          <a:xfrm>
            <a:off x="3443550" y="2169125"/>
            <a:ext cx="53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APRENDICES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0" name="Google Shape;100;p2"/>
          <p:cNvCxnSpPr/>
          <p:nvPr/>
        </p:nvCxnSpPr>
        <p:spPr>
          <a:xfrm>
            <a:off x="4972228" y="3324314"/>
            <a:ext cx="2247544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1" name="Google Shape;101;p2"/>
          <p:cNvSpPr txBox="1"/>
          <p:nvPr/>
        </p:nvSpPr>
        <p:spPr>
          <a:xfrm>
            <a:off x="4168816" y="3463724"/>
            <a:ext cx="38544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       Juan Sebastian Serrano Luis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Leonardo Jara Molina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Karen Tatiana Martínez González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Amy Lee Aroca Español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ADSO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/>
        </p:nvSpPr>
        <p:spPr>
          <a:xfrm>
            <a:off x="636850" y="546825"/>
            <a:ext cx="6640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36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Tabla de Contenido</a:t>
            </a:r>
            <a:endParaRPr b="1" i="0" sz="36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7" name="Google Shape;107;p3"/>
          <p:cNvCxnSpPr/>
          <p:nvPr/>
        </p:nvCxnSpPr>
        <p:spPr>
          <a:xfrm flipH="1" rot="10800000">
            <a:off x="636853" y="1333364"/>
            <a:ext cx="6564000" cy="570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8" name="Google Shape;108;p3"/>
          <p:cNvSpPr txBox="1"/>
          <p:nvPr/>
        </p:nvSpPr>
        <p:spPr>
          <a:xfrm>
            <a:off x="636850" y="2110625"/>
            <a:ext cx="60750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Planteamiento del Problema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Justificación           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Pregunta Problema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Módulos y Roles                                                      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Objetivo General   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Objetivos Específicos                                               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Delimitación y Alcance                                             </a:t>
            </a:r>
            <a:r>
              <a:rPr b="1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Diagramas de procesos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Recolección de datos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Requerimientos Funcionales y No funcionales                                                          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59752" y="1556417"/>
            <a:ext cx="3971309" cy="397130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6171900" y="2110625"/>
            <a:ext cx="12510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"/>
          <p:cNvSpPr/>
          <p:nvPr/>
        </p:nvSpPr>
        <p:spPr>
          <a:xfrm>
            <a:off x="3423628" y="3954050"/>
            <a:ext cx="5344743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2288450" y="2644050"/>
            <a:ext cx="79347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N°1 Formulación del proyecto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" name="Google Shape;117;p4"/>
          <p:cNvCxnSpPr/>
          <p:nvPr/>
        </p:nvCxnSpPr>
        <p:spPr>
          <a:xfrm>
            <a:off x="2493500" y="4175550"/>
            <a:ext cx="75246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 txBox="1"/>
          <p:nvPr/>
        </p:nvSpPr>
        <p:spPr>
          <a:xfrm>
            <a:off x="456236" y="416690"/>
            <a:ext cx="98157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767000" y="1794475"/>
            <a:ext cx="7574700" cy="4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Club Deportivo “Blood Tigers Cheers” (Bosa Centro) es un equipo de competición de cheerleading que combina gimnasia, danza y porrismo. Su enfoque está en la velocidad y la conexión fluida de elementos acrobáticos. Utiliza una técnica por niveles para asegurar el fortalecimiento y el cuidado del cuerpo, buscando la excelencia en la ejecución de cada deportista.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Actualmente, el club presenta dificultades debido a la gestión manual y poco eficiente de actividades clave. Esto incluye los procesos de Inscripción, coordinación de horarios</a:t>
            </a:r>
            <a:r>
              <a:rPr lang="es-CO" sz="1800">
                <a:solidFill>
                  <a:schemeClr val="dk1"/>
                </a:solidFill>
              </a:rPr>
              <a:t> </a:t>
            </a: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 monitoreo del rendimiento. Adicionalmente, la ausencia de un canal formal de PQRS genera una comunicación ineficiente para los atletas, padres y la institución.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Google Shape;12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74575" y="2694513"/>
            <a:ext cx="2366026" cy="236602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5"/>
          <p:cNvSpPr txBox="1"/>
          <p:nvPr/>
        </p:nvSpPr>
        <p:spPr>
          <a:xfrm>
            <a:off x="11580535" y="6106250"/>
            <a:ext cx="617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 txBox="1"/>
          <p:nvPr/>
        </p:nvSpPr>
        <p:spPr>
          <a:xfrm>
            <a:off x="456236" y="416690"/>
            <a:ext cx="9815809" cy="5278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 txBox="1"/>
          <p:nvPr/>
        </p:nvSpPr>
        <p:spPr>
          <a:xfrm>
            <a:off x="661550" y="1580100"/>
            <a:ext cx="7413300" cy="46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análisis del Club "Blood Tigers Cheers" identificó falencias en procesos clave como Inscripción, calificación del rendimiento, organización de horarios</a:t>
            </a:r>
            <a:r>
              <a:rPr lang="es-CO" sz="1800">
                <a:solidFill>
                  <a:schemeClr val="dk1"/>
                </a:solidFill>
              </a:rPr>
              <a:t> </a:t>
            </a: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 PQRS. La causa de estas dificultades es que la gestión se realiza de forma manual, lo que genera confusiones e ineficiencia en todos los procedimientos.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 mejorar la calidad de los servicios y fortalecer la administración interna, es fundamental desarrollar un sistema que optimice los procesos manuales. Este sistema garantizará un control confiable al ofrecer información clara y veraz a directivos, entrenadores y deportistas, logrando agilizar el funcionamiento general del club y continuar motivando la formación deportiva integral.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11580535" y="6106250"/>
            <a:ext cx="35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09550" y="2115813"/>
            <a:ext cx="2670975" cy="334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"/>
          <p:cNvSpPr txBox="1"/>
          <p:nvPr/>
        </p:nvSpPr>
        <p:spPr>
          <a:xfrm>
            <a:off x="731976" y="1549922"/>
            <a:ext cx="27237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Pregunta 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Problema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9" name="Google Shape;139;p7"/>
          <p:cNvSpPr txBox="1"/>
          <p:nvPr/>
        </p:nvSpPr>
        <p:spPr>
          <a:xfrm>
            <a:off x="554175" y="2969626"/>
            <a:ext cx="53895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¿De qué manera se pueden optimizar todos lo procesos de Inscripción, planificación de horarios, PQRS y un sistema de calificación dependiendo del rendimiento de los atletas que se encuentran dentro del club deportivo (Blood Tigers Cheers)?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7"/>
          <p:cNvCxnSpPr/>
          <p:nvPr/>
        </p:nvCxnSpPr>
        <p:spPr>
          <a:xfrm flipH="1" rot="10800000">
            <a:off x="731968" y="2691945"/>
            <a:ext cx="3338400" cy="243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1" name="Google Shape;1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43675" y="1229603"/>
            <a:ext cx="5715000" cy="4714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7"/>
          <p:cNvSpPr txBox="1"/>
          <p:nvPr/>
        </p:nvSpPr>
        <p:spPr>
          <a:xfrm>
            <a:off x="11580535" y="6106250"/>
            <a:ext cx="35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 txBox="1"/>
          <p:nvPr/>
        </p:nvSpPr>
        <p:spPr>
          <a:xfrm>
            <a:off x="774586" y="296887"/>
            <a:ext cx="98157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Módulos y Roles</a:t>
            </a:r>
            <a:endParaRPr b="0" i="0" sz="1400" u="none" cap="none" strike="noStrike">
              <a:solidFill>
                <a:srgbClr val="38AA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9618925" y="4212950"/>
            <a:ext cx="3763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600" u="none" cap="none" strike="noStrike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cxnSp>
        <p:nvCxnSpPr>
          <p:cNvPr id="149" name="Google Shape;149;p8"/>
          <p:cNvCxnSpPr/>
          <p:nvPr/>
        </p:nvCxnSpPr>
        <p:spPr>
          <a:xfrm>
            <a:off x="825911" y="823297"/>
            <a:ext cx="38457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0" name="Google Shape;150;p8"/>
          <p:cNvSpPr txBox="1"/>
          <p:nvPr/>
        </p:nvSpPr>
        <p:spPr>
          <a:xfrm>
            <a:off x="11580535" y="6106250"/>
            <a:ext cx="35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8" title="ROLES - visual selection.png"/>
          <p:cNvPicPr preferRelativeResize="0"/>
          <p:nvPr/>
        </p:nvPicPr>
        <p:blipFill rotWithShape="1">
          <a:blip r:embed="rId4">
            <a:alphaModFix/>
          </a:blip>
          <a:srcRect b="8013" l="0" r="0" t="7439"/>
          <a:stretch/>
        </p:blipFill>
        <p:spPr>
          <a:xfrm>
            <a:off x="6707562" y="1253405"/>
            <a:ext cx="3262950" cy="5009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8" title="MÓDULOS - visual selection (2).png"/>
          <p:cNvPicPr preferRelativeResize="0"/>
          <p:nvPr/>
        </p:nvPicPr>
        <p:blipFill rotWithShape="1">
          <a:blip r:embed="rId5">
            <a:alphaModFix/>
          </a:blip>
          <a:srcRect b="8836" l="6757" r="7144" t="16075"/>
          <a:stretch/>
        </p:blipFill>
        <p:spPr>
          <a:xfrm>
            <a:off x="872575" y="1294225"/>
            <a:ext cx="4224975" cy="4927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"/>
          <p:cNvSpPr txBox="1"/>
          <p:nvPr/>
        </p:nvSpPr>
        <p:spPr>
          <a:xfrm>
            <a:off x="932354" y="381002"/>
            <a:ext cx="98157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b="0" i="0" sz="1400" u="none" cap="none" strike="noStrike">
              <a:solidFill>
                <a:srgbClr val="38AA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1008200" y="2024025"/>
            <a:ext cx="5657700" cy="3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t/>
            </a:r>
            <a:endParaRPr b="1" i="0" sz="1900" u="sng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Desarrollar un sistema de información (Web y Móvil) para el club deportivo “Blood Tigers Cheers” que permitirá hacer más eficaces todos los procesos relacionados con inscripciones,</a:t>
            </a:r>
            <a:r>
              <a:rPr lang="es-CO" sz="1800">
                <a:solidFill>
                  <a:schemeClr val="dk1"/>
                </a:solidFill>
              </a:rPr>
              <a:t> </a:t>
            </a: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gestión de horario (clases, eventos y etc), PQRS y un sistema de calificación, evaluando el rendimiento de los atletas. Con el fin de hacer mucho más eficiente el desarrollo de estas tareas.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1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11580535" y="6106250"/>
            <a:ext cx="350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0" name="Google Shape;160;p9"/>
          <p:cNvCxnSpPr/>
          <p:nvPr/>
        </p:nvCxnSpPr>
        <p:spPr>
          <a:xfrm flipH="1" rot="10800000">
            <a:off x="1012949" y="1047872"/>
            <a:ext cx="5019000" cy="96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1" name="Google Shape;16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09325" y="1983352"/>
            <a:ext cx="5221301" cy="3820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/>
          <p:nvPr/>
        </p:nvSpPr>
        <p:spPr>
          <a:xfrm>
            <a:off x="311614" y="355577"/>
            <a:ext cx="98157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b="0" i="0" sz="1400" u="none" cap="none" strike="noStrike">
              <a:solidFill>
                <a:srgbClr val="38AA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11580521" y="6106250"/>
            <a:ext cx="50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p10"/>
          <p:cNvPicPr preferRelativeResize="0"/>
          <p:nvPr/>
        </p:nvPicPr>
        <p:blipFill rotWithShape="1">
          <a:blip r:embed="rId4">
            <a:alphaModFix/>
          </a:blip>
          <a:srcRect b="0" l="23925" r="0" t="0"/>
          <a:stretch/>
        </p:blipFill>
        <p:spPr>
          <a:xfrm>
            <a:off x="1675199" y="1024475"/>
            <a:ext cx="8212152" cy="5608424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0"/>
          <p:cNvSpPr/>
          <p:nvPr/>
        </p:nvSpPr>
        <p:spPr>
          <a:xfrm>
            <a:off x="9556513" y="6041300"/>
            <a:ext cx="1535400" cy="591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0" name="Google Shape;170;p10"/>
          <p:cNvCxnSpPr/>
          <p:nvPr/>
        </p:nvCxnSpPr>
        <p:spPr>
          <a:xfrm flipH="1" rot="10800000">
            <a:off x="382324" y="988747"/>
            <a:ext cx="5019000" cy="96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1"/>
          <p:cNvSpPr txBox="1"/>
          <p:nvPr/>
        </p:nvSpPr>
        <p:spPr>
          <a:xfrm>
            <a:off x="823449" y="296875"/>
            <a:ext cx="30528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Delimitación y alcance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76" name="Google Shape;176;p11"/>
          <p:cNvSpPr txBox="1"/>
          <p:nvPr/>
        </p:nvSpPr>
        <p:spPr>
          <a:xfrm>
            <a:off x="743775" y="1848225"/>
            <a:ext cx="6529500" cy="38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sistema será desarrollado para el club deportivo “Blood Tigers Cheers” en un periodo estimado de 21 meses (equivalente a 7 trimestres), tiempo en el cual se desarrollará un sistema capaz de optimizar los principales procedimientos, que permitan gestionar el proceso de inscripción, gestión de los horarios, de entrenamiento,</a:t>
            </a:r>
            <a:r>
              <a:rPr lang="es-CO" sz="1800">
                <a:solidFill>
                  <a:schemeClr val="dk1"/>
                </a:solidFill>
              </a:rPr>
              <a:t> </a:t>
            </a:r>
            <a:r>
              <a:rPr b="0" i="0" lang="es-CO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administrar de manera organizada los PQRS y evaluar el rendimiento deportivo de los atletas a través de un sistema de calificación bien estructurado.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s-CO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7" name="Google Shape;177;p11"/>
          <p:cNvCxnSpPr/>
          <p:nvPr/>
        </p:nvCxnSpPr>
        <p:spPr>
          <a:xfrm flipH="1" rot="10800000">
            <a:off x="823449" y="1398655"/>
            <a:ext cx="3338400" cy="243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8" name="Google Shape;17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29500" y="1867450"/>
            <a:ext cx="3123100" cy="312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1"/>
          <p:cNvSpPr txBox="1"/>
          <p:nvPr/>
        </p:nvSpPr>
        <p:spPr>
          <a:xfrm>
            <a:off x="11341318" y="6106250"/>
            <a:ext cx="58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 txBox="1"/>
          <p:nvPr/>
        </p:nvSpPr>
        <p:spPr>
          <a:xfrm>
            <a:off x="2693025" y="2644050"/>
            <a:ext cx="7054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 2 Diagrama de Procesos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5" name="Google Shape;185;p12"/>
          <p:cNvCxnSpPr/>
          <p:nvPr/>
        </p:nvCxnSpPr>
        <p:spPr>
          <a:xfrm>
            <a:off x="2458125" y="4239975"/>
            <a:ext cx="75246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"/>
          <p:cNvSpPr txBox="1"/>
          <p:nvPr/>
        </p:nvSpPr>
        <p:spPr>
          <a:xfrm>
            <a:off x="828875" y="529250"/>
            <a:ext cx="99336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proceso - Gestión de horarios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91" name="Google Shape;191;p13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2" name="Google Shape;192;p13"/>
          <p:cNvCxnSpPr>
            <a:stCxn id="190" idx="1"/>
            <a:endCxn id="190" idx="3"/>
          </p:cNvCxnSpPr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3" name="Google Shape;1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5800" y="1385175"/>
            <a:ext cx="8836064" cy="511867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3"/>
          <p:cNvSpPr txBox="1"/>
          <p:nvPr/>
        </p:nvSpPr>
        <p:spPr>
          <a:xfrm>
            <a:off x="11354144" y="6106250"/>
            <a:ext cx="57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"/>
          <p:cNvSpPr txBox="1"/>
          <p:nvPr/>
        </p:nvSpPr>
        <p:spPr>
          <a:xfrm>
            <a:off x="828875" y="529250"/>
            <a:ext cx="99336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3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proceso – Calificación de Atletas</a:t>
            </a:r>
            <a:endParaRPr b="1" i="0" sz="33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t/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00" name="Google Shape;200;p15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p15"/>
          <p:cNvCxnSpPr>
            <a:stCxn id="199" idx="1"/>
            <a:endCxn id="199" idx="3"/>
          </p:cNvCxnSpPr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2" name="Google Shape;202;p15"/>
          <p:cNvSpPr txBox="1"/>
          <p:nvPr/>
        </p:nvSpPr>
        <p:spPr>
          <a:xfrm>
            <a:off x="11580534" y="6106250"/>
            <a:ext cx="503613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400" y="1300975"/>
            <a:ext cx="10812027" cy="516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"/>
          <p:cNvSpPr txBox="1"/>
          <p:nvPr/>
        </p:nvSpPr>
        <p:spPr>
          <a:xfrm>
            <a:off x="828875" y="529250"/>
            <a:ext cx="99336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proceso – Inscripciones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t/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09" name="Google Shape;209;p16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p16"/>
          <p:cNvCxnSpPr>
            <a:stCxn id="208" idx="1"/>
            <a:endCxn id="208" idx="3"/>
          </p:cNvCxnSpPr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1" name="Google Shape;211;p16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2" name="Google Shape;21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0350" y="1563900"/>
            <a:ext cx="10751652" cy="45423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439f1cb08_5_1"/>
          <p:cNvSpPr txBox="1"/>
          <p:nvPr/>
        </p:nvSpPr>
        <p:spPr>
          <a:xfrm>
            <a:off x="828875" y="529250"/>
            <a:ext cx="99336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proceso – PQRS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t/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18" name="Google Shape;218;g39439f1cb08_5_1"/>
          <p:cNvSpPr txBox="1"/>
          <p:nvPr/>
        </p:nvSpPr>
        <p:spPr>
          <a:xfrm>
            <a:off x="354975" y="2470350"/>
            <a:ext cx="66879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g39439f1cb08_5_1"/>
          <p:cNvCxnSpPr>
            <a:stCxn id="217" idx="1"/>
            <a:endCxn id="217" idx="3"/>
          </p:cNvCxnSpPr>
          <p:nvPr/>
        </p:nvCxnSpPr>
        <p:spPr>
          <a:xfrm>
            <a:off x="828875" y="1220000"/>
            <a:ext cx="9933600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0" name="Google Shape;220;g39439f1cb08_5_1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1" name="Google Shape;221;g39439f1cb08_5_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1350" y="1497125"/>
            <a:ext cx="11484247" cy="45182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7"/>
          <p:cNvSpPr txBox="1"/>
          <p:nvPr/>
        </p:nvSpPr>
        <p:spPr>
          <a:xfrm>
            <a:off x="1203451" y="2644049"/>
            <a:ext cx="97851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 3 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Técnica de recolección de datos</a:t>
            </a:r>
            <a:endParaRPr b="1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7" name="Google Shape;227;p17"/>
          <p:cNvCxnSpPr/>
          <p:nvPr/>
        </p:nvCxnSpPr>
        <p:spPr>
          <a:xfrm>
            <a:off x="2486575" y="4439200"/>
            <a:ext cx="75246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9"/>
          <p:cNvSpPr txBox="1"/>
          <p:nvPr/>
        </p:nvSpPr>
        <p:spPr>
          <a:xfrm>
            <a:off x="347346" y="123979"/>
            <a:ext cx="820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PQRS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39750" y="1013425"/>
            <a:ext cx="12112500" cy="78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br>
              <a:rPr b="0" i="0" lang="es-CO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4" name="Google Shape;234;p19"/>
          <p:cNvCxnSpPr/>
          <p:nvPr/>
        </p:nvCxnSpPr>
        <p:spPr>
          <a:xfrm>
            <a:off x="366021" y="813368"/>
            <a:ext cx="1597500" cy="120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5" name="Google Shape;235;p19"/>
          <p:cNvSpPr txBox="1"/>
          <p:nvPr/>
        </p:nvSpPr>
        <p:spPr>
          <a:xfrm>
            <a:off x="366025" y="1013425"/>
            <a:ext cx="3959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¿Qué tan fácil le resulta registrar una petición, queja, reclamo o sugerencia (PQRS) en el Club Blood Tigers Cheers?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" name="Google Shape;23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46725" y="983875"/>
            <a:ext cx="6030675" cy="1570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23950" y="2737775"/>
            <a:ext cx="5629276" cy="348435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9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0"/>
          <p:cNvSpPr txBox="1"/>
          <p:nvPr/>
        </p:nvSpPr>
        <p:spPr>
          <a:xfrm>
            <a:off x="319746" y="109854"/>
            <a:ext cx="820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Implementación Sistema</a:t>
            </a:r>
            <a:endParaRPr b="1" i="0" sz="36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44" name="Google Shape;244;p20"/>
          <p:cNvSpPr txBox="1"/>
          <p:nvPr/>
        </p:nvSpPr>
        <p:spPr>
          <a:xfrm>
            <a:off x="39750" y="1013425"/>
            <a:ext cx="12112500" cy="78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br>
              <a:rPr b="0" i="0" lang="es-CO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5" name="Google Shape;245;p20"/>
          <p:cNvCxnSpPr/>
          <p:nvPr/>
        </p:nvCxnSpPr>
        <p:spPr>
          <a:xfrm flipH="1" rot="10800000">
            <a:off x="396971" y="729518"/>
            <a:ext cx="6004500" cy="18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6" name="Google Shape;246;p20"/>
          <p:cNvSpPr txBox="1"/>
          <p:nvPr/>
        </p:nvSpPr>
        <p:spPr>
          <a:xfrm>
            <a:off x="319750" y="1172075"/>
            <a:ext cx="3956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¿Cree que la implementación de un sistema (Web y Móvil) mejoraría las problemáticas mencionadas anteriormente?</a:t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7" name="Google Shape;247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91825" y="1089200"/>
            <a:ext cx="7137476" cy="1526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74255" y="2793325"/>
            <a:ext cx="5745070" cy="343315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0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0" name="Google Shape;250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992740" y="2103375"/>
            <a:ext cx="476250" cy="17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1"/>
          <p:cNvSpPr txBox="1"/>
          <p:nvPr/>
        </p:nvSpPr>
        <p:spPr>
          <a:xfrm>
            <a:off x="-7" y="1837662"/>
            <a:ext cx="12438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Entregable N°4 </a:t>
            </a:r>
            <a:endParaRPr b="1" i="0" sz="4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Work Sans"/>
              <a:buNone/>
            </a:pPr>
            <a:r>
              <a:rPr b="1" i="0" lang="es-CO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Requerimientos Funcionales y No Funcionales</a:t>
            </a:r>
            <a:endParaRPr b="1" i="0" sz="4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6" name="Google Shape;256;p21"/>
          <p:cNvCxnSpPr/>
          <p:nvPr/>
        </p:nvCxnSpPr>
        <p:spPr>
          <a:xfrm>
            <a:off x="1983725" y="4152450"/>
            <a:ext cx="8896200" cy="3840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2"/>
          <p:cNvSpPr txBox="1"/>
          <p:nvPr/>
        </p:nvSpPr>
        <p:spPr>
          <a:xfrm>
            <a:off x="419350" y="296875"/>
            <a:ext cx="11183400" cy="5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3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Requerimientos Funcionales y No Funcionales</a:t>
            </a:r>
            <a:endParaRPr b="1" i="0" sz="33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262" name="Google Shape;262;p22"/>
          <p:cNvSpPr txBox="1"/>
          <p:nvPr/>
        </p:nvSpPr>
        <p:spPr>
          <a:xfrm>
            <a:off x="156900" y="1640675"/>
            <a:ext cx="11878200" cy="51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br>
              <a:rPr b="0" i="0" lang="es-CO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s-CO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78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7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br>
              <a:rPr b="0" i="0" lang="es-CO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s-CO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3" name="Google Shape;263;p22"/>
          <p:cNvCxnSpPr/>
          <p:nvPr/>
        </p:nvCxnSpPr>
        <p:spPr>
          <a:xfrm flipH="1" rot="10800000">
            <a:off x="419346" y="910668"/>
            <a:ext cx="9896100" cy="3390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4" name="Google Shape;264;p22"/>
          <p:cNvSpPr txBox="1"/>
          <p:nvPr/>
        </p:nvSpPr>
        <p:spPr>
          <a:xfrm>
            <a:off x="11580534" y="6106250"/>
            <a:ext cx="503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" name="Google Shape;265;p22"/>
          <p:cNvPicPr preferRelativeResize="0"/>
          <p:nvPr/>
        </p:nvPicPr>
        <p:blipFill rotWithShape="1">
          <a:blip r:embed="rId4">
            <a:alphaModFix/>
          </a:blip>
          <a:srcRect b="9656" l="5072" r="6243" t="0"/>
          <a:stretch/>
        </p:blipFill>
        <p:spPr>
          <a:xfrm>
            <a:off x="319800" y="1087500"/>
            <a:ext cx="4926551" cy="5018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7100" y="1410350"/>
            <a:ext cx="6055999" cy="4037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