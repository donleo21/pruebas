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Work Sans"/>
      <p:regular r:id="rId29"/>
      <p:bold r:id="rId30"/>
      <p:italic r:id="rId31"/>
      <p:boldItalic r:id="rId32"/>
    </p:embeddedFont>
    <p:embeddedFont>
      <p:font typeface="Work Sans Ligh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r:id="rId37" roundtripDataSignature="AMtx7mjz1IZNVXIaWQbRzDQXd40Fv0s0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5" orient="horz"/>
        <p:guide pos="3840"/>
        <p:guide pos="18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Work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WorkSans-italic.fntdata"/><Relationship Id="rId30" Type="http://schemas.openxmlformats.org/officeDocument/2006/relationships/font" Target="fonts/WorkSans-bold.fntdata"/><Relationship Id="rId11" Type="http://schemas.openxmlformats.org/officeDocument/2006/relationships/slide" Target="slides/slide6.xml"/><Relationship Id="rId33" Type="http://schemas.openxmlformats.org/officeDocument/2006/relationships/font" Target="fonts/WorkSansLight-regular.fntdata"/><Relationship Id="rId10" Type="http://schemas.openxmlformats.org/officeDocument/2006/relationships/slide" Target="slides/slide5.xml"/><Relationship Id="rId32" Type="http://schemas.openxmlformats.org/officeDocument/2006/relationships/font" Target="fonts/WorkSans-boldItalic.fntdata"/><Relationship Id="rId13" Type="http://schemas.openxmlformats.org/officeDocument/2006/relationships/slide" Target="slides/slide8.xml"/><Relationship Id="rId35" Type="http://schemas.openxmlformats.org/officeDocument/2006/relationships/font" Target="fonts/WorkSansLight-italic.fntdata"/><Relationship Id="rId12" Type="http://schemas.openxmlformats.org/officeDocument/2006/relationships/slide" Target="slides/slide7.xml"/><Relationship Id="rId34" Type="http://schemas.openxmlformats.org/officeDocument/2006/relationships/font" Target="fonts/WorkSansLight-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WorkSansLigh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439f1cb08_5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39439f1cb08_5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cfab8e1179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3cfab8e1179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1" name="Shape 31"/>
        <p:cNvGrpSpPr/>
        <p:nvPr/>
      </p:nvGrpSpPr>
      <p:grpSpPr>
        <a:xfrm>
          <a:off x="0" y="0"/>
          <a:ext cx="0" cy="0"/>
          <a:chOff x="0" y="0"/>
          <a:chExt cx="0" cy="0"/>
        </a:xfrm>
      </p:grpSpPr>
      <p:sp>
        <p:nvSpPr>
          <p:cNvPr id="32" name="Google Shape;32;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7" name="Shape 37"/>
        <p:cNvGrpSpPr/>
        <p:nvPr/>
      </p:nvGrpSpPr>
      <p:grpSpPr>
        <a:xfrm>
          <a:off x="0" y="0"/>
          <a:ext cx="0" cy="0"/>
          <a:chOff x="0" y="0"/>
          <a:chExt cx="0" cy="0"/>
        </a:xfrm>
      </p:grpSpPr>
      <p:sp>
        <p:nvSpPr>
          <p:cNvPr id="38" name="Google Shape;3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4" name="Shape 44"/>
        <p:cNvGrpSpPr/>
        <p:nvPr/>
      </p:nvGrpSpPr>
      <p:grpSpPr>
        <a:xfrm>
          <a:off x="0" y="0"/>
          <a:ext cx="0" cy="0"/>
          <a:chOff x="0" y="0"/>
          <a:chExt cx="0" cy="0"/>
        </a:xfrm>
      </p:grpSpPr>
      <p:sp>
        <p:nvSpPr>
          <p:cNvPr id="45" name="Google Shape;45;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p:nvPr>
            <p:ph idx="2" type="pic"/>
          </p:nvPr>
        </p:nvSpPr>
        <p:spPr>
          <a:xfrm>
            <a:off x="5183188" y="987425"/>
            <a:ext cx="6172200" cy="4873625"/>
          </a:xfrm>
          <a:prstGeom prst="rect">
            <a:avLst/>
          </a:prstGeom>
          <a:noFill/>
          <a:ln>
            <a:noFill/>
          </a:ln>
        </p:spPr>
      </p:sp>
      <p:sp>
        <p:nvSpPr>
          <p:cNvPr id="68" name="Google Shape;68;p3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3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30.png"/><Relationship Id="rId5"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
          <p:cNvSpPr txBox="1"/>
          <p:nvPr/>
        </p:nvSpPr>
        <p:spPr>
          <a:xfrm>
            <a:off x="946700" y="1909950"/>
            <a:ext cx="7245900" cy="3324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F3F3F"/>
              </a:buClr>
              <a:buSzPts val="5400"/>
              <a:buFont typeface="Work Sans"/>
              <a:buNone/>
            </a:pPr>
            <a:r>
              <a:rPr b="1" i="0" lang="es-CO" sz="5200" u="none" cap="none" strike="noStrike">
                <a:solidFill>
                  <a:srgbClr val="3F3F3F"/>
                </a:solidFill>
                <a:latin typeface="Work Sans"/>
                <a:ea typeface="Work Sans"/>
                <a:cs typeface="Work Sans"/>
                <a:sym typeface="Work Sans"/>
              </a:rPr>
              <a:t>Sistema de información</a:t>
            </a:r>
            <a:endParaRPr b="1" i="0" sz="5200" u="none" cap="none" strike="noStrike">
              <a:solidFill>
                <a:srgbClr val="3F3F3F"/>
              </a:solidFill>
              <a:latin typeface="Work Sans"/>
              <a:ea typeface="Work Sans"/>
              <a:cs typeface="Work Sans"/>
              <a:sym typeface="Work Sans"/>
            </a:endParaRPr>
          </a:p>
          <a:p>
            <a:pPr indent="0" lvl="0" marL="0" marR="0" rtl="0" algn="l">
              <a:lnSpc>
                <a:spcPct val="100000"/>
              </a:lnSpc>
              <a:spcBef>
                <a:spcPts val="0"/>
              </a:spcBef>
              <a:spcAft>
                <a:spcPts val="0"/>
              </a:spcAft>
              <a:buClr>
                <a:srgbClr val="3F3F3F"/>
              </a:buClr>
              <a:buSzPts val="5400"/>
              <a:buFont typeface="Work Sans"/>
              <a:buNone/>
            </a:pPr>
            <a:r>
              <a:rPr b="1" i="0" lang="es-CO" sz="5200" u="none" cap="none" strike="noStrike">
                <a:solidFill>
                  <a:srgbClr val="3F3F3F"/>
                </a:solidFill>
                <a:latin typeface="Work Sans"/>
                <a:ea typeface="Work Sans"/>
                <a:cs typeface="Work Sans"/>
                <a:sym typeface="Work Sans"/>
              </a:rPr>
              <a:t>CheerClick Systems</a:t>
            </a:r>
            <a:endParaRPr b="1" i="0" sz="5200" u="none" cap="none" strike="noStrike">
              <a:solidFill>
                <a:srgbClr val="3F3F3F"/>
              </a:solidFill>
              <a:latin typeface="Work Sans"/>
              <a:ea typeface="Work Sans"/>
              <a:cs typeface="Work Sans"/>
              <a:sym typeface="Work Sans"/>
            </a:endParaRPr>
          </a:p>
          <a:p>
            <a:pPr indent="0" lvl="0" marL="0" marR="0" rtl="0" algn="l">
              <a:lnSpc>
                <a:spcPct val="100000"/>
              </a:lnSpc>
              <a:spcBef>
                <a:spcPts val="0"/>
              </a:spcBef>
              <a:spcAft>
                <a:spcPts val="0"/>
              </a:spcAft>
              <a:buClr>
                <a:srgbClr val="3F3F3F"/>
              </a:buClr>
              <a:buSzPts val="5400"/>
              <a:buFont typeface="Work Sans"/>
              <a:buNone/>
            </a:pPr>
            <a:r>
              <a:t/>
            </a:r>
            <a:endParaRPr b="1" i="0" sz="5400" u="none" cap="none" strike="noStrike">
              <a:solidFill>
                <a:srgbClr val="3F3F3F"/>
              </a:solidFill>
              <a:latin typeface="Work Sans"/>
              <a:ea typeface="Work Sans"/>
              <a:cs typeface="Work Sans"/>
              <a:sym typeface="Work Sans"/>
            </a:endParaRPr>
          </a:p>
        </p:txBody>
      </p:sp>
      <p:pic>
        <p:nvPicPr>
          <p:cNvPr id="94" name="Google Shape;94;p1"/>
          <p:cNvPicPr preferRelativeResize="0"/>
          <p:nvPr/>
        </p:nvPicPr>
        <p:blipFill rotWithShape="1">
          <a:blip r:embed="rId4">
            <a:alphaModFix/>
          </a:blip>
          <a:srcRect b="0" l="0" r="0" t="0"/>
          <a:stretch/>
        </p:blipFill>
        <p:spPr>
          <a:xfrm>
            <a:off x="9703875" y="4220151"/>
            <a:ext cx="1419425" cy="1632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2"/>
          <p:cNvSpPr txBox="1"/>
          <p:nvPr/>
        </p:nvSpPr>
        <p:spPr>
          <a:xfrm>
            <a:off x="3443550" y="2169125"/>
            <a:ext cx="5304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D4D4C"/>
              </a:buClr>
              <a:buSzPts val="6000"/>
              <a:buFont typeface="Work Sans"/>
              <a:buNone/>
            </a:pPr>
            <a:r>
              <a:rPr b="1" i="0" lang="es-CO" sz="6000" u="none" cap="none" strike="noStrike">
                <a:solidFill>
                  <a:srgbClr val="4D4D4C"/>
                </a:solidFill>
                <a:latin typeface="Work Sans"/>
                <a:ea typeface="Work Sans"/>
                <a:cs typeface="Work Sans"/>
                <a:sym typeface="Work Sans"/>
              </a:rPr>
              <a:t>APRENDICES</a:t>
            </a:r>
            <a:endParaRPr b="1" i="0" sz="7200" u="none" cap="none" strike="noStrike">
              <a:solidFill>
                <a:srgbClr val="4D4D4C"/>
              </a:solidFill>
              <a:latin typeface="Work Sans"/>
              <a:ea typeface="Work Sans"/>
              <a:cs typeface="Work Sans"/>
              <a:sym typeface="Work Sans"/>
            </a:endParaRPr>
          </a:p>
        </p:txBody>
      </p:sp>
      <p:cxnSp>
        <p:nvCxnSpPr>
          <p:cNvPr id="100" name="Google Shape;100;p2"/>
          <p:cNvCxnSpPr/>
          <p:nvPr/>
        </p:nvCxnSpPr>
        <p:spPr>
          <a:xfrm>
            <a:off x="4972228" y="3324314"/>
            <a:ext cx="2247544" cy="0"/>
          </a:xfrm>
          <a:prstGeom prst="straightConnector1">
            <a:avLst/>
          </a:prstGeom>
          <a:noFill/>
          <a:ln cap="flat" cmpd="sng" w="12700">
            <a:solidFill>
              <a:srgbClr val="38AA00"/>
            </a:solidFill>
            <a:prstDash val="solid"/>
            <a:miter lim="800000"/>
            <a:headEnd len="sm" w="sm" type="none"/>
            <a:tailEnd len="sm" w="sm" type="none"/>
          </a:ln>
        </p:spPr>
      </p:cxnSp>
      <p:sp>
        <p:nvSpPr>
          <p:cNvPr id="101" name="Google Shape;101;p2"/>
          <p:cNvSpPr txBox="1"/>
          <p:nvPr/>
        </p:nvSpPr>
        <p:spPr>
          <a:xfrm>
            <a:off x="4168816" y="3463724"/>
            <a:ext cx="38544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s-CO" sz="1800" u="none" cap="none" strike="noStrike">
                <a:solidFill>
                  <a:srgbClr val="000000"/>
                </a:solidFill>
                <a:latin typeface="Calibri"/>
                <a:ea typeface="Calibri"/>
                <a:cs typeface="Calibri"/>
                <a:sym typeface="Calibri"/>
              </a:rPr>
              <a:t>           Juan Sebastian Serrano Luis</a:t>
            </a:r>
            <a:endParaRPr b="0"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O" sz="1800" u="none" cap="none" strike="noStrike">
                <a:solidFill>
                  <a:srgbClr val="000000"/>
                </a:solidFill>
                <a:latin typeface="Calibri"/>
                <a:ea typeface="Calibri"/>
                <a:cs typeface="Calibri"/>
                <a:sym typeface="Calibri"/>
              </a:rPr>
              <a:t>Leonardo Jara Molina</a:t>
            </a:r>
            <a:endParaRPr b="0"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O" sz="1800" u="none" cap="none" strike="noStrike">
                <a:solidFill>
                  <a:schemeClr val="dk1"/>
                </a:solidFill>
                <a:latin typeface="Calibri"/>
                <a:ea typeface="Calibri"/>
                <a:cs typeface="Calibri"/>
                <a:sym typeface="Calibri"/>
              </a:rPr>
              <a:t>Karen Tatiana Martínez González</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O" sz="1800" u="none" cap="none" strike="noStrike">
                <a:solidFill>
                  <a:schemeClr val="dk1"/>
                </a:solidFill>
                <a:latin typeface="Calibri"/>
                <a:ea typeface="Calibri"/>
                <a:cs typeface="Calibri"/>
                <a:sym typeface="Calibri"/>
              </a:rPr>
              <a:t>Amy Lee Aroca Español</a:t>
            </a:r>
            <a:endParaRPr b="0"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s-CO" sz="1800" u="none" cap="none" strike="noStrike">
                <a:solidFill>
                  <a:srgbClr val="000000"/>
                </a:solidFill>
                <a:latin typeface="Calibri"/>
                <a:ea typeface="Calibri"/>
                <a:cs typeface="Calibri"/>
                <a:sym typeface="Calibri"/>
              </a:rPr>
              <a:t>ADSO</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sp>
        <p:nvSpPr>
          <p:cNvPr id="106" name="Google Shape;106;p3"/>
          <p:cNvSpPr txBox="1"/>
          <p:nvPr/>
        </p:nvSpPr>
        <p:spPr>
          <a:xfrm>
            <a:off x="636850" y="546825"/>
            <a:ext cx="664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D4D4C"/>
              </a:buClr>
              <a:buSzPts val="6000"/>
              <a:buFont typeface="Work Sans"/>
              <a:buNone/>
            </a:pPr>
            <a:r>
              <a:rPr b="1" i="0" lang="es-CO" sz="3600" u="none" cap="none" strike="noStrike">
                <a:solidFill>
                  <a:srgbClr val="4D4D4C"/>
                </a:solidFill>
                <a:latin typeface="Work Sans"/>
                <a:ea typeface="Work Sans"/>
                <a:cs typeface="Work Sans"/>
                <a:sym typeface="Work Sans"/>
              </a:rPr>
              <a:t>Tabla de Contenido</a:t>
            </a:r>
            <a:endParaRPr b="1" i="0" sz="3600" u="none" cap="none" strike="noStrike">
              <a:solidFill>
                <a:srgbClr val="4D4D4C"/>
              </a:solidFill>
              <a:latin typeface="Work Sans"/>
              <a:ea typeface="Work Sans"/>
              <a:cs typeface="Work Sans"/>
              <a:sym typeface="Work Sans"/>
            </a:endParaRPr>
          </a:p>
        </p:txBody>
      </p:sp>
      <p:cxnSp>
        <p:nvCxnSpPr>
          <p:cNvPr id="107" name="Google Shape;107;p3"/>
          <p:cNvCxnSpPr/>
          <p:nvPr/>
        </p:nvCxnSpPr>
        <p:spPr>
          <a:xfrm flipH="1" rot="10800000">
            <a:off x="636853" y="1333364"/>
            <a:ext cx="6564000" cy="5700"/>
          </a:xfrm>
          <a:prstGeom prst="straightConnector1">
            <a:avLst/>
          </a:prstGeom>
          <a:noFill/>
          <a:ln cap="flat" cmpd="sng" w="12700">
            <a:solidFill>
              <a:srgbClr val="38AA00"/>
            </a:solidFill>
            <a:prstDash val="solid"/>
            <a:miter lim="800000"/>
            <a:headEnd len="sm" w="sm" type="none"/>
            <a:tailEnd len="sm" w="sm" type="none"/>
          </a:ln>
        </p:spPr>
      </p:cxnSp>
      <p:sp>
        <p:nvSpPr>
          <p:cNvPr id="108" name="Google Shape;108;p3"/>
          <p:cNvSpPr txBox="1"/>
          <p:nvPr/>
        </p:nvSpPr>
        <p:spPr>
          <a:xfrm>
            <a:off x="636850" y="2110625"/>
            <a:ext cx="6075000" cy="28629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Planteamiento del Problema                                     </a:t>
            </a:r>
            <a:endParaRPr b="1"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Justificación                                                              </a:t>
            </a:r>
            <a:endParaRPr b="1"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Pregunta Problema                                                   </a:t>
            </a:r>
            <a:endParaRPr b="1"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Módulos y Roles                                                       </a:t>
            </a:r>
            <a:endParaRPr b="0"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Objetivo General                                                      </a:t>
            </a:r>
            <a:endParaRPr b="1"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Objetivos Específicos                                                </a:t>
            </a:r>
            <a:endParaRPr b="0"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Delimitación y Alcance                                             </a:t>
            </a:r>
            <a:r>
              <a:rPr b="1" i="0" lang="es-CO" sz="1800" u="none" cap="none" strike="noStrike">
                <a:solidFill>
                  <a:srgbClr val="000000"/>
                </a:solidFill>
                <a:latin typeface="Arial"/>
                <a:ea typeface="Arial"/>
                <a:cs typeface="Arial"/>
                <a:sym typeface="Arial"/>
              </a:rPr>
              <a:t> </a:t>
            </a:r>
            <a:endParaRPr b="1"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Diagramas de procesos                                           </a:t>
            </a:r>
            <a:endParaRPr b="1"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Recolección de datos                                               </a:t>
            </a:r>
            <a:endParaRPr b="1"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rPr b="0" i="0" lang="es-CO" sz="1800" u="none" cap="none" strike="noStrike">
                <a:solidFill>
                  <a:srgbClr val="000000"/>
                </a:solidFill>
                <a:latin typeface="Arial"/>
                <a:ea typeface="Arial"/>
                <a:cs typeface="Arial"/>
                <a:sym typeface="Arial"/>
              </a:rPr>
              <a:t>Requerimientos Funcionales y No funcionales                                                          </a:t>
            </a:r>
            <a:endParaRPr b="1" i="0" sz="1800" u="none" cap="none" strike="noStrike">
              <a:solidFill>
                <a:srgbClr val="000000"/>
              </a:solidFill>
              <a:latin typeface="Arial"/>
              <a:ea typeface="Arial"/>
              <a:cs typeface="Arial"/>
              <a:sym typeface="Arial"/>
            </a:endParaRPr>
          </a:p>
        </p:txBody>
      </p:sp>
      <p:pic>
        <p:nvPicPr>
          <p:cNvPr id="109" name="Google Shape;109;p3"/>
          <p:cNvPicPr preferRelativeResize="0"/>
          <p:nvPr/>
        </p:nvPicPr>
        <p:blipFill rotWithShape="1">
          <a:blip r:embed="rId4">
            <a:alphaModFix/>
          </a:blip>
          <a:srcRect b="0" l="0" r="0" t="0"/>
          <a:stretch/>
        </p:blipFill>
        <p:spPr>
          <a:xfrm>
            <a:off x="7659752" y="1556417"/>
            <a:ext cx="3971309" cy="3971309"/>
          </a:xfrm>
          <a:prstGeom prst="rect">
            <a:avLst/>
          </a:prstGeom>
          <a:noFill/>
          <a:ln>
            <a:noFill/>
          </a:ln>
        </p:spPr>
      </p:pic>
      <p:sp>
        <p:nvSpPr>
          <p:cNvPr id="110" name="Google Shape;110;p3"/>
          <p:cNvSpPr txBox="1"/>
          <p:nvPr/>
        </p:nvSpPr>
        <p:spPr>
          <a:xfrm>
            <a:off x="6171900" y="2110625"/>
            <a:ext cx="1251000" cy="314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5</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6</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7</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8</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9</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10</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11</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12</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16</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chemeClr val="dk1"/>
                </a:solidFill>
                <a:latin typeface="Arial"/>
                <a:ea typeface="Arial"/>
                <a:cs typeface="Arial"/>
                <a:sym typeface="Arial"/>
              </a:rPr>
              <a:t>19</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p4"/>
          <p:cNvSpPr/>
          <p:nvPr/>
        </p:nvSpPr>
        <p:spPr>
          <a:xfrm>
            <a:off x="3423628" y="3954050"/>
            <a:ext cx="5344743" cy="12003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txBox="1"/>
          <p:nvPr/>
        </p:nvSpPr>
        <p:spPr>
          <a:xfrm>
            <a:off x="2288450" y="2644050"/>
            <a:ext cx="7934700" cy="1569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6000"/>
              <a:buFont typeface="Work Sans"/>
              <a:buNone/>
            </a:pPr>
            <a:r>
              <a:rPr b="1" i="0" lang="es-CO" sz="4800" u="none" cap="none" strike="noStrike">
                <a:solidFill>
                  <a:schemeClr val="lt1"/>
                </a:solidFill>
                <a:latin typeface="Arial"/>
                <a:ea typeface="Arial"/>
                <a:cs typeface="Arial"/>
                <a:sym typeface="Arial"/>
              </a:rPr>
              <a:t>Entregable N°1 Formulación del proyecto</a:t>
            </a:r>
            <a:endParaRPr b="1" i="0" sz="4800" u="none" cap="none" strike="noStrike">
              <a:solidFill>
                <a:schemeClr val="lt1"/>
              </a:solidFill>
              <a:latin typeface="Arial"/>
              <a:ea typeface="Arial"/>
              <a:cs typeface="Arial"/>
              <a:sym typeface="Arial"/>
            </a:endParaRPr>
          </a:p>
        </p:txBody>
      </p:sp>
      <p:cxnSp>
        <p:nvCxnSpPr>
          <p:cNvPr id="117" name="Google Shape;117;p4"/>
          <p:cNvCxnSpPr/>
          <p:nvPr/>
        </p:nvCxnSpPr>
        <p:spPr>
          <a:xfrm>
            <a:off x="2493500" y="4175550"/>
            <a:ext cx="7524600" cy="384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5"/>
          <p:cNvSpPr txBox="1"/>
          <p:nvPr/>
        </p:nvSpPr>
        <p:spPr>
          <a:xfrm>
            <a:off x="456236" y="416690"/>
            <a:ext cx="9815700" cy="5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3600"/>
              <a:buFont typeface="Work Sans"/>
              <a:buNone/>
            </a:pPr>
            <a:r>
              <a:rPr b="1" i="0" lang="es-CO" sz="3600" u="none" cap="none" strike="noStrike">
                <a:solidFill>
                  <a:srgbClr val="FFFFFF"/>
                </a:solidFill>
                <a:latin typeface="Work Sans"/>
                <a:ea typeface="Work Sans"/>
                <a:cs typeface="Work Sans"/>
                <a:sym typeface="Work Sans"/>
              </a:rPr>
              <a:t>Planteamiento del problema</a:t>
            </a:r>
            <a:endParaRPr b="0" i="0" sz="1400" u="none" cap="none" strike="noStrike">
              <a:solidFill>
                <a:srgbClr val="000000"/>
              </a:solidFill>
              <a:latin typeface="Arial"/>
              <a:ea typeface="Arial"/>
              <a:cs typeface="Arial"/>
              <a:sym typeface="Arial"/>
            </a:endParaRPr>
          </a:p>
        </p:txBody>
      </p:sp>
      <p:sp>
        <p:nvSpPr>
          <p:cNvPr id="123" name="Google Shape;123;p5"/>
          <p:cNvSpPr txBox="1"/>
          <p:nvPr/>
        </p:nvSpPr>
        <p:spPr>
          <a:xfrm>
            <a:off x="456225" y="1636213"/>
            <a:ext cx="8679300" cy="4311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CO" sz="1800" u="none" cap="none" strike="noStrike">
                <a:solidFill>
                  <a:schemeClr val="dk1"/>
                </a:solidFill>
                <a:latin typeface="Arial"/>
                <a:ea typeface="Arial"/>
                <a:cs typeface="Arial"/>
                <a:sym typeface="Arial"/>
              </a:rPr>
              <a:t>El Club Deportivo “Blood Tigers Cheers” (Bosa Centro) es un equipo de competición de cheerleading que combina gimnasia, danza y porrismo. Su enfoque está en la velocidad y la conexión fluida de elementos acrobáticos. Utiliza una técnica por niveles para asegurar el fortalecimiento y el cuidado del cuerpo, buscando la excelencia en la ejecución de cada deportista.</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s-CO" sz="1800">
                <a:solidFill>
                  <a:schemeClr val="dk1"/>
                </a:solidFill>
              </a:rPr>
              <a:t>Actualmente el club presenta dificultades en la administración de sus actividades debido a que muchos procesos se realizan de forma manual y poco organizada esto afecta la organización de los horarios, el seguimiento del rendimiento de los atletas, las inscripciones de los deportistas y el control de los elementos deportivos además, la falta de un canal formal de PQRS limita la comunicación entre los deportistas, acudientes y la institución generando desorden en la información y un manejo poco eficiente de los recursos del club.</a:t>
            </a:r>
            <a:endParaRPr b="1" baseline="30000" i="0" sz="3200" u="none" cap="none" strike="noStrike">
              <a:solidFill>
                <a:schemeClr val="dk1"/>
              </a:solidFill>
            </a:endParaRPr>
          </a:p>
        </p:txBody>
      </p:sp>
      <p:pic>
        <p:nvPicPr>
          <p:cNvPr id="124" name="Google Shape;124;p5"/>
          <p:cNvPicPr preferRelativeResize="0"/>
          <p:nvPr/>
        </p:nvPicPr>
        <p:blipFill rotWithShape="1">
          <a:blip r:embed="rId4">
            <a:alphaModFix/>
          </a:blip>
          <a:srcRect b="0" l="0" r="0" t="0"/>
          <a:stretch/>
        </p:blipFill>
        <p:spPr>
          <a:xfrm>
            <a:off x="9429850" y="2538013"/>
            <a:ext cx="2366026" cy="2366026"/>
          </a:xfrm>
          <a:prstGeom prst="rect">
            <a:avLst/>
          </a:prstGeom>
          <a:noFill/>
          <a:ln>
            <a:noFill/>
          </a:ln>
        </p:spPr>
      </p:pic>
      <p:sp>
        <p:nvSpPr>
          <p:cNvPr id="125" name="Google Shape;125;p5"/>
          <p:cNvSpPr txBox="1"/>
          <p:nvPr/>
        </p:nvSpPr>
        <p:spPr>
          <a:xfrm>
            <a:off x="11580535" y="6106250"/>
            <a:ext cx="617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6"/>
          <p:cNvSpPr txBox="1"/>
          <p:nvPr/>
        </p:nvSpPr>
        <p:spPr>
          <a:xfrm>
            <a:off x="456236" y="416690"/>
            <a:ext cx="9815809" cy="5278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3600"/>
              <a:buFont typeface="Work Sans"/>
              <a:buNone/>
            </a:pPr>
            <a:r>
              <a:rPr b="1" i="0" lang="es-CO" sz="3600" u="none" cap="none" strike="noStrike">
                <a:solidFill>
                  <a:srgbClr val="FFFFFF"/>
                </a:solidFill>
                <a:latin typeface="Work Sans"/>
                <a:ea typeface="Work Sans"/>
                <a:cs typeface="Work Sans"/>
                <a:sym typeface="Work Sans"/>
              </a:rPr>
              <a:t>Justificación</a:t>
            </a:r>
            <a:endParaRPr b="0" i="0" sz="1400" u="none" cap="none" strike="noStrike">
              <a:solidFill>
                <a:srgbClr val="000000"/>
              </a:solidFill>
              <a:latin typeface="Arial"/>
              <a:ea typeface="Arial"/>
              <a:cs typeface="Arial"/>
              <a:sym typeface="Arial"/>
            </a:endParaRPr>
          </a:p>
        </p:txBody>
      </p:sp>
      <p:sp>
        <p:nvSpPr>
          <p:cNvPr id="131" name="Google Shape;131;p6"/>
          <p:cNvSpPr txBox="1"/>
          <p:nvPr/>
        </p:nvSpPr>
        <p:spPr>
          <a:xfrm>
            <a:off x="661550" y="1580100"/>
            <a:ext cx="7413300" cy="466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s-CO" sz="1800" u="none" cap="none" strike="noStrike">
                <a:solidFill>
                  <a:schemeClr val="dk1"/>
                </a:solidFill>
                <a:latin typeface="Arial"/>
                <a:ea typeface="Arial"/>
                <a:cs typeface="Arial"/>
                <a:sym typeface="Arial"/>
              </a:rPr>
              <a:t>El análisis del Club "Blood Tigers Cheers" identificó falencias en procesos clave como Inscripción, calificación del rendimiento, organización de horarios, </a:t>
            </a:r>
            <a:r>
              <a:rPr lang="es-CO" sz="1800">
                <a:solidFill>
                  <a:schemeClr val="dk1"/>
                </a:solidFill>
              </a:rPr>
              <a:t>gestión</a:t>
            </a:r>
            <a:r>
              <a:rPr lang="es-CO" sz="1800">
                <a:solidFill>
                  <a:schemeClr val="dk1"/>
                </a:solidFill>
              </a:rPr>
              <a:t> de los implementos deportivos</a:t>
            </a:r>
            <a:r>
              <a:rPr b="0" i="0" lang="es-CO" sz="1800" u="none" cap="none" strike="noStrike">
                <a:solidFill>
                  <a:schemeClr val="dk1"/>
                </a:solidFill>
                <a:latin typeface="Arial"/>
                <a:ea typeface="Arial"/>
                <a:cs typeface="Arial"/>
                <a:sym typeface="Arial"/>
              </a:rPr>
              <a:t> y PQRS. La causa de estas dificultades es que la gestión se realiza de forma manual, lo que genera confusiones e ineficiencia en todos los procedimientos.</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sz="18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b="0" i="0" lang="es-CO" sz="1800" u="none" cap="none" strike="noStrike">
                <a:solidFill>
                  <a:schemeClr val="dk1"/>
                </a:solidFill>
                <a:latin typeface="Arial"/>
                <a:ea typeface="Arial"/>
                <a:cs typeface="Arial"/>
                <a:sym typeface="Arial"/>
              </a:rPr>
              <a:t>Para mejorar la calidad de los servicios y fortalecer la administración interna, es fundamental desarrollar un sistema que optimice los procesos manuales. Este sistema garantizará un control confiable al ofrecer información clara y veraz a directivos, entrenadores y deportistas, logrando agilizar el funcionamiento general del club y continuar motivando la formación deportiva integral. </a:t>
            </a:r>
            <a:endParaRPr i="0" sz="1800" u="none" cap="none" strike="noStrike">
              <a:solidFill>
                <a:schemeClr val="dk1"/>
              </a:solidFill>
            </a:endParaRPr>
          </a:p>
          <a:p>
            <a:pPr indent="0" lvl="0" marL="0" marR="0" rtl="0" algn="l">
              <a:lnSpc>
                <a:spcPct val="100000"/>
              </a:lnSpc>
              <a:spcBef>
                <a:spcPts val="120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900" u="none" cap="none" strike="noStrike">
              <a:solidFill>
                <a:schemeClr val="dk1"/>
              </a:solidFill>
              <a:latin typeface="Calibri"/>
              <a:ea typeface="Calibri"/>
              <a:cs typeface="Calibri"/>
              <a:sym typeface="Calibri"/>
            </a:endParaRPr>
          </a:p>
        </p:txBody>
      </p:sp>
      <p:sp>
        <p:nvSpPr>
          <p:cNvPr id="132" name="Google Shape;132;p6"/>
          <p:cNvSpPr txBox="1"/>
          <p:nvPr/>
        </p:nvSpPr>
        <p:spPr>
          <a:xfrm>
            <a:off x="11580535" y="6106250"/>
            <a:ext cx="35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pic>
        <p:nvPicPr>
          <p:cNvPr id="133" name="Google Shape;133;p6"/>
          <p:cNvPicPr preferRelativeResize="0"/>
          <p:nvPr/>
        </p:nvPicPr>
        <p:blipFill rotWithShape="1">
          <a:blip r:embed="rId4">
            <a:alphaModFix/>
          </a:blip>
          <a:srcRect b="0" l="0" r="0" t="0"/>
          <a:stretch/>
        </p:blipFill>
        <p:spPr>
          <a:xfrm>
            <a:off x="8909550" y="2115813"/>
            <a:ext cx="2670975" cy="3348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7"/>
          <p:cNvSpPr txBox="1"/>
          <p:nvPr/>
        </p:nvSpPr>
        <p:spPr>
          <a:xfrm>
            <a:off x="731976" y="1549922"/>
            <a:ext cx="27237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Pregunta </a:t>
            </a:r>
            <a:endParaRPr b="1" i="0" sz="3600" u="none" cap="none" strike="noStrike">
              <a:solidFill>
                <a:srgbClr val="38AA00"/>
              </a:solidFill>
              <a:latin typeface="Work Sans"/>
              <a:ea typeface="Work Sans"/>
              <a:cs typeface="Work Sans"/>
              <a:sym typeface="Work Sans"/>
            </a:endParaRPr>
          </a:p>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Problema</a:t>
            </a:r>
            <a:endParaRPr b="1" i="0" sz="3600" u="none" cap="none" strike="noStrike">
              <a:solidFill>
                <a:srgbClr val="38AA00"/>
              </a:solidFill>
              <a:latin typeface="Work Sans"/>
              <a:ea typeface="Work Sans"/>
              <a:cs typeface="Work Sans"/>
              <a:sym typeface="Work Sans"/>
            </a:endParaRPr>
          </a:p>
        </p:txBody>
      </p:sp>
      <p:sp>
        <p:nvSpPr>
          <p:cNvPr id="139" name="Google Shape;139;p7"/>
          <p:cNvSpPr txBox="1"/>
          <p:nvPr/>
        </p:nvSpPr>
        <p:spPr>
          <a:xfrm>
            <a:off x="554175" y="3181776"/>
            <a:ext cx="53895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CO" sz="1800" u="none" cap="none" strike="noStrike">
                <a:solidFill>
                  <a:schemeClr val="dk1"/>
                </a:solidFill>
                <a:latin typeface="Arial"/>
                <a:ea typeface="Arial"/>
                <a:cs typeface="Arial"/>
                <a:sym typeface="Arial"/>
              </a:rPr>
              <a:t>¿De qué manera se pueden optimizar </a:t>
            </a:r>
            <a:r>
              <a:rPr lang="es-CO" sz="1800">
                <a:solidFill>
                  <a:schemeClr val="dk1"/>
                </a:solidFill>
              </a:rPr>
              <a:t>la </a:t>
            </a:r>
            <a:r>
              <a:rPr b="0" i="0" lang="es-CO" sz="1800" u="none" cap="none" strike="noStrike">
                <a:solidFill>
                  <a:schemeClr val="dk1"/>
                </a:solidFill>
                <a:latin typeface="Arial"/>
                <a:ea typeface="Arial"/>
                <a:cs typeface="Arial"/>
                <a:sym typeface="Arial"/>
              </a:rPr>
              <a:t>planificación de horarios, PQRS, </a:t>
            </a:r>
            <a:r>
              <a:rPr lang="es-CO" sz="1800">
                <a:solidFill>
                  <a:schemeClr val="dk1"/>
                </a:solidFill>
              </a:rPr>
              <a:t>gestión</a:t>
            </a:r>
            <a:r>
              <a:rPr lang="es-CO" sz="1800">
                <a:solidFill>
                  <a:schemeClr val="dk1"/>
                </a:solidFill>
              </a:rPr>
              <a:t> de los implementos deportivos </a:t>
            </a:r>
            <a:r>
              <a:rPr b="0" i="0" lang="es-CO" sz="1800" u="none" cap="none" strike="noStrike">
                <a:solidFill>
                  <a:schemeClr val="dk1"/>
                </a:solidFill>
                <a:latin typeface="Arial"/>
                <a:ea typeface="Arial"/>
                <a:cs typeface="Arial"/>
                <a:sym typeface="Arial"/>
              </a:rPr>
              <a:t>y un sistema de calificación dependiendo del rendimiento de los atletas que se encuentran dentro del club deportivo (Blood Tigers Cheers)?</a:t>
            </a:r>
            <a:endParaRPr b="0" i="0" sz="1800" u="none" cap="none" strike="noStrike">
              <a:solidFill>
                <a:srgbClr val="000000"/>
              </a:solidFill>
              <a:latin typeface="Arial"/>
              <a:ea typeface="Arial"/>
              <a:cs typeface="Arial"/>
              <a:sym typeface="Arial"/>
            </a:endParaRPr>
          </a:p>
        </p:txBody>
      </p:sp>
      <p:cxnSp>
        <p:nvCxnSpPr>
          <p:cNvPr id="140" name="Google Shape;140;p7"/>
          <p:cNvCxnSpPr/>
          <p:nvPr/>
        </p:nvCxnSpPr>
        <p:spPr>
          <a:xfrm flipH="1" rot="10800000">
            <a:off x="731968" y="2691945"/>
            <a:ext cx="3338400" cy="24300"/>
          </a:xfrm>
          <a:prstGeom prst="straightConnector1">
            <a:avLst/>
          </a:prstGeom>
          <a:noFill/>
          <a:ln cap="flat" cmpd="sng" w="12700">
            <a:solidFill>
              <a:srgbClr val="4D4D4C"/>
            </a:solidFill>
            <a:prstDash val="solid"/>
            <a:miter lim="800000"/>
            <a:headEnd len="sm" w="sm" type="none"/>
            <a:tailEnd len="sm" w="sm" type="none"/>
          </a:ln>
        </p:spPr>
      </p:cxnSp>
      <p:pic>
        <p:nvPicPr>
          <p:cNvPr id="141" name="Google Shape;141;p7"/>
          <p:cNvPicPr preferRelativeResize="0"/>
          <p:nvPr/>
        </p:nvPicPr>
        <p:blipFill rotWithShape="1">
          <a:blip r:embed="rId4">
            <a:alphaModFix/>
          </a:blip>
          <a:srcRect b="0" l="0" r="0" t="0"/>
          <a:stretch/>
        </p:blipFill>
        <p:spPr>
          <a:xfrm>
            <a:off x="5943675" y="1229603"/>
            <a:ext cx="5715000" cy="4714875"/>
          </a:xfrm>
          <a:prstGeom prst="rect">
            <a:avLst/>
          </a:prstGeom>
          <a:noFill/>
          <a:ln>
            <a:noFill/>
          </a:ln>
        </p:spPr>
      </p:pic>
      <p:sp>
        <p:nvSpPr>
          <p:cNvPr id="142" name="Google Shape;142;p7"/>
          <p:cNvSpPr txBox="1"/>
          <p:nvPr/>
        </p:nvSpPr>
        <p:spPr>
          <a:xfrm>
            <a:off x="11580535" y="6106250"/>
            <a:ext cx="35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 name="Shape 146"/>
        <p:cNvGrpSpPr/>
        <p:nvPr/>
      </p:nvGrpSpPr>
      <p:grpSpPr>
        <a:xfrm>
          <a:off x="0" y="0"/>
          <a:ext cx="0" cy="0"/>
          <a:chOff x="0" y="0"/>
          <a:chExt cx="0" cy="0"/>
        </a:xfrm>
      </p:grpSpPr>
      <p:sp>
        <p:nvSpPr>
          <p:cNvPr id="147" name="Google Shape;147;p8"/>
          <p:cNvSpPr txBox="1"/>
          <p:nvPr/>
        </p:nvSpPr>
        <p:spPr>
          <a:xfrm>
            <a:off x="774586" y="296887"/>
            <a:ext cx="9815700" cy="741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3600"/>
              <a:buFont typeface="Work Sans"/>
              <a:buNone/>
            </a:pPr>
            <a:r>
              <a:rPr b="1" i="0" lang="es-CO" sz="3600" u="none" cap="none" strike="noStrike">
                <a:solidFill>
                  <a:srgbClr val="38AA00"/>
                </a:solidFill>
                <a:latin typeface="Work Sans"/>
                <a:ea typeface="Work Sans"/>
                <a:cs typeface="Work Sans"/>
                <a:sym typeface="Work Sans"/>
              </a:rPr>
              <a:t>Módulos y Roles</a:t>
            </a:r>
            <a:endParaRPr b="0" i="0" sz="1400" u="none" cap="none" strike="noStrike">
              <a:solidFill>
                <a:srgbClr val="38AA00"/>
              </a:solidFill>
              <a:latin typeface="Arial"/>
              <a:ea typeface="Arial"/>
              <a:cs typeface="Arial"/>
              <a:sym typeface="Arial"/>
            </a:endParaRPr>
          </a:p>
        </p:txBody>
      </p:sp>
      <p:sp>
        <p:nvSpPr>
          <p:cNvPr id="148" name="Google Shape;148;p8"/>
          <p:cNvSpPr txBox="1"/>
          <p:nvPr/>
        </p:nvSpPr>
        <p:spPr>
          <a:xfrm>
            <a:off x="9618925" y="4212950"/>
            <a:ext cx="3763800" cy="6156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800"/>
              <a:buFont typeface="Arial"/>
              <a:buNone/>
            </a:pPr>
            <a:br>
              <a:rPr b="0" i="0" lang="es-CO" sz="1800" u="none" cap="none" strike="noStrike">
                <a:solidFill>
                  <a:schemeClr val="dk1"/>
                </a:solidFill>
                <a:latin typeface="Arial"/>
                <a:ea typeface="Arial"/>
                <a:cs typeface="Arial"/>
                <a:sym typeface="Arial"/>
              </a:rPr>
            </a:br>
            <a:endParaRPr b="0" i="0" sz="1600" u="none" cap="none" strike="noStrike">
              <a:solidFill>
                <a:schemeClr val="dk1"/>
              </a:solidFill>
              <a:latin typeface="Work Sans Light"/>
              <a:ea typeface="Work Sans Light"/>
              <a:cs typeface="Work Sans Light"/>
              <a:sym typeface="Work Sans Light"/>
            </a:endParaRPr>
          </a:p>
        </p:txBody>
      </p:sp>
      <p:cxnSp>
        <p:nvCxnSpPr>
          <p:cNvPr id="149" name="Google Shape;149;p8"/>
          <p:cNvCxnSpPr/>
          <p:nvPr/>
        </p:nvCxnSpPr>
        <p:spPr>
          <a:xfrm>
            <a:off x="825911" y="823297"/>
            <a:ext cx="3845700" cy="0"/>
          </a:xfrm>
          <a:prstGeom prst="straightConnector1">
            <a:avLst/>
          </a:prstGeom>
          <a:noFill/>
          <a:ln cap="flat" cmpd="sng" w="12700">
            <a:solidFill>
              <a:srgbClr val="4D4D4C"/>
            </a:solidFill>
            <a:prstDash val="solid"/>
            <a:miter lim="800000"/>
            <a:headEnd len="sm" w="sm" type="none"/>
            <a:tailEnd len="sm" w="sm" type="none"/>
          </a:ln>
        </p:spPr>
      </p:cxnSp>
      <p:sp>
        <p:nvSpPr>
          <p:cNvPr id="150" name="Google Shape;150;p8"/>
          <p:cNvSpPr txBox="1"/>
          <p:nvPr/>
        </p:nvSpPr>
        <p:spPr>
          <a:xfrm>
            <a:off x="11580535" y="6106250"/>
            <a:ext cx="35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151" name="Google Shape;151;p8"/>
          <p:cNvSpPr txBox="1"/>
          <p:nvPr/>
        </p:nvSpPr>
        <p:spPr>
          <a:xfrm>
            <a:off x="-3215575" y="270325"/>
            <a:ext cx="819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152" name="Google Shape;152;p8"/>
          <p:cNvPicPr preferRelativeResize="0"/>
          <p:nvPr/>
        </p:nvPicPr>
        <p:blipFill>
          <a:blip r:embed="rId4">
            <a:alphaModFix/>
          </a:blip>
          <a:stretch>
            <a:fillRect/>
          </a:stretch>
        </p:blipFill>
        <p:spPr>
          <a:xfrm>
            <a:off x="6657000" y="1905975"/>
            <a:ext cx="4140375" cy="4074376"/>
          </a:xfrm>
          <a:prstGeom prst="rect">
            <a:avLst/>
          </a:prstGeom>
          <a:noFill/>
          <a:ln>
            <a:noFill/>
          </a:ln>
        </p:spPr>
      </p:pic>
      <p:pic>
        <p:nvPicPr>
          <p:cNvPr id="153" name="Google Shape;153;p8"/>
          <p:cNvPicPr preferRelativeResize="0"/>
          <p:nvPr/>
        </p:nvPicPr>
        <p:blipFill>
          <a:blip r:embed="rId5">
            <a:alphaModFix/>
          </a:blip>
          <a:stretch>
            <a:fillRect/>
          </a:stretch>
        </p:blipFill>
        <p:spPr>
          <a:xfrm>
            <a:off x="1042625" y="0"/>
            <a:ext cx="4445600" cy="7274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9"/>
          <p:cNvSpPr txBox="1"/>
          <p:nvPr/>
        </p:nvSpPr>
        <p:spPr>
          <a:xfrm>
            <a:off x="932354" y="381002"/>
            <a:ext cx="9815700" cy="741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3600"/>
              <a:buFont typeface="Work Sans"/>
              <a:buNone/>
            </a:pPr>
            <a:r>
              <a:rPr b="1" i="0" lang="es-CO" sz="3600" u="none" cap="none" strike="noStrike">
                <a:solidFill>
                  <a:srgbClr val="38AA00"/>
                </a:solidFill>
                <a:latin typeface="Work Sans"/>
                <a:ea typeface="Work Sans"/>
                <a:cs typeface="Work Sans"/>
                <a:sym typeface="Work Sans"/>
              </a:rPr>
              <a:t>Objetivo general</a:t>
            </a:r>
            <a:endParaRPr b="0" i="0" sz="1400" u="none" cap="none" strike="noStrike">
              <a:solidFill>
                <a:srgbClr val="38AA00"/>
              </a:solidFill>
              <a:latin typeface="Arial"/>
              <a:ea typeface="Arial"/>
              <a:cs typeface="Arial"/>
              <a:sym typeface="Arial"/>
            </a:endParaRPr>
          </a:p>
        </p:txBody>
      </p:sp>
      <p:sp>
        <p:nvSpPr>
          <p:cNvPr id="159" name="Google Shape;159;p9"/>
          <p:cNvSpPr txBox="1"/>
          <p:nvPr/>
        </p:nvSpPr>
        <p:spPr>
          <a:xfrm>
            <a:off x="693600" y="1744975"/>
            <a:ext cx="5657700" cy="37389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900"/>
              <a:buFont typeface="Arial"/>
              <a:buNone/>
            </a:pPr>
            <a:r>
              <a:t/>
            </a:r>
            <a:endParaRPr b="1" i="0" sz="19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lang="es-CO" sz="1700">
                <a:solidFill>
                  <a:schemeClr val="dk1"/>
                </a:solidFill>
              </a:rPr>
              <a:t>Desarrollar un sistema de información web y móvil para el club deportivo </a:t>
            </a:r>
            <a:r>
              <a:rPr i="1" lang="es-CO" sz="1700">
                <a:solidFill>
                  <a:schemeClr val="dk1"/>
                </a:solidFill>
              </a:rPr>
              <a:t>Blood Tigers Cheers</a:t>
            </a:r>
            <a:r>
              <a:rPr lang="es-CO" sz="1700">
                <a:solidFill>
                  <a:schemeClr val="dk1"/>
                </a:solidFill>
              </a:rPr>
              <a:t>, que permita optimizar los procesos relacionados con las</a:t>
            </a:r>
            <a:r>
              <a:rPr b="1" lang="es-CO" sz="1700">
                <a:solidFill>
                  <a:schemeClr val="dk1"/>
                </a:solidFill>
              </a:rPr>
              <a:t> </a:t>
            </a:r>
            <a:r>
              <a:rPr lang="es-CO" sz="1700">
                <a:solidFill>
                  <a:schemeClr val="dk1"/>
                </a:solidFill>
              </a:rPr>
              <a:t>inscripciones de los deportistas, la organización de horarios (clases, entrenamientos y eventos), el registro y gestión de PQRS, el seguimiento y calificación del rendimiento de los atletas, así como el control de los elementos deportivos. Con el fin de mejorar la organización, el seguimiento de la información y la eficiencia en el desarrollo de estas actividades dentro del club</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sng"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s-CO" sz="1800" u="sng" cap="none" strike="noStrike">
                <a:solidFill>
                  <a:schemeClr val="dk1"/>
                </a:solidFill>
                <a:latin typeface="Calibri"/>
                <a:ea typeface="Calibri"/>
                <a:cs typeface="Calibri"/>
                <a:sym typeface="Calibri"/>
              </a:rPr>
              <a:t> </a:t>
            </a:r>
            <a:endParaRPr b="1" i="0" sz="1800" u="sng"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sp>
        <p:nvSpPr>
          <p:cNvPr id="160" name="Google Shape;160;p9"/>
          <p:cNvSpPr txBox="1"/>
          <p:nvPr/>
        </p:nvSpPr>
        <p:spPr>
          <a:xfrm>
            <a:off x="11580535" y="6106250"/>
            <a:ext cx="35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9</a:t>
            </a:r>
            <a:endParaRPr b="0" i="0" sz="1400" u="none" cap="none" strike="noStrike">
              <a:solidFill>
                <a:srgbClr val="000000"/>
              </a:solidFill>
              <a:latin typeface="Arial"/>
              <a:ea typeface="Arial"/>
              <a:cs typeface="Arial"/>
              <a:sym typeface="Arial"/>
            </a:endParaRPr>
          </a:p>
        </p:txBody>
      </p:sp>
      <p:cxnSp>
        <p:nvCxnSpPr>
          <p:cNvPr id="161" name="Google Shape;161;p9"/>
          <p:cNvCxnSpPr/>
          <p:nvPr/>
        </p:nvCxnSpPr>
        <p:spPr>
          <a:xfrm flipH="1" rot="10800000">
            <a:off x="1012949" y="1047872"/>
            <a:ext cx="5019000" cy="9600"/>
          </a:xfrm>
          <a:prstGeom prst="straightConnector1">
            <a:avLst/>
          </a:prstGeom>
          <a:noFill/>
          <a:ln cap="flat" cmpd="sng" w="12700">
            <a:solidFill>
              <a:srgbClr val="4D4D4C"/>
            </a:solidFill>
            <a:prstDash val="solid"/>
            <a:miter lim="800000"/>
            <a:headEnd len="sm" w="sm" type="none"/>
            <a:tailEnd len="sm" w="sm" type="none"/>
          </a:ln>
        </p:spPr>
      </p:cxnSp>
      <p:pic>
        <p:nvPicPr>
          <p:cNvPr id="162" name="Google Shape;162;p9"/>
          <p:cNvPicPr preferRelativeResize="0"/>
          <p:nvPr/>
        </p:nvPicPr>
        <p:blipFill rotWithShape="1">
          <a:blip r:embed="rId4">
            <a:alphaModFix/>
          </a:blip>
          <a:srcRect b="0" l="0" r="0" t="0"/>
          <a:stretch/>
        </p:blipFill>
        <p:spPr>
          <a:xfrm>
            <a:off x="6709325" y="1704302"/>
            <a:ext cx="5221301" cy="38202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10"/>
          <p:cNvSpPr txBox="1"/>
          <p:nvPr/>
        </p:nvSpPr>
        <p:spPr>
          <a:xfrm>
            <a:off x="311614" y="355577"/>
            <a:ext cx="9815700" cy="741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3600"/>
              <a:buFont typeface="Work Sans"/>
              <a:buNone/>
            </a:pPr>
            <a:r>
              <a:rPr b="1" i="0" lang="es-CO" sz="3600" u="none" cap="none" strike="noStrike">
                <a:solidFill>
                  <a:srgbClr val="38AA00"/>
                </a:solidFill>
                <a:latin typeface="Work Sans"/>
                <a:ea typeface="Work Sans"/>
                <a:cs typeface="Work Sans"/>
                <a:sym typeface="Work Sans"/>
              </a:rPr>
              <a:t>Objetivos Específicos</a:t>
            </a:r>
            <a:endParaRPr b="0" i="0" sz="1400" u="none" cap="none" strike="noStrike">
              <a:solidFill>
                <a:srgbClr val="38AA00"/>
              </a:solidFill>
              <a:latin typeface="Arial"/>
              <a:ea typeface="Arial"/>
              <a:cs typeface="Arial"/>
              <a:sym typeface="Arial"/>
            </a:endParaRPr>
          </a:p>
        </p:txBody>
      </p:sp>
      <p:sp>
        <p:nvSpPr>
          <p:cNvPr id="168" name="Google Shape;168;p10"/>
          <p:cNvSpPr txBox="1"/>
          <p:nvPr/>
        </p:nvSpPr>
        <p:spPr>
          <a:xfrm>
            <a:off x="11580521" y="6106250"/>
            <a:ext cx="501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cxnSp>
        <p:nvCxnSpPr>
          <p:cNvPr id="169" name="Google Shape;169;p10"/>
          <p:cNvCxnSpPr/>
          <p:nvPr/>
        </p:nvCxnSpPr>
        <p:spPr>
          <a:xfrm flipH="1" rot="10800000">
            <a:off x="382324" y="988747"/>
            <a:ext cx="5019000" cy="9600"/>
          </a:xfrm>
          <a:prstGeom prst="straightConnector1">
            <a:avLst/>
          </a:prstGeom>
          <a:noFill/>
          <a:ln cap="flat" cmpd="sng" w="12700">
            <a:solidFill>
              <a:srgbClr val="4D4D4C"/>
            </a:solidFill>
            <a:prstDash val="solid"/>
            <a:miter lim="800000"/>
            <a:headEnd len="sm" w="sm" type="none"/>
            <a:tailEnd len="sm" w="sm" type="none"/>
          </a:ln>
        </p:spPr>
      </p:cxnSp>
      <p:pic>
        <p:nvPicPr>
          <p:cNvPr id="170" name="Google Shape;170;p10" title="Objetivos Especificos - visual selection (1).png"/>
          <p:cNvPicPr preferRelativeResize="0"/>
          <p:nvPr/>
        </p:nvPicPr>
        <p:blipFill>
          <a:blip r:embed="rId4">
            <a:alphaModFix/>
          </a:blip>
          <a:stretch>
            <a:fillRect/>
          </a:stretch>
        </p:blipFill>
        <p:spPr>
          <a:xfrm>
            <a:off x="411462" y="842650"/>
            <a:ext cx="11369074" cy="590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11"/>
          <p:cNvSpPr txBox="1"/>
          <p:nvPr/>
        </p:nvSpPr>
        <p:spPr>
          <a:xfrm>
            <a:off x="823449" y="296875"/>
            <a:ext cx="30528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Delimitación y alcance</a:t>
            </a:r>
            <a:endParaRPr b="1" i="0" sz="3600" u="none" cap="none" strike="noStrike">
              <a:solidFill>
                <a:srgbClr val="38AA00"/>
              </a:solidFill>
              <a:latin typeface="Work Sans"/>
              <a:ea typeface="Work Sans"/>
              <a:cs typeface="Work Sans"/>
              <a:sym typeface="Work Sans"/>
            </a:endParaRPr>
          </a:p>
        </p:txBody>
      </p:sp>
      <p:sp>
        <p:nvSpPr>
          <p:cNvPr id="176" name="Google Shape;176;p11"/>
          <p:cNvSpPr txBox="1"/>
          <p:nvPr/>
        </p:nvSpPr>
        <p:spPr>
          <a:xfrm>
            <a:off x="823450" y="2132750"/>
            <a:ext cx="6529500" cy="2955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100"/>
              <a:buFont typeface="Arial"/>
              <a:buNone/>
            </a:pPr>
            <a:r>
              <a:rPr lang="es-CO" sz="1800">
                <a:solidFill>
                  <a:schemeClr val="dk1"/>
                </a:solidFill>
              </a:rPr>
              <a:t>El sistema será desarrollado para el club deportivo “Blood Tigers Cheers” en un periodo estimado de 21 meses (7 trimestres). Durante este tiempo se implementará un sistema capaz de optimizar estos procesos, permitirá administrar las inscripciones de los deportistas, organizar los horarios, gestionar las PQRS, evaluar el rendimiento de los atletas y llevar control de los elementos deportivos, con el fin de mejorar la organización y eficiencia de los procesos del club.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177" name="Google Shape;177;p11"/>
          <p:cNvCxnSpPr/>
          <p:nvPr/>
        </p:nvCxnSpPr>
        <p:spPr>
          <a:xfrm flipH="1" rot="10800000">
            <a:off x="823449" y="1398655"/>
            <a:ext cx="3338400" cy="24300"/>
          </a:xfrm>
          <a:prstGeom prst="straightConnector1">
            <a:avLst/>
          </a:prstGeom>
          <a:noFill/>
          <a:ln cap="flat" cmpd="sng" w="12700">
            <a:solidFill>
              <a:srgbClr val="4D4D4C"/>
            </a:solidFill>
            <a:prstDash val="solid"/>
            <a:miter lim="800000"/>
            <a:headEnd len="sm" w="sm" type="none"/>
            <a:tailEnd len="sm" w="sm" type="none"/>
          </a:ln>
        </p:spPr>
      </p:cxnSp>
      <p:pic>
        <p:nvPicPr>
          <p:cNvPr id="178" name="Google Shape;178;p11"/>
          <p:cNvPicPr preferRelativeResize="0"/>
          <p:nvPr/>
        </p:nvPicPr>
        <p:blipFill rotWithShape="1">
          <a:blip r:embed="rId4">
            <a:alphaModFix/>
          </a:blip>
          <a:srcRect b="0" l="0" r="0" t="0"/>
          <a:stretch/>
        </p:blipFill>
        <p:spPr>
          <a:xfrm>
            <a:off x="8129500" y="1867450"/>
            <a:ext cx="3123100" cy="3123100"/>
          </a:xfrm>
          <a:prstGeom prst="rect">
            <a:avLst/>
          </a:prstGeom>
          <a:noFill/>
          <a:ln>
            <a:noFill/>
          </a:ln>
        </p:spPr>
      </p:pic>
      <p:sp>
        <p:nvSpPr>
          <p:cNvPr id="179" name="Google Shape;179;p11"/>
          <p:cNvSpPr txBox="1"/>
          <p:nvPr/>
        </p:nvSpPr>
        <p:spPr>
          <a:xfrm>
            <a:off x="11341318" y="6106250"/>
            <a:ext cx="589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 name="Shape 183"/>
        <p:cNvGrpSpPr/>
        <p:nvPr/>
      </p:nvGrpSpPr>
      <p:grpSpPr>
        <a:xfrm>
          <a:off x="0" y="0"/>
          <a:ext cx="0" cy="0"/>
          <a:chOff x="0" y="0"/>
          <a:chExt cx="0" cy="0"/>
        </a:xfrm>
      </p:grpSpPr>
      <p:sp>
        <p:nvSpPr>
          <p:cNvPr id="184" name="Google Shape;184;p12"/>
          <p:cNvSpPr txBox="1"/>
          <p:nvPr/>
        </p:nvSpPr>
        <p:spPr>
          <a:xfrm>
            <a:off x="2693025" y="2644050"/>
            <a:ext cx="7054800" cy="1569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6000"/>
              <a:buFont typeface="Work Sans"/>
              <a:buNone/>
            </a:pPr>
            <a:r>
              <a:rPr b="1" i="0" lang="es-CO" sz="4800" u="none" cap="none" strike="noStrike">
                <a:solidFill>
                  <a:schemeClr val="lt1"/>
                </a:solidFill>
                <a:latin typeface="Arial"/>
                <a:ea typeface="Arial"/>
                <a:cs typeface="Arial"/>
                <a:sym typeface="Arial"/>
              </a:rPr>
              <a:t>Entregable N° 2 Diagrama de Procesos</a:t>
            </a:r>
            <a:endParaRPr b="1" i="0" sz="4800" u="none" cap="none" strike="noStrike">
              <a:solidFill>
                <a:schemeClr val="lt1"/>
              </a:solidFill>
              <a:latin typeface="Arial"/>
              <a:ea typeface="Arial"/>
              <a:cs typeface="Arial"/>
              <a:sym typeface="Arial"/>
            </a:endParaRPr>
          </a:p>
        </p:txBody>
      </p:sp>
      <p:cxnSp>
        <p:nvCxnSpPr>
          <p:cNvPr id="185" name="Google Shape;185;p12"/>
          <p:cNvCxnSpPr/>
          <p:nvPr/>
        </p:nvCxnSpPr>
        <p:spPr>
          <a:xfrm>
            <a:off x="2458125" y="4239975"/>
            <a:ext cx="7524600" cy="384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13"/>
          <p:cNvSpPr txBox="1"/>
          <p:nvPr/>
        </p:nvSpPr>
        <p:spPr>
          <a:xfrm>
            <a:off x="828875" y="529250"/>
            <a:ext cx="9933600" cy="1381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Diagrama de proceso - Gestión de horarios</a:t>
            </a:r>
            <a:endParaRPr b="1" i="0" sz="3600" u="none" cap="none" strike="noStrike">
              <a:solidFill>
                <a:srgbClr val="38AA00"/>
              </a:solidFill>
              <a:latin typeface="Work Sans"/>
              <a:ea typeface="Work Sans"/>
              <a:cs typeface="Work Sans"/>
              <a:sym typeface="Work Sans"/>
            </a:endParaRPr>
          </a:p>
        </p:txBody>
      </p:sp>
      <p:sp>
        <p:nvSpPr>
          <p:cNvPr id="191" name="Google Shape;191;p13"/>
          <p:cNvSpPr txBox="1"/>
          <p:nvPr/>
        </p:nvSpPr>
        <p:spPr>
          <a:xfrm>
            <a:off x="354975" y="2470350"/>
            <a:ext cx="66879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192" name="Google Shape;192;p13"/>
          <p:cNvCxnSpPr>
            <a:stCxn id="190" idx="1"/>
            <a:endCxn id="190" idx="3"/>
          </p:cNvCxnSpPr>
          <p:nvPr/>
        </p:nvCxnSpPr>
        <p:spPr>
          <a:xfrm>
            <a:off x="828875" y="1220000"/>
            <a:ext cx="9933600" cy="0"/>
          </a:xfrm>
          <a:prstGeom prst="straightConnector1">
            <a:avLst/>
          </a:prstGeom>
          <a:noFill/>
          <a:ln cap="flat" cmpd="sng" w="12700">
            <a:solidFill>
              <a:srgbClr val="4D4D4C"/>
            </a:solidFill>
            <a:prstDash val="solid"/>
            <a:miter lim="800000"/>
            <a:headEnd len="sm" w="sm" type="none"/>
            <a:tailEnd len="sm" w="sm" type="none"/>
          </a:ln>
        </p:spPr>
      </p:cxnSp>
      <p:pic>
        <p:nvPicPr>
          <p:cNvPr id="193" name="Google Shape;193;p13"/>
          <p:cNvPicPr preferRelativeResize="0"/>
          <p:nvPr/>
        </p:nvPicPr>
        <p:blipFill rotWithShape="1">
          <a:blip r:embed="rId4">
            <a:alphaModFix/>
          </a:blip>
          <a:srcRect b="0" l="0" r="0" t="0"/>
          <a:stretch/>
        </p:blipFill>
        <p:spPr>
          <a:xfrm>
            <a:off x="925800" y="1385175"/>
            <a:ext cx="8836064" cy="5118674"/>
          </a:xfrm>
          <a:prstGeom prst="rect">
            <a:avLst/>
          </a:prstGeom>
          <a:noFill/>
          <a:ln>
            <a:noFill/>
          </a:ln>
        </p:spPr>
      </p:pic>
      <p:sp>
        <p:nvSpPr>
          <p:cNvPr id="194" name="Google Shape;194;p13"/>
          <p:cNvSpPr txBox="1"/>
          <p:nvPr/>
        </p:nvSpPr>
        <p:spPr>
          <a:xfrm>
            <a:off x="11354144" y="6106250"/>
            <a:ext cx="576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p15"/>
          <p:cNvSpPr txBox="1"/>
          <p:nvPr/>
        </p:nvSpPr>
        <p:spPr>
          <a:xfrm>
            <a:off x="828875" y="529250"/>
            <a:ext cx="9933600" cy="1381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300" u="none" cap="none" strike="noStrike">
                <a:solidFill>
                  <a:srgbClr val="38AA00"/>
                </a:solidFill>
                <a:latin typeface="Work Sans"/>
                <a:ea typeface="Work Sans"/>
                <a:cs typeface="Work Sans"/>
                <a:sym typeface="Work Sans"/>
              </a:rPr>
              <a:t>Diagrama de proceso – Calificación de Atletas</a:t>
            </a:r>
            <a:endParaRPr b="1" i="0" sz="3300" u="none" cap="none" strike="noStrike">
              <a:solidFill>
                <a:srgbClr val="38AA00"/>
              </a:solidFill>
              <a:latin typeface="Work Sans"/>
              <a:ea typeface="Work Sans"/>
              <a:cs typeface="Work Sans"/>
              <a:sym typeface="Work Sans"/>
            </a:endParaRPr>
          </a:p>
          <a:p>
            <a:pPr indent="0" lvl="0" marL="0" marR="0" rtl="0" algn="l">
              <a:lnSpc>
                <a:spcPct val="90000"/>
              </a:lnSpc>
              <a:spcBef>
                <a:spcPts val="0"/>
              </a:spcBef>
              <a:spcAft>
                <a:spcPts val="0"/>
              </a:spcAft>
              <a:buClr>
                <a:srgbClr val="38AA00"/>
              </a:buClr>
              <a:buSzPts val="3600"/>
              <a:buFont typeface="Work Sans"/>
              <a:buNone/>
            </a:pPr>
            <a:r>
              <a:t/>
            </a:r>
            <a:endParaRPr b="1" i="0" sz="3600" u="none" cap="none" strike="noStrike">
              <a:solidFill>
                <a:srgbClr val="38AA00"/>
              </a:solidFill>
              <a:latin typeface="Work Sans"/>
              <a:ea typeface="Work Sans"/>
              <a:cs typeface="Work Sans"/>
              <a:sym typeface="Work Sans"/>
            </a:endParaRPr>
          </a:p>
        </p:txBody>
      </p:sp>
      <p:sp>
        <p:nvSpPr>
          <p:cNvPr id="200" name="Google Shape;200;p15"/>
          <p:cNvSpPr txBox="1"/>
          <p:nvPr/>
        </p:nvSpPr>
        <p:spPr>
          <a:xfrm>
            <a:off x="354975" y="2470350"/>
            <a:ext cx="66879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201" name="Google Shape;201;p15"/>
          <p:cNvCxnSpPr>
            <a:stCxn id="199" idx="1"/>
            <a:endCxn id="199" idx="3"/>
          </p:cNvCxnSpPr>
          <p:nvPr/>
        </p:nvCxnSpPr>
        <p:spPr>
          <a:xfrm>
            <a:off x="828875" y="1220000"/>
            <a:ext cx="9933600" cy="0"/>
          </a:xfrm>
          <a:prstGeom prst="straightConnector1">
            <a:avLst/>
          </a:prstGeom>
          <a:noFill/>
          <a:ln cap="flat" cmpd="sng" w="12700">
            <a:solidFill>
              <a:srgbClr val="4D4D4C"/>
            </a:solidFill>
            <a:prstDash val="solid"/>
            <a:miter lim="800000"/>
            <a:headEnd len="sm" w="sm" type="none"/>
            <a:tailEnd len="sm" w="sm" type="none"/>
          </a:ln>
        </p:spPr>
      </p:cxnSp>
      <p:sp>
        <p:nvSpPr>
          <p:cNvPr id="202" name="Google Shape;202;p15"/>
          <p:cNvSpPr txBox="1"/>
          <p:nvPr/>
        </p:nvSpPr>
        <p:spPr>
          <a:xfrm>
            <a:off x="11580534" y="6106250"/>
            <a:ext cx="503613"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14</a:t>
            </a:r>
            <a:endParaRPr b="0" i="0" sz="1400" u="none" cap="none" strike="noStrike">
              <a:solidFill>
                <a:srgbClr val="000000"/>
              </a:solidFill>
              <a:latin typeface="Arial"/>
              <a:ea typeface="Arial"/>
              <a:cs typeface="Arial"/>
              <a:sym typeface="Arial"/>
            </a:endParaRPr>
          </a:p>
        </p:txBody>
      </p:sp>
      <p:pic>
        <p:nvPicPr>
          <p:cNvPr id="203" name="Google Shape;203;p15"/>
          <p:cNvPicPr preferRelativeResize="0"/>
          <p:nvPr/>
        </p:nvPicPr>
        <p:blipFill>
          <a:blip r:embed="rId4">
            <a:alphaModFix/>
          </a:blip>
          <a:stretch>
            <a:fillRect/>
          </a:stretch>
        </p:blipFill>
        <p:spPr>
          <a:xfrm>
            <a:off x="424550" y="1416875"/>
            <a:ext cx="10844579" cy="515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7" name="Shape 207"/>
        <p:cNvGrpSpPr/>
        <p:nvPr/>
      </p:nvGrpSpPr>
      <p:grpSpPr>
        <a:xfrm>
          <a:off x="0" y="0"/>
          <a:ext cx="0" cy="0"/>
          <a:chOff x="0" y="0"/>
          <a:chExt cx="0" cy="0"/>
        </a:xfrm>
      </p:grpSpPr>
      <p:sp>
        <p:nvSpPr>
          <p:cNvPr id="208" name="Google Shape;208;p16"/>
          <p:cNvSpPr txBox="1"/>
          <p:nvPr/>
        </p:nvSpPr>
        <p:spPr>
          <a:xfrm>
            <a:off x="828875" y="529250"/>
            <a:ext cx="9933600" cy="1381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Diagrama de proceso – Inscripciones </a:t>
            </a:r>
            <a:endParaRPr b="1" i="0" sz="3600" u="none" cap="none" strike="noStrike">
              <a:solidFill>
                <a:srgbClr val="38AA00"/>
              </a:solidFill>
              <a:latin typeface="Work Sans"/>
              <a:ea typeface="Work Sans"/>
              <a:cs typeface="Work Sans"/>
              <a:sym typeface="Work Sans"/>
            </a:endParaRPr>
          </a:p>
          <a:p>
            <a:pPr indent="0" lvl="0" marL="0" marR="0" rtl="0" algn="l">
              <a:lnSpc>
                <a:spcPct val="90000"/>
              </a:lnSpc>
              <a:spcBef>
                <a:spcPts val="0"/>
              </a:spcBef>
              <a:spcAft>
                <a:spcPts val="0"/>
              </a:spcAft>
              <a:buClr>
                <a:srgbClr val="38AA00"/>
              </a:buClr>
              <a:buSzPts val="3600"/>
              <a:buFont typeface="Work Sans"/>
              <a:buNone/>
            </a:pPr>
            <a:r>
              <a:t/>
            </a:r>
            <a:endParaRPr b="1" i="0" sz="3600" u="none" cap="none" strike="noStrike">
              <a:solidFill>
                <a:srgbClr val="38AA00"/>
              </a:solidFill>
              <a:latin typeface="Work Sans"/>
              <a:ea typeface="Work Sans"/>
              <a:cs typeface="Work Sans"/>
              <a:sym typeface="Work Sans"/>
            </a:endParaRPr>
          </a:p>
        </p:txBody>
      </p:sp>
      <p:sp>
        <p:nvSpPr>
          <p:cNvPr id="209" name="Google Shape;209;p16"/>
          <p:cNvSpPr txBox="1"/>
          <p:nvPr/>
        </p:nvSpPr>
        <p:spPr>
          <a:xfrm>
            <a:off x="354975" y="2470350"/>
            <a:ext cx="66879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210" name="Google Shape;210;p16"/>
          <p:cNvCxnSpPr>
            <a:stCxn id="208" idx="1"/>
            <a:endCxn id="208" idx="3"/>
          </p:cNvCxnSpPr>
          <p:nvPr/>
        </p:nvCxnSpPr>
        <p:spPr>
          <a:xfrm>
            <a:off x="828875" y="1220000"/>
            <a:ext cx="9933600" cy="0"/>
          </a:xfrm>
          <a:prstGeom prst="straightConnector1">
            <a:avLst/>
          </a:prstGeom>
          <a:noFill/>
          <a:ln cap="flat" cmpd="sng" w="12700">
            <a:solidFill>
              <a:srgbClr val="4D4D4C"/>
            </a:solidFill>
            <a:prstDash val="solid"/>
            <a:miter lim="800000"/>
            <a:headEnd len="sm" w="sm" type="none"/>
            <a:tailEnd len="sm" w="sm" type="none"/>
          </a:ln>
        </p:spPr>
      </p:cxnSp>
      <p:sp>
        <p:nvSpPr>
          <p:cNvPr id="211" name="Google Shape;211;p16"/>
          <p:cNvSpPr txBox="1"/>
          <p:nvPr/>
        </p:nvSpPr>
        <p:spPr>
          <a:xfrm>
            <a:off x="11580534" y="6106250"/>
            <a:ext cx="503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p:txBody>
      </p:sp>
      <p:pic>
        <p:nvPicPr>
          <p:cNvPr id="212" name="Google Shape;212;p16"/>
          <p:cNvPicPr preferRelativeResize="0"/>
          <p:nvPr/>
        </p:nvPicPr>
        <p:blipFill>
          <a:blip r:embed="rId4">
            <a:alphaModFix/>
          </a:blip>
          <a:stretch>
            <a:fillRect/>
          </a:stretch>
        </p:blipFill>
        <p:spPr>
          <a:xfrm>
            <a:off x="304800" y="2002788"/>
            <a:ext cx="11275735" cy="28524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sp>
        <p:nvSpPr>
          <p:cNvPr id="217" name="Google Shape;217;g39439f1cb08_5_1"/>
          <p:cNvSpPr txBox="1"/>
          <p:nvPr/>
        </p:nvSpPr>
        <p:spPr>
          <a:xfrm>
            <a:off x="828875" y="529250"/>
            <a:ext cx="9933600" cy="1381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Diagrama de proceso – PQRS</a:t>
            </a:r>
            <a:endParaRPr b="1" i="0" sz="3600" u="none" cap="none" strike="noStrike">
              <a:solidFill>
                <a:srgbClr val="38AA00"/>
              </a:solidFill>
              <a:latin typeface="Work Sans"/>
              <a:ea typeface="Work Sans"/>
              <a:cs typeface="Work Sans"/>
              <a:sym typeface="Work Sans"/>
            </a:endParaRPr>
          </a:p>
          <a:p>
            <a:pPr indent="0" lvl="0" marL="0" marR="0" rtl="0" algn="l">
              <a:lnSpc>
                <a:spcPct val="90000"/>
              </a:lnSpc>
              <a:spcBef>
                <a:spcPts val="0"/>
              </a:spcBef>
              <a:spcAft>
                <a:spcPts val="0"/>
              </a:spcAft>
              <a:buClr>
                <a:srgbClr val="38AA00"/>
              </a:buClr>
              <a:buSzPts val="3600"/>
              <a:buFont typeface="Work Sans"/>
              <a:buNone/>
            </a:pPr>
            <a:r>
              <a:t/>
            </a:r>
            <a:endParaRPr b="1" i="0" sz="3600" u="none" cap="none" strike="noStrike">
              <a:solidFill>
                <a:srgbClr val="38AA00"/>
              </a:solidFill>
              <a:latin typeface="Work Sans"/>
              <a:ea typeface="Work Sans"/>
              <a:cs typeface="Work Sans"/>
              <a:sym typeface="Work Sans"/>
            </a:endParaRPr>
          </a:p>
        </p:txBody>
      </p:sp>
      <p:sp>
        <p:nvSpPr>
          <p:cNvPr id="218" name="Google Shape;218;g39439f1cb08_5_1"/>
          <p:cNvSpPr txBox="1"/>
          <p:nvPr/>
        </p:nvSpPr>
        <p:spPr>
          <a:xfrm>
            <a:off x="354975" y="2470350"/>
            <a:ext cx="66879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219" name="Google Shape;219;g39439f1cb08_5_1"/>
          <p:cNvCxnSpPr>
            <a:stCxn id="217" idx="1"/>
            <a:endCxn id="217" idx="3"/>
          </p:cNvCxnSpPr>
          <p:nvPr/>
        </p:nvCxnSpPr>
        <p:spPr>
          <a:xfrm>
            <a:off x="828875" y="1220000"/>
            <a:ext cx="9933600" cy="0"/>
          </a:xfrm>
          <a:prstGeom prst="straightConnector1">
            <a:avLst/>
          </a:prstGeom>
          <a:noFill/>
          <a:ln cap="flat" cmpd="sng" w="12700">
            <a:solidFill>
              <a:srgbClr val="4D4D4C"/>
            </a:solidFill>
            <a:prstDash val="solid"/>
            <a:miter lim="800000"/>
            <a:headEnd len="sm" w="sm" type="none"/>
            <a:tailEnd len="sm" w="sm" type="none"/>
          </a:ln>
        </p:spPr>
      </p:cxnSp>
      <p:sp>
        <p:nvSpPr>
          <p:cNvPr id="220" name="Google Shape;220;g39439f1cb08_5_1"/>
          <p:cNvSpPr txBox="1"/>
          <p:nvPr/>
        </p:nvSpPr>
        <p:spPr>
          <a:xfrm>
            <a:off x="11580534" y="6106250"/>
            <a:ext cx="503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p:txBody>
      </p:sp>
      <p:pic>
        <p:nvPicPr>
          <p:cNvPr id="221" name="Google Shape;221;g39439f1cb08_5_1"/>
          <p:cNvPicPr preferRelativeResize="0"/>
          <p:nvPr/>
        </p:nvPicPr>
        <p:blipFill>
          <a:blip r:embed="rId4">
            <a:alphaModFix/>
          </a:blip>
          <a:stretch>
            <a:fillRect/>
          </a:stretch>
        </p:blipFill>
        <p:spPr>
          <a:xfrm>
            <a:off x="354975" y="1490925"/>
            <a:ext cx="11225550" cy="43996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5" name="Shape 225"/>
        <p:cNvGrpSpPr/>
        <p:nvPr/>
      </p:nvGrpSpPr>
      <p:grpSpPr>
        <a:xfrm>
          <a:off x="0" y="0"/>
          <a:ext cx="0" cy="0"/>
          <a:chOff x="0" y="0"/>
          <a:chExt cx="0" cy="0"/>
        </a:xfrm>
      </p:grpSpPr>
      <p:sp>
        <p:nvSpPr>
          <p:cNvPr id="226" name="Google Shape;226;g3cfab8e1179_1_10"/>
          <p:cNvSpPr txBox="1"/>
          <p:nvPr/>
        </p:nvSpPr>
        <p:spPr>
          <a:xfrm>
            <a:off x="117950" y="529250"/>
            <a:ext cx="11222700" cy="1381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Diagrama de proceso – </a:t>
            </a:r>
            <a:r>
              <a:rPr b="1" lang="es-CO" sz="3600">
                <a:solidFill>
                  <a:srgbClr val="38AA00"/>
                </a:solidFill>
                <a:latin typeface="Work Sans"/>
                <a:ea typeface="Work Sans"/>
                <a:cs typeface="Work Sans"/>
                <a:sym typeface="Work Sans"/>
              </a:rPr>
              <a:t>Elementos deportivos</a:t>
            </a:r>
            <a:endParaRPr b="1" i="0" sz="3600" u="none" cap="none" strike="noStrike">
              <a:solidFill>
                <a:srgbClr val="38AA00"/>
              </a:solidFill>
              <a:latin typeface="Work Sans"/>
              <a:ea typeface="Work Sans"/>
              <a:cs typeface="Work Sans"/>
              <a:sym typeface="Work Sans"/>
            </a:endParaRPr>
          </a:p>
          <a:p>
            <a:pPr indent="0" lvl="0" marL="0" marR="0" rtl="0" algn="l">
              <a:lnSpc>
                <a:spcPct val="90000"/>
              </a:lnSpc>
              <a:spcBef>
                <a:spcPts val="0"/>
              </a:spcBef>
              <a:spcAft>
                <a:spcPts val="0"/>
              </a:spcAft>
              <a:buClr>
                <a:srgbClr val="38AA00"/>
              </a:buClr>
              <a:buSzPts val="3600"/>
              <a:buFont typeface="Work Sans"/>
              <a:buNone/>
            </a:pPr>
            <a:r>
              <a:t/>
            </a:r>
            <a:endParaRPr b="1" i="0" sz="3600" u="none" cap="none" strike="noStrike">
              <a:solidFill>
                <a:srgbClr val="38AA00"/>
              </a:solidFill>
              <a:latin typeface="Work Sans"/>
              <a:ea typeface="Work Sans"/>
              <a:cs typeface="Work Sans"/>
              <a:sym typeface="Work Sans"/>
            </a:endParaRPr>
          </a:p>
        </p:txBody>
      </p:sp>
      <p:sp>
        <p:nvSpPr>
          <p:cNvPr id="227" name="Google Shape;227;g3cfab8e1179_1_10"/>
          <p:cNvSpPr txBox="1"/>
          <p:nvPr/>
        </p:nvSpPr>
        <p:spPr>
          <a:xfrm>
            <a:off x="354975" y="2470350"/>
            <a:ext cx="66879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228" name="Google Shape;228;g3cfab8e1179_1_10"/>
          <p:cNvCxnSpPr>
            <a:stCxn id="226" idx="1"/>
            <a:endCxn id="226" idx="3"/>
          </p:cNvCxnSpPr>
          <p:nvPr/>
        </p:nvCxnSpPr>
        <p:spPr>
          <a:xfrm>
            <a:off x="117950" y="1220000"/>
            <a:ext cx="11222700" cy="0"/>
          </a:xfrm>
          <a:prstGeom prst="straightConnector1">
            <a:avLst/>
          </a:prstGeom>
          <a:noFill/>
          <a:ln cap="flat" cmpd="sng" w="12700">
            <a:solidFill>
              <a:srgbClr val="4D4D4C"/>
            </a:solidFill>
            <a:prstDash val="solid"/>
            <a:miter lim="800000"/>
            <a:headEnd len="sm" w="sm" type="none"/>
            <a:tailEnd len="sm" w="sm" type="none"/>
          </a:ln>
        </p:spPr>
      </p:cxnSp>
      <p:sp>
        <p:nvSpPr>
          <p:cNvPr id="229" name="Google Shape;229;g3cfab8e1179_1_10"/>
          <p:cNvSpPr txBox="1"/>
          <p:nvPr/>
        </p:nvSpPr>
        <p:spPr>
          <a:xfrm>
            <a:off x="11580534" y="6106250"/>
            <a:ext cx="503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p:txBody>
      </p:sp>
      <p:pic>
        <p:nvPicPr>
          <p:cNvPr id="230" name="Google Shape;230;g3cfab8e1179_1_10"/>
          <p:cNvPicPr preferRelativeResize="0"/>
          <p:nvPr/>
        </p:nvPicPr>
        <p:blipFill>
          <a:blip r:embed="rId4">
            <a:alphaModFix/>
          </a:blip>
          <a:stretch>
            <a:fillRect/>
          </a:stretch>
        </p:blipFill>
        <p:spPr>
          <a:xfrm>
            <a:off x="275600" y="1859150"/>
            <a:ext cx="11222702" cy="35770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4" name="Shape 234"/>
        <p:cNvGrpSpPr/>
        <p:nvPr/>
      </p:nvGrpSpPr>
      <p:grpSpPr>
        <a:xfrm>
          <a:off x="0" y="0"/>
          <a:ext cx="0" cy="0"/>
          <a:chOff x="0" y="0"/>
          <a:chExt cx="0" cy="0"/>
        </a:xfrm>
      </p:grpSpPr>
      <p:sp>
        <p:nvSpPr>
          <p:cNvPr id="235" name="Google Shape;235;p17"/>
          <p:cNvSpPr txBox="1"/>
          <p:nvPr/>
        </p:nvSpPr>
        <p:spPr>
          <a:xfrm>
            <a:off x="1203451" y="2644049"/>
            <a:ext cx="9785100" cy="1569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6000"/>
              <a:buFont typeface="Work Sans"/>
              <a:buNone/>
            </a:pPr>
            <a:r>
              <a:rPr b="1" i="0" lang="es-CO" sz="4800" u="none" cap="none" strike="noStrike">
                <a:solidFill>
                  <a:schemeClr val="lt1"/>
                </a:solidFill>
                <a:latin typeface="Arial"/>
                <a:ea typeface="Arial"/>
                <a:cs typeface="Arial"/>
                <a:sym typeface="Arial"/>
              </a:rPr>
              <a:t>Entregable N° 3 </a:t>
            </a:r>
            <a:endParaRPr b="1" i="0" sz="4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6000"/>
              <a:buFont typeface="Work Sans"/>
              <a:buNone/>
            </a:pPr>
            <a:r>
              <a:rPr b="1" i="0" lang="es-CO" sz="4800" u="none" cap="none" strike="noStrike">
                <a:solidFill>
                  <a:schemeClr val="lt1"/>
                </a:solidFill>
                <a:latin typeface="Arial"/>
                <a:ea typeface="Arial"/>
                <a:cs typeface="Arial"/>
                <a:sym typeface="Arial"/>
              </a:rPr>
              <a:t>Técnica de recolección de datos</a:t>
            </a:r>
            <a:endParaRPr b="1" i="0" sz="4800" u="none" cap="none" strike="noStrike">
              <a:solidFill>
                <a:schemeClr val="lt1"/>
              </a:solidFill>
              <a:latin typeface="Arial"/>
              <a:ea typeface="Arial"/>
              <a:cs typeface="Arial"/>
              <a:sym typeface="Arial"/>
            </a:endParaRPr>
          </a:p>
        </p:txBody>
      </p:sp>
      <p:cxnSp>
        <p:nvCxnSpPr>
          <p:cNvPr id="236" name="Google Shape;236;p17"/>
          <p:cNvCxnSpPr/>
          <p:nvPr/>
        </p:nvCxnSpPr>
        <p:spPr>
          <a:xfrm>
            <a:off x="2486575" y="4439200"/>
            <a:ext cx="7524600" cy="384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 name="Shape 240"/>
        <p:cNvGrpSpPr/>
        <p:nvPr/>
      </p:nvGrpSpPr>
      <p:grpSpPr>
        <a:xfrm>
          <a:off x="0" y="0"/>
          <a:ext cx="0" cy="0"/>
          <a:chOff x="0" y="0"/>
          <a:chExt cx="0" cy="0"/>
        </a:xfrm>
      </p:grpSpPr>
      <p:sp>
        <p:nvSpPr>
          <p:cNvPr id="241" name="Google Shape;241;p19"/>
          <p:cNvSpPr txBox="1"/>
          <p:nvPr/>
        </p:nvSpPr>
        <p:spPr>
          <a:xfrm>
            <a:off x="347346" y="123979"/>
            <a:ext cx="82083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PQRS</a:t>
            </a:r>
            <a:endParaRPr b="1" i="0" sz="3600" u="none" cap="none" strike="noStrike">
              <a:solidFill>
                <a:srgbClr val="38AA00"/>
              </a:solidFill>
              <a:latin typeface="Work Sans"/>
              <a:ea typeface="Work Sans"/>
              <a:cs typeface="Work Sans"/>
              <a:sym typeface="Work Sans"/>
            </a:endParaRPr>
          </a:p>
        </p:txBody>
      </p:sp>
      <p:sp>
        <p:nvSpPr>
          <p:cNvPr id="242" name="Google Shape;242;p19"/>
          <p:cNvSpPr txBox="1"/>
          <p:nvPr/>
        </p:nvSpPr>
        <p:spPr>
          <a:xfrm>
            <a:off x="39750" y="1013425"/>
            <a:ext cx="12112500" cy="7803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800" u="none" cap="none" strike="noStrike">
                <a:solidFill>
                  <a:srgbClr val="000000"/>
                </a:solidFill>
                <a:latin typeface="Calibri"/>
                <a:ea typeface="Calibri"/>
                <a:cs typeface="Calibri"/>
                <a:sym typeface="Calibri"/>
              </a:rPr>
            </a:b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br>
              <a:rPr b="0" i="0" lang="es-CO" sz="2400" u="none" cap="none" strike="noStrike">
                <a:solidFill>
                  <a:srgbClr val="000000"/>
                </a:solidFill>
                <a:latin typeface="Arial"/>
                <a:ea typeface="Arial"/>
                <a:cs typeface="Arial"/>
                <a:sym typeface="Arial"/>
              </a:rPr>
            </a:br>
            <a:br>
              <a:rPr b="0" i="0" lang="es-CO" sz="1800" u="none" cap="none" strike="noStrike">
                <a:solidFill>
                  <a:srgbClr val="000000"/>
                </a:solidFill>
                <a:latin typeface="Calibri"/>
                <a:ea typeface="Calibri"/>
                <a:cs typeface="Calibri"/>
                <a:sym typeface="Calibri"/>
              </a:rPr>
            </a:br>
            <a:br>
              <a:rPr b="0" i="0" lang="es-CO" sz="1800" u="none" cap="none" strike="noStrike">
                <a:solidFill>
                  <a:srgbClr val="000000"/>
                </a:solidFill>
                <a:latin typeface="Calibri"/>
                <a:ea typeface="Calibri"/>
                <a:cs typeface="Calibri"/>
                <a:sym typeface="Calibri"/>
              </a:rPr>
            </a:br>
            <a:br>
              <a:rPr b="0" i="0" lang="es-CO" sz="2100" u="none" cap="none" strike="noStrike">
                <a:solidFill>
                  <a:schemeClr val="dk1"/>
                </a:solidFill>
                <a:latin typeface="Calibri"/>
                <a:ea typeface="Calibri"/>
                <a:cs typeface="Calibri"/>
                <a:sym typeface="Calibri"/>
              </a:rPr>
            </a:b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243" name="Google Shape;243;p19"/>
          <p:cNvCxnSpPr/>
          <p:nvPr/>
        </p:nvCxnSpPr>
        <p:spPr>
          <a:xfrm>
            <a:off x="366021" y="813368"/>
            <a:ext cx="1597500" cy="12000"/>
          </a:xfrm>
          <a:prstGeom prst="straightConnector1">
            <a:avLst/>
          </a:prstGeom>
          <a:noFill/>
          <a:ln cap="flat" cmpd="sng" w="12700">
            <a:solidFill>
              <a:srgbClr val="4D4D4C"/>
            </a:solidFill>
            <a:prstDash val="solid"/>
            <a:miter lim="800000"/>
            <a:headEnd len="sm" w="sm" type="none"/>
            <a:tailEnd len="sm" w="sm" type="none"/>
          </a:ln>
        </p:spPr>
      </p:cxnSp>
      <p:sp>
        <p:nvSpPr>
          <p:cNvPr id="244" name="Google Shape;244;p19"/>
          <p:cNvSpPr txBox="1"/>
          <p:nvPr/>
        </p:nvSpPr>
        <p:spPr>
          <a:xfrm>
            <a:off x="366025" y="1013425"/>
            <a:ext cx="39597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rgbClr val="000000"/>
                </a:solidFill>
                <a:latin typeface="Arial"/>
                <a:ea typeface="Arial"/>
                <a:cs typeface="Arial"/>
                <a:sym typeface="Arial"/>
              </a:rPr>
              <a:t>¿Qué tan fácil le resulta registrar una petición, queja, reclamo o sugerencia (PQRS) en el Club Blood Tigers Cheers?</a:t>
            </a:r>
            <a:endParaRPr b="1" i="0" sz="1800" u="none" cap="none" strike="noStrike">
              <a:solidFill>
                <a:srgbClr val="000000"/>
              </a:solidFill>
              <a:latin typeface="Arial"/>
              <a:ea typeface="Arial"/>
              <a:cs typeface="Arial"/>
              <a:sym typeface="Arial"/>
            </a:endParaRPr>
          </a:p>
        </p:txBody>
      </p:sp>
      <p:pic>
        <p:nvPicPr>
          <p:cNvPr id="245" name="Google Shape;245;p19"/>
          <p:cNvPicPr preferRelativeResize="0"/>
          <p:nvPr/>
        </p:nvPicPr>
        <p:blipFill rotWithShape="1">
          <a:blip r:embed="rId4">
            <a:alphaModFix/>
          </a:blip>
          <a:srcRect b="0" l="0" r="0" t="0"/>
          <a:stretch/>
        </p:blipFill>
        <p:spPr>
          <a:xfrm>
            <a:off x="5046725" y="983875"/>
            <a:ext cx="6030675" cy="1570488"/>
          </a:xfrm>
          <a:prstGeom prst="rect">
            <a:avLst/>
          </a:prstGeom>
          <a:noFill/>
          <a:ln>
            <a:noFill/>
          </a:ln>
        </p:spPr>
      </p:pic>
      <p:pic>
        <p:nvPicPr>
          <p:cNvPr id="246" name="Google Shape;246;p19"/>
          <p:cNvPicPr preferRelativeResize="0"/>
          <p:nvPr/>
        </p:nvPicPr>
        <p:blipFill rotWithShape="1">
          <a:blip r:embed="rId5">
            <a:alphaModFix/>
          </a:blip>
          <a:srcRect b="0" l="0" r="0" t="0"/>
          <a:stretch/>
        </p:blipFill>
        <p:spPr>
          <a:xfrm>
            <a:off x="5123950" y="2737775"/>
            <a:ext cx="5629276" cy="3484350"/>
          </a:xfrm>
          <a:prstGeom prst="rect">
            <a:avLst/>
          </a:prstGeom>
          <a:noFill/>
          <a:ln>
            <a:noFill/>
          </a:ln>
        </p:spPr>
      </p:pic>
      <p:sp>
        <p:nvSpPr>
          <p:cNvPr id="247" name="Google Shape;247;p19"/>
          <p:cNvSpPr txBox="1"/>
          <p:nvPr/>
        </p:nvSpPr>
        <p:spPr>
          <a:xfrm>
            <a:off x="11580534" y="6106250"/>
            <a:ext cx="503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sp>
        <p:nvSpPr>
          <p:cNvPr id="252" name="Google Shape;252;p20"/>
          <p:cNvSpPr txBox="1"/>
          <p:nvPr/>
        </p:nvSpPr>
        <p:spPr>
          <a:xfrm>
            <a:off x="319746" y="109854"/>
            <a:ext cx="82083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600" u="none" cap="none" strike="noStrike">
                <a:solidFill>
                  <a:srgbClr val="38AA00"/>
                </a:solidFill>
                <a:latin typeface="Work Sans"/>
                <a:ea typeface="Work Sans"/>
                <a:cs typeface="Work Sans"/>
                <a:sym typeface="Work Sans"/>
              </a:rPr>
              <a:t>Implementación Sistema</a:t>
            </a:r>
            <a:endParaRPr b="1" i="0" sz="3600" u="none" cap="none" strike="noStrike">
              <a:solidFill>
                <a:srgbClr val="38AA00"/>
              </a:solidFill>
              <a:latin typeface="Work Sans"/>
              <a:ea typeface="Work Sans"/>
              <a:cs typeface="Work Sans"/>
              <a:sym typeface="Work Sans"/>
            </a:endParaRPr>
          </a:p>
        </p:txBody>
      </p:sp>
      <p:sp>
        <p:nvSpPr>
          <p:cNvPr id="253" name="Google Shape;253;p20"/>
          <p:cNvSpPr txBox="1"/>
          <p:nvPr/>
        </p:nvSpPr>
        <p:spPr>
          <a:xfrm>
            <a:off x="39750" y="1013425"/>
            <a:ext cx="12112500" cy="7803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800" u="none" cap="none" strike="noStrike">
                <a:solidFill>
                  <a:srgbClr val="000000"/>
                </a:solidFill>
                <a:latin typeface="Calibri"/>
                <a:ea typeface="Calibri"/>
                <a:cs typeface="Calibri"/>
                <a:sym typeface="Calibri"/>
              </a:rPr>
            </a:b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br>
              <a:rPr b="0" i="0" lang="es-CO" sz="2400" u="none" cap="none" strike="noStrike">
                <a:solidFill>
                  <a:srgbClr val="000000"/>
                </a:solidFill>
                <a:latin typeface="Arial"/>
                <a:ea typeface="Arial"/>
                <a:cs typeface="Arial"/>
                <a:sym typeface="Arial"/>
              </a:rPr>
            </a:br>
            <a:br>
              <a:rPr b="0" i="0" lang="es-CO" sz="1800" u="none" cap="none" strike="noStrike">
                <a:solidFill>
                  <a:srgbClr val="000000"/>
                </a:solidFill>
                <a:latin typeface="Calibri"/>
                <a:ea typeface="Calibri"/>
                <a:cs typeface="Calibri"/>
                <a:sym typeface="Calibri"/>
              </a:rPr>
            </a:br>
            <a:br>
              <a:rPr b="0" i="0" lang="es-CO" sz="1800" u="none" cap="none" strike="noStrike">
                <a:solidFill>
                  <a:srgbClr val="000000"/>
                </a:solidFill>
                <a:latin typeface="Calibri"/>
                <a:ea typeface="Calibri"/>
                <a:cs typeface="Calibri"/>
                <a:sym typeface="Calibri"/>
              </a:rPr>
            </a:br>
            <a:br>
              <a:rPr b="0" i="0" lang="es-CO" sz="2100" u="none" cap="none" strike="noStrike">
                <a:solidFill>
                  <a:schemeClr val="dk1"/>
                </a:solidFill>
                <a:latin typeface="Calibri"/>
                <a:ea typeface="Calibri"/>
                <a:cs typeface="Calibri"/>
                <a:sym typeface="Calibri"/>
              </a:rPr>
            </a:b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254" name="Google Shape;254;p20"/>
          <p:cNvCxnSpPr/>
          <p:nvPr/>
        </p:nvCxnSpPr>
        <p:spPr>
          <a:xfrm flipH="1" rot="10800000">
            <a:off x="396971" y="729518"/>
            <a:ext cx="6004500" cy="1800"/>
          </a:xfrm>
          <a:prstGeom prst="straightConnector1">
            <a:avLst/>
          </a:prstGeom>
          <a:noFill/>
          <a:ln cap="flat" cmpd="sng" w="12700">
            <a:solidFill>
              <a:srgbClr val="4D4D4C"/>
            </a:solidFill>
            <a:prstDash val="solid"/>
            <a:miter lim="800000"/>
            <a:headEnd len="sm" w="sm" type="none"/>
            <a:tailEnd len="sm" w="sm" type="none"/>
          </a:ln>
        </p:spPr>
      </p:cxnSp>
      <p:sp>
        <p:nvSpPr>
          <p:cNvPr id="255" name="Google Shape;255;p20"/>
          <p:cNvSpPr txBox="1"/>
          <p:nvPr/>
        </p:nvSpPr>
        <p:spPr>
          <a:xfrm>
            <a:off x="319750" y="1172075"/>
            <a:ext cx="39564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CO" sz="1800" u="none" cap="none" strike="noStrike">
                <a:solidFill>
                  <a:srgbClr val="000000"/>
                </a:solidFill>
                <a:latin typeface="Arial"/>
                <a:ea typeface="Arial"/>
                <a:cs typeface="Arial"/>
                <a:sym typeface="Arial"/>
              </a:rPr>
              <a:t>¿Cree que la implementación de un sistema (Web y Móvil) mejoraría las problemáticas mencionadas anteriormente?</a:t>
            </a:r>
            <a:endParaRPr b="1" i="0" sz="1800" u="none" cap="none" strike="noStrike">
              <a:solidFill>
                <a:srgbClr val="000000"/>
              </a:solidFill>
              <a:latin typeface="Arial"/>
              <a:ea typeface="Arial"/>
              <a:cs typeface="Arial"/>
              <a:sym typeface="Arial"/>
            </a:endParaRPr>
          </a:p>
        </p:txBody>
      </p:sp>
      <p:pic>
        <p:nvPicPr>
          <p:cNvPr id="256" name="Google Shape;256;p20"/>
          <p:cNvPicPr preferRelativeResize="0"/>
          <p:nvPr/>
        </p:nvPicPr>
        <p:blipFill rotWithShape="1">
          <a:blip r:embed="rId4">
            <a:alphaModFix/>
          </a:blip>
          <a:srcRect b="0" l="0" r="0" t="0"/>
          <a:stretch/>
        </p:blipFill>
        <p:spPr>
          <a:xfrm>
            <a:off x="4491825" y="1089200"/>
            <a:ext cx="7137476" cy="1526938"/>
          </a:xfrm>
          <a:prstGeom prst="rect">
            <a:avLst/>
          </a:prstGeom>
          <a:noFill/>
          <a:ln>
            <a:noFill/>
          </a:ln>
        </p:spPr>
      </p:pic>
      <p:pic>
        <p:nvPicPr>
          <p:cNvPr id="257" name="Google Shape;257;p20"/>
          <p:cNvPicPr preferRelativeResize="0"/>
          <p:nvPr/>
        </p:nvPicPr>
        <p:blipFill rotWithShape="1">
          <a:blip r:embed="rId5">
            <a:alphaModFix/>
          </a:blip>
          <a:srcRect b="0" l="0" r="0" t="0"/>
          <a:stretch/>
        </p:blipFill>
        <p:spPr>
          <a:xfrm>
            <a:off x="5374255" y="2793325"/>
            <a:ext cx="5745070" cy="3433150"/>
          </a:xfrm>
          <a:prstGeom prst="rect">
            <a:avLst/>
          </a:prstGeom>
          <a:noFill/>
          <a:ln>
            <a:noFill/>
          </a:ln>
        </p:spPr>
      </p:pic>
      <p:sp>
        <p:nvSpPr>
          <p:cNvPr id="258" name="Google Shape;258;p20"/>
          <p:cNvSpPr txBox="1"/>
          <p:nvPr/>
        </p:nvSpPr>
        <p:spPr>
          <a:xfrm>
            <a:off x="11580534" y="6106250"/>
            <a:ext cx="503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18</a:t>
            </a:r>
            <a:endParaRPr b="0" i="0" sz="1400" u="none" cap="none" strike="noStrike">
              <a:solidFill>
                <a:srgbClr val="000000"/>
              </a:solidFill>
              <a:latin typeface="Arial"/>
              <a:ea typeface="Arial"/>
              <a:cs typeface="Arial"/>
              <a:sym typeface="Arial"/>
            </a:endParaRPr>
          </a:p>
        </p:txBody>
      </p:sp>
      <p:pic>
        <p:nvPicPr>
          <p:cNvPr id="259" name="Google Shape;259;p20"/>
          <p:cNvPicPr preferRelativeResize="0"/>
          <p:nvPr/>
        </p:nvPicPr>
        <p:blipFill rotWithShape="1">
          <a:blip r:embed="rId6">
            <a:alphaModFix/>
          </a:blip>
          <a:srcRect b="0" l="0" r="0" t="0"/>
          <a:stretch/>
        </p:blipFill>
        <p:spPr>
          <a:xfrm>
            <a:off x="10992740" y="2103375"/>
            <a:ext cx="476250" cy="171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p21"/>
          <p:cNvSpPr txBox="1"/>
          <p:nvPr/>
        </p:nvSpPr>
        <p:spPr>
          <a:xfrm>
            <a:off x="-7" y="1837662"/>
            <a:ext cx="12438000" cy="212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6000"/>
              <a:buFont typeface="Work Sans"/>
              <a:buNone/>
            </a:pPr>
            <a:r>
              <a:rPr b="1" i="0" lang="es-CO" sz="4400" u="none" cap="none" strike="noStrike">
                <a:solidFill>
                  <a:schemeClr val="lt1"/>
                </a:solidFill>
                <a:latin typeface="Arial"/>
                <a:ea typeface="Arial"/>
                <a:cs typeface="Arial"/>
                <a:sym typeface="Arial"/>
              </a:rPr>
              <a:t>Entregable N°4 </a:t>
            </a:r>
            <a:endParaRPr b="1" i="0" sz="4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6000"/>
              <a:buFont typeface="Work Sans"/>
              <a:buNone/>
            </a:pPr>
            <a:r>
              <a:rPr b="1" i="0" lang="es-CO" sz="4400" u="none" cap="none" strike="noStrike">
                <a:solidFill>
                  <a:schemeClr val="lt1"/>
                </a:solidFill>
                <a:latin typeface="Arial"/>
                <a:ea typeface="Arial"/>
                <a:cs typeface="Arial"/>
                <a:sym typeface="Arial"/>
              </a:rPr>
              <a:t>Requerimientos Funcionales y No Funcionales</a:t>
            </a:r>
            <a:endParaRPr b="1" i="0" sz="4400" u="none" cap="none" strike="noStrike">
              <a:solidFill>
                <a:schemeClr val="lt1"/>
              </a:solidFill>
              <a:latin typeface="Arial"/>
              <a:ea typeface="Arial"/>
              <a:cs typeface="Arial"/>
              <a:sym typeface="Arial"/>
            </a:endParaRPr>
          </a:p>
        </p:txBody>
      </p:sp>
      <p:cxnSp>
        <p:nvCxnSpPr>
          <p:cNvPr id="265" name="Google Shape;265;p21"/>
          <p:cNvCxnSpPr/>
          <p:nvPr/>
        </p:nvCxnSpPr>
        <p:spPr>
          <a:xfrm>
            <a:off x="1983725" y="4152450"/>
            <a:ext cx="8896200" cy="3840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9" name="Shape 269"/>
        <p:cNvGrpSpPr/>
        <p:nvPr/>
      </p:nvGrpSpPr>
      <p:grpSpPr>
        <a:xfrm>
          <a:off x="0" y="0"/>
          <a:ext cx="0" cy="0"/>
          <a:chOff x="0" y="0"/>
          <a:chExt cx="0" cy="0"/>
        </a:xfrm>
      </p:grpSpPr>
      <p:sp>
        <p:nvSpPr>
          <p:cNvPr id="270" name="Google Shape;270;p22"/>
          <p:cNvSpPr txBox="1"/>
          <p:nvPr/>
        </p:nvSpPr>
        <p:spPr>
          <a:xfrm>
            <a:off x="419350" y="296875"/>
            <a:ext cx="11183400" cy="58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CO" sz="3300" u="none" cap="none" strike="noStrike">
                <a:solidFill>
                  <a:srgbClr val="38AA00"/>
                </a:solidFill>
                <a:latin typeface="Work Sans"/>
                <a:ea typeface="Work Sans"/>
                <a:cs typeface="Work Sans"/>
                <a:sym typeface="Work Sans"/>
              </a:rPr>
              <a:t>Requerimientos Funcionales y No Funcionales</a:t>
            </a:r>
            <a:endParaRPr b="1" i="0" sz="3300" u="none" cap="none" strike="noStrike">
              <a:solidFill>
                <a:srgbClr val="38AA00"/>
              </a:solidFill>
              <a:latin typeface="Work Sans"/>
              <a:ea typeface="Work Sans"/>
              <a:cs typeface="Work Sans"/>
              <a:sym typeface="Work Sans"/>
            </a:endParaRPr>
          </a:p>
        </p:txBody>
      </p:sp>
      <p:sp>
        <p:nvSpPr>
          <p:cNvPr id="271" name="Google Shape;271;p22"/>
          <p:cNvSpPr txBox="1"/>
          <p:nvPr/>
        </p:nvSpPr>
        <p:spPr>
          <a:xfrm>
            <a:off x="156900" y="1640675"/>
            <a:ext cx="11878200" cy="516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7000"/>
              </a:lnSpc>
              <a:spcBef>
                <a:spcPts val="4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400"/>
              <a:buFont typeface="Arial"/>
              <a:buNone/>
            </a:pPr>
            <a:br>
              <a:rPr b="0" i="0" lang="es-CO" sz="1400" u="none" cap="none" strike="noStrike">
                <a:solidFill>
                  <a:schemeClr val="dk1"/>
                </a:solidFill>
                <a:latin typeface="Arial"/>
                <a:ea typeface="Arial"/>
                <a:cs typeface="Arial"/>
                <a:sym typeface="Arial"/>
              </a:rPr>
            </a:br>
            <a:br>
              <a:rPr b="0" i="0" lang="es-CO" sz="1200" u="none" cap="none" strike="noStrike">
                <a:solidFill>
                  <a:schemeClr val="dk1"/>
                </a:solidFill>
                <a:latin typeface="Arial"/>
                <a:ea typeface="Arial"/>
                <a:cs typeface="Arial"/>
                <a:sym typeface="Arial"/>
              </a:rPr>
            </a:br>
            <a:endParaRPr b="0" i="0" sz="1200" u="none" cap="none" strike="noStrike">
              <a:solidFill>
                <a:schemeClr val="dk1"/>
              </a:solidFill>
              <a:latin typeface="Arial"/>
              <a:ea typeface="Arial"/>
              <a:cs typeface="Arial"/>
              <a:sym typeface="Arial"/>
            </a:endParaRPr>
          </a:p>
          <a:p>
            <a:pPr indent="0" lvl="0" marL="0" marR="0" rtl="0" algn="just">
              <a:lnSpc>
                <a:spcPct val="100000"/>
              </a:lnSpc>
              <a:spcBef>
                <a:spcPts val="78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a:p>
            <a:pPr indent="0" lvl="0" marL="0" marR="0" rtl="0" algn="just">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780"/>
              </a:spcBef>
              <a:spcAft>
                <a:spcPts val="0"/>
              </a:spcAft>
              <a:buClr>
                <a:srgbClr val="000000"/>
              </a:buClr>
              <a:buSzPts val="1700"/>
              <a:buFont typeface="Arial"/>
              <a:buNone/>
            </a:pP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700" u="none" cap="none" strike="noStrike">
                <a:solidFill>
                  <a:srgbClr val="000000"/>
                </a:solidFill>
                <a:latin typeface="Calibri"/>
                <a:ea typeface="Calibri"/>
                <a:cs typeface="Calibri"/>
                <a:sym typeface="Calibri"/>
              </a:rPr>
            </a:br>
            <a:br>
              <a:rPr b="0" i="0" lang="es-CO" sz="1800" u="none" cap="none" strike="noStrike">
                <a:solidFill>
                  <a:srgbClr val="000000"/>
                </a:solidFill>
                <a:latin typeface="Calibri"/>
                <a:ea typeface="Calibri"/>
                <a:cs typeface="Calibri"/>
                <a:sym typeface="Calibri"/>
              </a:rPr>
            </a:b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br>
              <a:rPr b="0" i="0" lang="es-CO" sz="2400" u="none" cap="none" strike="noStrike">
                <a:solidFill>
                  <a:srgbClr val="000000"/>
                </a:solidFill>
                <a:latin typeface="Arial"/>
                <a:ea typeface="Arial"/>
                <a:cs typeface="Arial"/>
                <a:sym typeface="Arial"/>
              </a:rPr>
            </a:br>
            <a:br>
              <a:rPr b="0" i="0" lang="es-CO" sz="1800" u="none" cap="none" strike="noStrike">
                <a:solidFill>
                  <a:srgbClr val="000000"/>
                </a:solidFill>
                <a:latin typeface="Calibri"/>
                <a:ea typeface="Calibri"/>
                <a:cs typeface="Calibri"/>
                <a:sym typeface="Calibri"/>
              </a:rPr>
            </a:br>
            <a:br>
              <a:rPr b="0" i="0" lang="es-CO" sz="1800" u="none" cap="none" strike="noStrike">
                <a:solidFill>
                  <a:srgbClr val="000000"/>
                </a:solidFill>
                <a:latin typeface="Calibri"/>
                <a:ea typeface="Calibri"/>
                <a:cs typeface="Calibri"/>
                <a:sym typeface="Calibri"/>
              </a:rPr>
            </a:br>
            <a:br>
              <a:rPr b="0" i="0" lang="es-CO" sz="2100" u="none" cap="none" strike="noStrike">
                <a:solidFill>
                  <a:schemeClr val="dk1"/>
                </a:solidFill>
                <a:latin typeface="Calibri"/>
                <a:ea typeface="Calibri"/>
                <a:cs typeface="Calibri"/>
                <a:sym typeface="Calibri"/>
              </a:rPr>
            </a:b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p:txBody>
      </p:sp>
      <p:cxnSp>
        <p:nvCxnSpPr>
          <p:cNvPr id="272" name="Google Shape;272;p22"/>
          <p:cNvCxnSpPr/>
          <p:nvPr/>
        </p:nvCxnSpPr>
        <p:spPr>
          <a:xfrm flipH="1" rot="10800000">
            <a:off x="419346" y="910668"/>
            <a:ext cx="9896100" cy="33900"/>
          </a:xfrm>
          <a:prstGeom prst="straightConnector1">
            <a:avLst/>
          </a:prstGeom>
          <a:noFill/>
          <a:ln cap="flat" cmpd="sng" w="12700">
            <a:solidFill>
              <a:srgbClr val="4D4D4C"/>
            </a:solidFill>
            <a:prstDash val="solid"/>
            <a:miter lim="800000"/>
            <a:headEnd len="sm" w="sm" type="none"/>
            <a:tailEnd len="sm" w="sm" type="none"/>
          </a:ln>
        </p:spPr>
      </p:cxnSp>
      <p:sp>
        <p:nvSpPr>
          <p:cNvPr id="273" name="Google Shape;273;p22"/>
          <p:cNvSpPr txBox="1"/>
          <p:nvPr/>
        </p:nvSpPr>
        <p:spPr>
          <a:xfrm>
            <a:off x="11580534" y="6106250"/>
            <a:ext cx="503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CO" sz="2400" u="none" cap="none" strike="noStrike">
                <a:solidFill>
                  <a:srgbClr val="000000"/>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pic>
        <p:nvPicPr>
          <p:cNvPr id="274" name="Google Shape;274;p22"/>
          <p:cNvPicPr preferRelativeResize="0"/>
          <p:nvPr/>
        </p:nvPicPr>
        <p:blipFill rotWithShape="1">
          <a:blip r:embed="rId4">
            <a:alphaModFix/>
          </a:blip>
          <a:srcRect b="9656" l="5072" r="6243" t="0"/>
          <a:stretch/>
        </p:blipFill>
        <p:spPr>
          <a:xfrm>
            <a:off x="319800" y="1087500"/>
            <a:ext cx="4926551" cy="5018749"/>
          </a:xfrm>
          <a:prstGeom prst="rect">
            <a:avLst/>
          </a:prstGeom>
          <a:noFill/>
          <a:ln>
            <a:noFill/>
          </a:ln>
        </p:spPr>
      </p:pic>
      <p:pic>
        <p:nvPicPr>
          <p:cNvPr id="275" name="Google Shape;275;p22"/>
          <p:cNvPicPr preferRelativeResize="0"/>
          <p:nvPr/>
        </p:nvPicPr>
        <p:blipFill rotWithShape="1">
          <a:blip r:embed="rId5">
            <a:alphaModFix/>
          </a:blip>
          <a:srcRect b="0" l="0" r="0" t="0"/>
          <a:stretch/>
        </p:blipFill>
        <p:spPr>
          <a:xfrm>
            <a:off x="5817100" y="1410350"/>
            <a:ext cx="6055999" cy="4037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9" name="Shape 27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