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y="6858000" cx="12192000"/>
  <p:notesSz cx="6858000" cy="9144000"/>
  <p:embeddedFontLst>
    <p:embeddedFont>
      <p:font typeface="Work Sans"/>
      <p:regular r:id="rId28"/>
      <p:bold r:id="rId29"/>
      <p:italic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95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187">
          <p15:clr>
            <a:srgbClr val="A4A3A4"/>
          </p15:clr>
        </p15:guide>
      </p15:sldGuideLst>
    </p:ext>
    <p:ext uri="GoogleSlidesCustomDataVersion2">
      <go:slidesCustomData xmlns:go="http://customooxmlschemas.google.com/" r:id="rId32" roundtripDataSignature="AMtx7miEsfQMl2Ysm3gx1pxRkvEfI1GWW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95" orient="horz"/>
        <p:guide pos="3840"/>
        <p:guide pos="187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WorkSans-regular.fntdata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WorkSans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WorkSans-boldItalic.fntdata"/><Relationship Id="rId30" Type="http://schemas.openxmlformats.org/officeDocument/2006/relationships/font" Target="fonts/WorkSans-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32" Type="http://customschemas.google.com/relationships/presentationmetadata" Target="meta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CO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1" name="Google Shape;91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4" name="Google Shape;10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9620261515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3" name="Google Shape;113;g39620261515_1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620261515_1_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1" name="Google Shape;121;g39620261515_1_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9620261515_1_1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9" name="Google Shape;129;g39620261515_1_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9620261515_1_2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6" name="Google Shape;136;g39620261515_1_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620261515_2_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4" name="Google Shape;144;g39620261515_2_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9620261515_2_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1" name="Google Shape;151;g39620261515_2_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620261515_1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8" name="Google Shape;158;g39620261515_1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5" name="Google Shape;16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2" name="Google Shape;17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0" name="Google Shape;18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6" name="Google Shape;186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5" name="Google Shape;195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439f1cb08_5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4" name="Google Shape;204;g39439f1cb08_5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4" name="Google Shape;214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3" name="Google Shape;223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9" name="Google Shape;229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7" name="Google Shape;23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3" name="Google Shape;243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0" name="Google Shape;250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3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3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3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3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3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3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3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3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3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3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3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eño personalizado">
  <p:cSld name="Diseño personalizado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3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2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hyperlink" Target="https://online.visual-paradigm.com/share.jsp?id=343438333634322d37#diagram:workspace=avagosye&amp;proj=0&amp;id=7" TargetMode="External"/><Relationship Id="rId5" Type="http://schemas.openxmlformats.org/officeDocument/2006/relationships/image" Target="../media/image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Relationship Id="rId4" Type="http://schemas.openxmlformats.org/officeDocument/2006/relationships/image" Target="../media/image2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Relationship Id="rId4" Type="http://schemas.openxmlformats.org/officeDocument/2006/relationships/image" Target="../media/image1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Relationship Id="rId4" Type="http://schemas.openxmlformats.org/officeDocument/2006/relationships/hyperlink" Target="https://balsamiq.cloud/s2cge75/p6q0pnr" TargetMode="External"/><Relationship Id="rId5" Type="http://schemas.openxmlformats.org/officeDocument/2006/relationships/image" Target="../media/image2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"/>
          <p:cNvSpPr txBox="1"/>
          <p:nvPr/>
        </p:nvSpPr>
        <p:spPr>
          <a:xfrm>
            <a:off x="946700" y="1909950"/>
            <a:ext cx="7245900" cy="332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5400"/>
              <a:buFont typeface="Work Sans"/>
              <a:buNone/>
            </a:pPr>
            <a:r>
              <a:rPr b="1" i="0" lang="es-CO" sz="5200" u="none" cap="none" strike="noStrike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Sistema de información</a:t>
            </a:r>
            <a:endParaRPr b="1" i="0" sz="5200" u="none" cap="none" strike="noStrike">
              <a:solidFill>
                <a:srgbClr val="3F3F3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5400"/>
              <a:buFont typeface="Work Sans"/>
              <a:buNone/>
            </a:pPr>
            <a:r>
              <a:rPr b="1" i="0" lang="es-CO" sz="5200" u="none" cap="none" strike="noStrike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CheerClick Systems</a:t>
            </a:r>
            <a:endParaRPr b="1" i="0" sz="5200" u="none" cap="none" strike="noStrike">
              <a:solidFill>
                <a:srgbClr val="3F3F3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5400"/>
              <a:buFont typeface="Work Sans"/>
              <a:buNone/>
            </a:pPr>
            <a:r>
              <a:t/>
            </a:r>
            <a:endParaRPr b="1" i="0" sz="5400" u="none" cap="none" strike="noStrike">
              <a:solidFill>
                <a:srgbClr val="3F3F3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94" name="Google Shape;94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03875" y="4220151"/>
            <a:ext cx="1419425" cy="1632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 txBox="1"/>
          <p:nvPr/>
        </p:nvSpPr>
        <p:spPr>
          <a:xfrm>
            <a:off x="3443550" y="2169125"/>
            <a:ext cx="53049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6000"/>
              <a:buFont typeface="Work Sans"/>
              <a:buNone/>
            </a:pPr>
            <a:r>
              <a:rPr b="1" i="0" lang="es-CO" sz="6000" u="none" cap="none" strike="noStrike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APRENDICES</a:t>
            </a:r>
            <a:endParaRPr b="1" i="0" sz="7200" u="none" cap="none" strike="noStrike">
              <a:solidFill>
                <a:srgbClr val="4D4D4C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00" name="Google Shape;100;p2"/>
          <p:cNvCxnSpPr/>
          <p:nvPr/>
        </p:nvCxnSpPr>
        <p:spPr>
          <a:xfrm>
            <a:off x="4972228" y="3324314"/>
            <a:ext cx="2247544" cy="0"/>
          </a:xfrm>
          <a:prstGeom prst="straightConnector1">
            <a:avLst/>
          </a:prstGeom>
          <a:noFill/>
          <a:ln cap="flat" cmpd="sng" w="12700">
            <a:solidFill>
              <a:srgbClr val="38AA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1" name="Google Shape;101;p2"/>
          <p:cNvSpPr txBox="1"/>
          <p:nvPr/>
        </p:nvSpPr>
        <p:spPr>
          <a:xfrm>
            <a:off x="4168816" y="3463724"/>
            <a:ext cx="38544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CO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          Juan Sebastian Serrano Luis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CO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Leonardo Jara Molina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Karen Tatiana Martínez González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Amy Lee Aroca Español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CO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3354284 - ADSO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"/>
          <p:cNvSpPr txBox="1"/>
          <p:nvPr/>
        </p:nvSpPr>
        <p:spPr>
          <a:xfrm>
            <a:off x="636850" y="546825"/>
            <a:ext cx="6640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6000"/>
              <a:buFont typeface="Work Sans"/>
              <a:buNone/>
            </a:pPr>
            <a:r>
              <a:rPr b="1" i="0" lang="es-CO" sz="3600" u="none" cap="none" strike="noStrike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Tabla de Contenido</a:t>
            </a:r>
            <a:endParaRPr b="1" i="0" sz="3600" u="none" cap="none" strike="noStrike">
              <a:solidFill>
                <a:srgbClr val="4D4D4C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07" name="Google Shape;107;p3"/>
          <p:cNvCxnSpPr/>
          <p:nvPr/>
        </p:nvCxnSpPr>
        <p:spPr>
          <a:xfrm flipH="1" rot="10800000">
            <a:off x="636853" y="1333364"/>
            <a:ext cx="6564000" cy="5700"/>
          </a:xfrm>
          <a:prstGeom prst="straightConnector1">
            <a:avLst/>
          </a:prstGeom>
          <a:noFill/>
          <a:ln cap="flat" cmpd="sng" w="12700">
            <a:solidFill>
              <a:srgbClr val="38AA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8" name="Google Shape;108;p3"/>
          <p:cNvSpPr txBox="1"/>
          <p:nvPr/>
        </p:nvSpPr>
        <p:spPr>
          <a:xfrm>
            <a:off x="636850" y="2110625"/>
            <a:ext cx="6075000" cy="34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Planteamiento del Problema                                    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/>
              <a:t>Objetivo General</a:t>
            </a: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                                                       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/>
              <a:t>Objetivos </a:t>
            </a:r>
            <a:r>
              <a:rPr lang="es-CO" sz="1800"/>
              <a:t>específicos</a:t>
            </a: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/>
              <a:t>Módulos</a:t>
            </a:r>
            <a:r>
              <a:rPr lang="es-CO" sz="1800"/>
              <a:t> - Roles</a:t>
            </a: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                                          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45720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/>
              <a:t>Diagrama de Casos de Uso</a:t>
            </a: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                                                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/>
              <a:t>Casos de Uso Extendido</a:t>
            </a: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                                               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/>
              <a:t>Mockups - Vista General</a:t>
            </a: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                                         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>
                <a:solidFill>
                  <a:schemeClr val="dk1"/>
                </a:solidFill>
              </a:rPr>
              <a:t>Mockups - Vista Administrador     </a:t>
            </a: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                                       </a:t>
            </a:r>
            <a:r>
              <a:rPr b="1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>
                <a:solidFill>
                  <a:schemeClr val="dk1"/>
                </a:solidFill>
              </a:rPr>
              <a:t>Mockups - Vista Deportista     </a:t>
            </a: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                                   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>
                <a:solidFill>
                  <a:schemeClr val="dk1"/>
                </a:solidFill>
              </a:rPr>
              <a:t>Mockups - Vista Entrenador     </a:t>
            </a: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                                        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/>
              <a:t>Ficha</a:t>
            </a:r>
            <a:r>
              <a:rPr lang="es-CO" sz="1800"/>
              <a:t> - Consolidado</a:t>
            </a: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800"/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/>
              <a:t>Control de Versiones - GitHub</a:t>
            </a: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                                                 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9" name="Google Shape;109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59752" y="1556417"/>
            <a:ext cx="3971309" cy="397130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3"/>
          <p:cNvSpPr txBox="1"/>
          <p:nvPr/>
        </p:nvSpPr>
        <p:spPr>
          <a:xfrm>
            <a:off x="6171900" y="2110625"/>
            <a:ext cx="1251000" cy="31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s-CO" sz="1800">
                <a:solidFill>
                  <a:schemeClr val="dk1"/>
                </a:solidFill>
              </a:rPr>
              <a:t>4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s-CO" sz="1800">
                <a:solidFill>
                  <a:schemeClr val="dk1"/>
                </a:solidFill>
              </a:rPr>
              <a:t>5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s-CO" sz="1800">
                <a:solidFill>
                  <a:schemeClr val="dk1"/>
                </a:solidFill>
              </a:rPr>
              <a:t>6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s-CO" sz="1800">
                <a:solidFill>
                  <a:schemeClr val="dk1"/>
                </a:solidFill>
              </a:rPr>
              <a:t>7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1" lang="es-CO" sz="1800">
                <a:solidFill>
                  <a:schemeClr val="dk1"/>
                </a:solidFill>
              </a:rPr>
              <a:t>2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1" lang="es-CO" sz="1800">
                <a:solidFill>
                  <a:schemeClr val="dk1"/>
                </a:solidFill>
              </a:rPr>
              <a:t>3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1" lang="es-CO" sz="1800">
                <a:solidFill>
                  <a:schemeClr val="dk1"/>
                </a:solidFill>
              </a:rPr>
              <a:t>4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1" lang="es-CO" sz="1800">
                <a:solidFill>
                  <a:schemeClr val="dk1"/>
                </a:solidFill>
              </a:rPr>
              <a:t>7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s-CO" sz="1800">
                <a:solidFill>
                  <a:schemeClr val="dk1"/>
                </a:solidFill>
              </a:rPr>
              <a:t>19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9620261515_1_0"/>
          <p:cNvSpPr txBox="1"/>
          <p:nvPr/>
        </p:nvSpPr>
        <p:spPr>
          <a:xfrm>
            <a:off x="456236" y="416690"/>
            <a:ext cx="98157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Work Sans"/>
              <a:buNone/>
            </a:pPr>
            <a:r>
              <a:rPr b="1" lang="es-CO" sz="36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Planteamiento del problema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g39620261515_1_0"/>
          <p:cNvSpPr txBox="1"/>
          <p:nvPr/>
        </p:nvSpPr>
        <p:spPr>
          <a:xfrm>
            <a:off x="11580535" y="6106250"/>
            <a:ext cx="617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CO" sz="2400"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g39620261515_1_0"/>
          <p:cNvSpPr txBox="1"/>
          <p:nvPr/>
        </p:nvSpPr>
        <p:spPr>
          <a:xfrm>
            <a:off x="719300" y="1675075"/>
            <a:ext cx="80700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 sz="1800">
                <a:solidFill>
                  <a:schemeClr val="dk1"/>
                </a:solidFill>
              </a:rPr>
              <a:t>El Club Deportivo “Blood Tigers Cheers” (Bosa Centro) es un equipo de competición de cheerleading que combina gimnasia, danza y porrismo. Su enfoque está en la velocidad y la conexión fluida de elementos acrobáticos. Utiliza una técnica por niveles para asegurar el fortalecimiento y el cuidado del cuerpo, buscando la excelencia en la ejecución de cada deportista.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O" sz="1800">
                <a:solidFill>
                  <a:schemeClr val="dk1"/>
                </a:solidFill>
              </a:rPr>
              <a:t>Actualmente el club presenta dificultades en la administración de sus actividades debido a que se realizan de forma manual y poco organizada, esto afecta la organización de los horarios, el seguimiento del rendimiento de los atletas, las inscripciones de los deportistas y el control de los elementos deportivos además, la falta de un canal formal de PQRS limita la comunicación entre los deportistas, acudientes y la institución generando desorden en la información y un manejo poco eficiente de los recursos del club.</a:t>
            </a:r>
            <a:endParaRPr b="1" baseline="30000" sz="3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g39620261515_1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439700" y="2449338"/>
            <a:ext cx="2366026" cy="23660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9620261515_1_11"/>
          <p:cNvSpPr txBox="1"/>
          <p:nvPr/>
        </p:nvSpPr>
        <p:spPr>
          <a:xfrm>
            <a:off x="456236" y="416690"/>
            <a:ext cx="98157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Work Sans"/>
              <a:buNone/>
            </a:pPr>
            <a:r>
              <a:rPr b="1" lang="es-CO" sz="36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g39620261515_1_11"/>
          <p:cNvSpPr txBox="1"/>
          <p:nvPr/>
        </p:nvSpPr>
        <p:spPr>
          <a:xfrm>
            <a:off x="11580535" y="6106250"/>
            <a:ext cx="617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g39620261515_1_11"/>
          <p:cNvSpPr txBox="1"/>
          <p:nvPr/>
        </p:nvSpPr>
        <p:spPr>
          <a:xfrm>
            <a:off x="541975" y="2019950"/>
            <a:ext cx="70650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None/>
            </a:pPr>
            <a:r>
              <a:t/>
            </a:r>
            <a:endParaRPr b="1" sz="1900" u="sng">
              <a:solidFill>
                <a:schemeClr val="dk1"/>
              </a:solidFill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>
                <a:solidFill>
                  <a:schemeClr val="dk1"/>
                </a:solidFill>
              </a:rPr>
              <a:t>Desarrollar un sistema de información web y móvil para el club deportivo </a:t>
            </a:r>
            <a:r>
              <a:rPr i="1" lang="es-CO" sz="1700">
                <a:solidFill>
                  <a:schemeClr val="dk1"/>
                </a:solidFill>
              </a:rPr>
              <a:t>Blood Tigers Cheers</a:t>
            </a:r>
            <a:r>
              <a:rPr lang="es-CO" sz="1700">
                <a:solidFill>
                  <a:schemeClr val="dk1"/>
                </a:solidFill>
              </a:rPr>
              <a:t>, que permita optimizar los procesos relacionados con las</a:t>
            </a:r>
            <a:r>
              <a:rPr b="1" lang="es-CO" sz="1700">
                <a:solidFill>
                  <a:schemeClr val="dk1"/>
                </a:solidFill>
              </a:rPr>
              <a:t> </a:t>
            </a:r>
            <a:r>
              <a:rPr lang="es-CO" sz="1700">
                <a:solidFill>
                  <a:schemeClr val="dk1"/>
                </a:solidFill>
              </a:rPr>
              <a:t>inscripciones de los deportistas, la organización de horarios (clases, entrenamientos y eventos), el registro y gestión de PQRS, el seguimiento y calificación del rendimiento de los atletas, así como el control de los elementos deportivos. Con el fin de mejorar la organización, el seguimiento de la información y la eficiencia en el desarrollo de estas actividades dentro del club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g39620261515_1_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15425" y="2088922"/>
            <a:ext cx="3552075" cy="25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620261515_1_19"/>
          <p:cNvSpPr txBox="1"/>
          <p:nvPr/>
        </p:nvSpPr>
        <p:spPr>
          <a:xfrm>
            <a:off x="456236" y="416690"/>
            <a:ext cx="98157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Work Sans"/>
              <a:buNone/>
            </a:pPr>
            <a:r>
              <a:rPr b="1" lang="es-CO" sz="36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g39620261515_1_19"/>
          <p:cNvSpPr txBox="1"/>
          <p:nvPr/>
        </p:nvSpPr>
        <p:spPr>
          <a:xfrm>
            <a:off x="11580535" y="6106250"/>
            <a:ext cx="617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CO" sz="2400"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" name="Google Shape;133;g39620261515_1_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2975" y="1265900"/>
            <a:ext cx="11398175" cy="5673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9620261515_1_28"/>
          <p:cNvSpPr txBox="1"/>
          <p:nvPr/>
        </p:nvSpPr>
        <p:spPr>
          <a:xfrm>
            <a:off x="456236" y="416690"/>
            <a:ext cx="98157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Work Sans"/>
              <a:buNone/>
            </a:pPr>
            <a:r>
              <a:rPr b="1" lang="es-CO" sz="36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Módulos</a:t>
            </a:r>
            <a:r>
              <a:rPr b="1" lang="es-CO" sz="36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Y Roles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g39620261515_1_28"/>
          <p:cNvSpPr txBox="1"/>
          <p:nvPr/>
        </p:nvSpPr>
        <p:spPr>
          <a:xfrm>
            <a:off x="11580535" y="6106250"/>
            <a:ext cx="617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CO" sz="2400"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0" name="Google Shape;140;g39620261515_1_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46175" y="2162675"/>
            <a:ext cx="4397125" cy="4327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g39620261515_1_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96375" y="795676"/>
            <a:ext cx="3778175" cy="621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9620261515_2_3"/>
          <p:cNvSpPr txBox="1"/>
          <p:nvPr/>
        </p:nvSpPr>
        <p:spPr>
          <a:xfrm>
            <a:off x="421986" y="194090"/>
            <a:ext cx="98157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Work Sans"/>
              <a:buNone/>
            </a:pPr>
            <a:r>
              <a:rPr b="1" lang="es-CO" sz="36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Requisitos Funcionales - Gestión de usuario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g39620261515_2_3"/>
          <p:cNvSpPr txBox="1"/>
          <p:nvPr/>
        </p:nvSpPr>
        <p:spPr>
          <a:xfrm>
            <a:off x="11580535" y="6106250"/>
            <a:ext cx="617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CO" sz="2400"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g39620261515_2_3"/>
          <p:cNvSpPr txBox="1"/>
          <p:nvPr/>
        </p:nvSpPr>
        <p:spPr>
          <a:xfrm>
            <a:off x="421975" y="1763975"/>
            <a:ext cx="11428200" cy="3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O" sz="1100">
                <a:solidFill>
                  <a:schemeClr val="dk1"/>
                </a:solidFill>
              </a:rPr>
              <a:t>RF-001- Registro de Usuarios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el registro de nuevos usuarios mediante el ingreso de información básica como nombre, correo electrónico, contraseña y rol asignado.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O" sz="1100">
                <a:solidFill>
                  <a:schemeClr val="dk1"/>
                </a:solidFill>
              </a:rPr>
              <a:t>RF-002- Inicio de Sesión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a los usuarios autenticarse mediante correo electrónico y contraseña.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O" sz="1100">
                <a:solidFill>
                  <a:schemeClr val="dk1"/>
                </a:solidFill>
              </a:rPr>
              <a:t>RF-003- Control de Intentos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 sz="1100">
                <a:solidFill>
                  <a:schemeClr val="dk1"/>
                </a:solidFill>
              </a:rPr>
              <a:t>El sistema debe implementar autenticación mediante correo electrónico y contraseña, permitiendo un máximo de 3 intentos fallidos consecutivos antes de bloquear temporalmente la cuenta del usuario.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O" sz="1100">
                <a:solidFill>
                  <a:schemeClr val="dk1"/>
                </a:solidFill>
              </a:rPr>
              <a:t>RF-004- Cambio de Contraseña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a los usuarios un cambio de contraseña en caso de que sea requerido.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O" sz="1100">
                <a:solidFill>
                  <a:schemeClr val="dk1"/>
                </a:solidFill>
              </a:rPr>
              <a:t>RF - 005 Actualizar datos del usuario</a:t>
            </a:r>
            <a:br>
              <a:rPr b="1" lang="es-CO" sz="1100">
                <a:solidFill>
                  <a:schemeClr val="dk1"/>
                </a:solidFill>
              </a:rPr>
            </a:br>
            <a:r>
              <a:rPr lang="es-CO" sz="1100">
                <a:solidFill>
                  <a:schemeClr val="dk1"/>
                </a:solidFill>
              </a:rPr>
              <a:t>El sistema debe permitir a los usuarios actualizar su información personal registrada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O" sz="1100">
                <a:solidFill>
                  <a:schemeClr val="dk1"/>
                </a:solidFill>
              </a:rPr>
              <a:t>RF-006- Administración de Cuentas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al administrador crear, modificar, activar o desactivar cuentas de usuarios.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O" sz="1100">
                <a:solidFill>
                  <a:schemeClr val="dk1"/>
                </a:solidFill>
                <a:highlight>
                  <a:srgbClr val="FFFFFF"/>
                </a:highlight>
              </a:rPr>
              <a:t>RF - 007 Confirmación y Asignación Automática</a:t>
            </a:r>
            <a:br>
              <a:rPr b="1" lang="es-CO" sz="1100">
                <a:solidFill>
                  <a:schemeClr val="dk1"/>
                </a:solidFill>
                <a:highlight>
                  <a:srgbClr val="FFFFFF"/>
                </a:highlight>
              </a:rPr>
            </a:br>
            <a:r>
              <a:rPr lang="es-CO" sz="1100">
                <a:solidFill>
                  <a:schemeClr val="dk1"/>
                </a:solidFill>
                <a:highlight>
                  <a:srgbClr val="FFFFFF"/>
                </a:highlight>
              </a:rPr>
              <a:t>El sistema debe notificar la confirmación de la inscripción del atleta y mostrar automáticamente el cronograma de entrenamiento respectivo a su categoría</a:t>
            </a:r>
            <a:r>
              <a:rPr b="1" lang="es-CO" sz="1100">
                <a:solidFill>
                  <a:schemeClr val="dk1"/>
                </a:solidFill>
                <a:highlight>
                  <a:srgbClr val="FFFFFF"/>
                </a:highlight>
              </a:rPr>
              <a:t>.</a:t>
            </a:r>
            <a:endParaRPr b="1" sz="1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O" sz="1100">
                <a:solidFill>
                  <a:schemeClr val="dk1"/>
                </a:solidFill>
              </a:rPr>
              <a:t>RF - 008 Cancelación de Matrícula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cancelar la matrícula cuando sea requerida, por motivos personales o administrativos.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O" sz="1100">
                <a:solidFill>
                  <a:schemeClr val="dk1"/>
                </a:solidFill>
              </a:rPr>
              <a:t>RF - 009 Consultar inscripciones</a:t>
            </a:r>
            <a:br>
              <a:rPr b="1" lang="es-CO" sz="1100">
                <a:solidFill>
                  <a:schemeClr val="dk1"/>
                </a:solidFill>
              </a:rPr>
            </a:br>
            <a:r>
              <a:rPr lang="es-CO" sz="1100">
                <a:solidFill>
                  <a:schemeClr val="dk1"/>
                </a:solidFill>
              </a:rPr>
              <a:t>El sistema debe permitir consultar la lista de atletas que han realizado su proceso de  inscripción en el club.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1100">
                <a:solidFill>
                  <a:schemeClr val="dk1"/>
                </a:solidFill>
              </a:rPr>
              <a:t>RF - 010 Consulta de Estado de  Mensualidades</a:t>
            </a:r>
            <a:br>
              <a:rPr b="1" lang="es-CO" sz="1100">
                <a:solidFill>
                  <a:schemeClr val="dk1"/>
                </a:solidFill>
              </a:rPr>
            </a:br>
            <a:r>
              <a:rPr lang="es-CO" sz="1100">
                <a:solidFill>
                  <a:schemeClr val="dk1"/>
                </a:solidFill>
              </a:rPr>
              <a:t>El sistema debe permitir al cliente consultar el estado de pago de las mensualidades, visualizar los meses pendientes y recibir notificaciones relacionadas.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9620261515_2_13"/>
          <p:cNvSpPr txBox="1"/>
          <p:nvPr/>
        </p:nvSpPr>
        <p:spPr>
          <a:xfrm>
            <a:off x="421986" y="194090"/>
            <a:ext cx="98157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Work Sans"/>
              <a:buNone/>
            </a:pPr>
            <a:r>
              <a:rPr b="1" lang="es-CO" sz="32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Requisitos Funcionales - Gestión de horarios, rendimiento e implementos deportivos</a:t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g39620261515_2_13"/>
          <p:cNvSpPr txBox="1"/>
          <p:nvPr/>
        </p:nvSpPr>
        <p:spPr>
          <a:xfrm>
            <a:off x="11580535" y="6106250"/>
            <a:ext cx="617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CO" sz="2400"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g39620261515_2_13"/>
          <p:cNvSpPr txBox="1"/>
          <p:nvPr/>
        </p:nvSpPr>
        <p:spPr>
          <a:xfrm>
            <a:off x="316350" y="1857950"/>
            <a:ext cx="11559300" cy="42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O" sz="1100">
                <a:solidFill>
                  <a:schemeClr val="dk1"/>
                </a:solidFill>
              </a:rPr>
              <a:t>RF- 011 Definición de Cronograma 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configurar los días y franjas horarias de entrenamiento para cada categoría y nivel, confirmando que no existan coincidencias en el uso de espacio.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O" sz="1100">
                <a:solidFill>
                  <a:schemeClr val="dk1"/>
                </a:solidFill>
              </a:rPr>
              <a:t>RF- 012 Consultar Horarios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 sz="1100">
                <a:solidFill>
                  <a:schemeClr val="dk1"/>
                </a:solidFill>
              </a:rPr>
              <a:t>El sistema debe generar un calendario para cada categoría, filtrando únicamente las sesiones de entrenamiento y eventos que correspondan a cada usuario.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O" sz="1100">
                <a:solidFill>
                  <a:schemeClr val="dk1"/>
                </a:solidFill>
              </a:rPr>
              <a:t>RF - 013 Modificación de Horarios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realizar modificar o eliminar los horarios de entrenamiento y torneos  por parte de los entrenadores y del administrador; enviar notificación del mismo.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1100">
                <a:solidFill>
                  <a:schemeClr val="dk1"/>
                </a:solidFill>
              </a:rPr>
              <a:t>RF - 014  Registro de Rendimiento Deportivo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al entrenador evaluar y registrar el desempeño deportivo del atleta, incluyendo tanto evaluaciones de desempeño como la asistencia a entrenamientos.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1100">
                <a:solidFill>
                  <a:schemeClr val="dk1"/>
                </a:solidFill>
              </a:rPr>
              <a:t>RF - 015 Consulta de Rendimiento Deportivo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a los usuarios autorizados consultar el rendimiento deportivo del atleta, incluyendo historial de evaluaciones y registro de asistencia.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1100">
                <a:solidFill>
                  <a:schemeClr val="dk1"/>
                </a:solidFill>
              </a:rPr>
              <a:t>RF - 016  Actualización del Rendimiento Deportivo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al entrenador modificar registros de rendimiento deportivo, incluyendo evaluaciones y asistencia.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1100">
                <a:solidFill>
                  <a:schemeClr val="dk1"/>
                </a:solidFill>
              </a:rPr>
              <a:t>RF - 017 Eliminación de Registro de Rendimiento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eliminar registros de evaluaciones o asistencia en caso de errores o duplicados.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1100">
                <a:solidFill>
                  <a:schemeClr val="dk1"/>
                </a:solidFill>
              </a:rPr>
              <a:t>RF - 018 Registro de Implementos Deportivos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registrar los elementos deportivos utilizados en el club, incluyendo nombre del elemento, cantidad disponible y estado.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1100">
                <a:solidFill>
                  <a:schemeClr val="dk1"/>
                </a:solidFill>
              </a:rPr>
              <a:t>RF - 019 Solicitud de Implementos Deportivos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que los clientes soliciten elementos deportivos para los entrenamientos.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1100">
                <a:solidFill>
                  <a:schemeClr val="dk1"/>
                </a:solidFill>
              </a:rPr>
              <a:t>RF - 020 Consulta Historial de solicitudes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consultar el historial de solicitudes de elementos deportivos realizadas en el club.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1100">
                <a:solidFill>
                  <a:schemeClr val="dk1"/>
                </a:solidFill>
              </a:rPr>
              <a:t>RF - 021 Actualización de Implementos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modificar la información de los implementos deportivos registrados.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1100">
                <a:solidFill>
                  <a:schemeClr val="dk1"/>
                </a:solidFill>
              </a:rPr>
              <a:t>RF - 022 Eliminación o Inhabilitación de Implementos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eliminar o inhabilitar implementos deportivos del sistema cuando ya no estén disponibles o se hayan discontinuado.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9620261515_1_36"/>
          <p:cNvSpPr txBox="1"/>
          <p:nvPr/>
        </p:nvSpPr>
        <p:spPr>
          <a:xfrm>
            <a:off x="413436" y="416564"/>
            <a:ext cx="98157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Work Sans"/>
              <a:buNone/>
            </a:pPr>
            <a:r>
              <a:rPr b="1" lang="es-CO" sz="36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Requisitos Funcionales - </a:t>
            </a:r>
            <a:r>
              <a:rPr b="1" lang="es-CO" sz="36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Gestión</a:t>
            </a:r>
            <a:r>
              <a:rPr b="1" lang="es-CO" sz="36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de PQRS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g39620261515_1_36"/>
          <p:cNvSpPr txBox="1"/>
          <p:nvPr/>
        </p:nvSpPr>
        <p:spPr>
          <a:xfrm>
            <a:off x="11580535" y="6106250"/>
            <a:ext cx="617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CO" sz="2400"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g39620261515_1_36"/>
          <p:cNvSpPr txBox="1"/>
          <p:nvPr/>
        </p:nvSpPr>
        <p:spPr>
          <a:xfrm>
            <a:off x="413425" y="2214575"/>
            <a:ext cx="11805900" cy="32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O" sz="1100">
                <a:solidFill>
                  <a:schemeClr val="dk1"/>
                </a:solidFill>
              </a:rPr>
              <a:t>RF- 023 Registro de PQRS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a los usuarios registrar peticiones, quejas, reclamos o sugerencias dentro de la plataforma.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O" sz="1100">
                <a:solidFill>
                  <a:schemeClr val="dk1"/>
                </a:solidFill>
              </a:rPr>
              <a:t>RF- 024 Generación de Radicado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 sz="1100">
                <a:solidFill>
                  <a:schemeClr val="dk1"/>
                </a:solidFill>
              </a:rPr>
              <a:t>El sistema debe asignar automáticamente un número de radicado único a cada solicitud registrada.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O" sz="1100">
                <a:solidFill>
                  <a:schemeClr val="dk1"/>
                </a:solidFill>
              </a:rPr>
              <a:t>RF- 025 Consulta de PQRS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a los usuarios consultar información relacionada a las solicitudes registradas.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O" sz="1100">
                <a:solidFill>
                  <a:schemeClr val="dk1"/>
                </a:solidFill>
              </a:rPr>
              <a:t>RF- 026  Actualización de Registro de PQRS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actualizar el estado y la información relacionada a una solicitud.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O" sz="1100">
                <a:solidFill>
                  <a:schemeClr val="dk1"/>
                </a:solidFill>
              </a:rPr>
              <a:t>RF- 027 Respuesta de PQRS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al administrador gestionar y responder las solicitudes registradas.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O" sz="1100">
                <a:solidFill>
                  <a:schemeClr val="dk1"/>
                </a:solidFill>
              </a:rPr>
              <a:t>RF-028 </a:t>
            </a:r>
            <a:r>
              <a:rPr b="1" lang="es-CO" sz="1100">
                <a:solidFill>
                  <a:schemeClr val="dk1"/>
                </a:solidFill>
              </a:rPr>
              <a:t>Notificación</a:t>
            </a:r>
            <a:r>
              <a:rPr b="1" lang="es-CO" sz="1100">
                <a:solidFill>
                  <a:schemeClr val="dk1"/>
                </a:solidFill>
              </a:rPr>
              <a:t> de </a:t>
            </a:r>
            <a:r>
              <a:rPr b="1" lang="es-CO" sz="1100">
                <a:solidFill>
                  <a:schemeClr val="dk1"/>
                </a:solidFill>
              </a:rPr>
              <a:t>cambio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 sz="1100">
                <a:solidFill>
                  <a:schemeClr val="dk1"/>
                </a:solidFill>
              </a:rPr>
              <a:t>El sistema debe notificar al usuario cuando su solicitud haya sido respondida.</a:t>
            </a:r>
            <a:endParaRPr sz="1100">
              <a:solidFill>
                <a:schemeClr val="dk1"/>
              </a:solidFill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O" sz="1100">
                <a:solidFill>
                  <a:schemeClr val="dk1"/>
                </a:solidFill>
              </a:rPr>
              <a:t>Rf - 029 Inhabilitación de PQRS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 sz="1100">
                <a:solidFill>
                  <a:schemeClr val="dk1"/>
                </a:solidFill>
              </a:rPr>
              <a:t>El sistema debe permitir al administrador inhabilitar solicitudes de PQRS cuando sea necesario.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solidFill>
                <a:schemeClr val="dk1"/>
              </a:solidFill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4"/>
          <p:cNvSpPr/>
          <p:nvPr/>
        </p:nvSpPr>
        <p:spPr>
          <a:xfrm>
            <a:off x="3423628" y="3954050"/>
            <a:ext cx="5344743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4"/>
          <p:cNvSpPr txBox="1"/>
          <p:nvPr/>
        </p:nvSpPr>
        <p:spPr>
          <a:xfrm>
            <a:off x="2288450" y="2644050"/>
            <a:ext cx="82149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i="0" lang="es-CO" sz="4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Entregable N°1 </a:t>
            </a:r>
            <a:endParaRPr b="1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i="0" lang="es-CO" sz="4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Diagrama de casos de Uso</a:t>
            </a:r>
            <a:endParaRPr b="1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9" name="Google Shape;169;p4"/>
          <p:cNvCxnSpPr/>
          <p:nvPr/>
        </p:nvCxnSpPr>
        <p:spPr>
          <a:xfrm>
            <a:off x="2493500" y="4175550"/>
            <a:ext cx="7524600" cy="384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"/>
          <p:cNvSpPr txBox="1"/>
          <p:nvPr/>
        </p:nvSpPr>
        <p:spPr>
          <a:xfrm>
            <a:off x="456236" y="416690"/>
            <a:ext cx="98157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Diagrama de Casos de Uso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5"/>
          <p:cNvSpPr txBox="1"/>
          <p:nvPr/>
        </p:nvSpPr>
        <p:spPr>
          <a:xfrm>
            <a:off x="11580535" y="6106250"/>
            <a:ext cx="617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CO" sz="2400"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5"/>
          <p:cNvSpPr txBox="1"/>
          <p:nvPr/>
        </p:nvSpPr>
        <p:spPr>
          <a:xfrm>
            <a:off x="1374525" y="6471950"/>
            <a:ext cx="8897400" cy="21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 u="sng">
                <a:solidFill>
                  <a:srgbClr val="1155CC"/>
                </a:solidFill>
                <a:highlight>
                  <a:srgbClr val="FFFFFF"/>
                </a:highlight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https://online.visual-paradigm.com/share.jsp?id=343438333634322d37#diagram:workspace=avagosye&amp;proj=0&amp;id=7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7" name="Google Shape;177;p5" title="V.4 Diagrama UML Cheerclick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54675" y="1415275"/>
            <a:ext cx="5878276" cy="4985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2"/>
          <p:cNvSpPr txBox="1"/>
          <p:nvPr/>
        </p:nvSpPr>
        <p:spPr>
          <a:xfrm>
            <a:off x="2693025" y="2644050"/>
            <a:ext cx="70548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i="0" lang="es-CO" sz="4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Entregable N° 2 Mockups</a:t>
            </a:r>
            <a:endParaRPr b="1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3" name="Google Shape;183;p12"/>
          <p:cNvCxnSpPr/>
          <p:nvPr/>
        </p:nvCxnSpPr>
        <p:spPr>
          <a:xfrm>
            <a:off x="2458125" y="4239975"/>
            <a:ext cx="7524600" cy="384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"/>
          <p:cNvSpPr txBox="1"/>
          <p:nvPr/>
        </p:nvSpPr>
        <p:spPr>
          <a:xfrm>
            <a:off x="828875" y="296875"/>
            <a:ext cx="9933600" cy="11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Mockups - Vista principal</a:t>
            </a:r>
            <a:endParaRPr b="1" i="0" sz="36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89" name="Google Shape;189;p13"/>
          <p:cNvSpPr txBox="1"/>
          <p:nvPr/>
        </p:nvSpPr>
        <p:spPr>
          <a:xfrm>
            <a:off x="354975" y="2470350"/>
            <a:ext cx="6687900" cy="10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0" name="Google Shape;190;p13"/>
          <p:cNvCxnSpPr>
            <a:stCxn id="188" idx="1"/>
            <a:endCxn id="188" idx="3"/>
          </p:cNvCxnSpPr>
          <p:nvPr/>
        </p:nvCxnSpPr>
        <p:spPr>
          <a:xfrm>
            <a:off x="828875" y="855025"/>
            <a:ext cx="9933600" cy="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91" name="Google Shape;191;p13"/>
          <p:cNvSpPr txBox="1"/>
          <p:nvPr/>
        </p:nvSpPr>
        <p:spPr>
          <a:xfrm>
            <a:off x="11354144" y="6106250"/>
            <a:ext cx="57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s-CO" sz="2400"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74200" y="1047525"/>
            <a:ext cx="8755126" cy="5306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5"/>
          <p:cNvSpPr txBox="1"/>
          <p:nvPr/>
        </p:nvSpPr>
        <p:spPr>
          <a:xfrm>
            <a:off x="354975" y="2470350"/>
            <a:ext cx="6687900" cy="10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8" name="Google Shape;198;p15"/>
          <p:cNvCxnSpPr/>
          <p:nvPr/>
        </p:nvCxnSpPr>
        <p:spPr>
          <a:xfrm>
            <a:off x="828875" y="1220000"/>
            <a:ext cx="9933600" cy="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99" name="Google Shape;199;p15"/>
          <p:cNvSpPr txBox="1"/>
          <p:nvPr/>
        </p:nvSpPr>
        <p:spPr>
          <a:xfrm>
            <a:off x="11580534" y="6106250"/>
            <a:ext cx="503613" cy="4616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s-CO" sz="2400"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15"/>
          <p:cNvSpPr txBox="1"/>
          <p:nvPr/>
        </p:nvSpPr>
        <p:spPr>
          <a:xfrm>
            <a:off x="1129200" y="386425"/>
            <a:ext cx="9933600" cy="11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Mockups - Vista Administrador</a:t>
            </a:r>
            <a:endParaRPr b="1" i="0" sz="36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201" name="Google Shape;201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75100" y="1502725"/>
            <a:ext cx="8037550" cy="4806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9439f1cb08_5_1"/>
          <p:cNvSpPr txBox="1"/>
          <p:nvPr/>
        </p:nvSpPr>
        <p:spPr>
          <a:xfrm>
            <a:off x="354975" y="2470350"/>
            <a:ext cx="6687900" cy="10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7" name="Google Shape;207;g39439f1cb08_5_1"/>
          <p:cNvCxnSpPr/>
          <p:nvPr/>
        </p:nvCxnSpPr>
        <p:spPr>
          <a:xfrm>
            <a:off x="828875" y="1220000"/>
            <a:ext cx="9933600" cy="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08" name="Google Shape;208;g39439f1cb08_5_1"/>
          <p:cNvSpPr txBox="1"/>
          <p:nvPr/>
        </p:nvSpPr>
        <p:spPr>
          <a:xfrm>
            <a:off x="11580534" y="6106250"/>
            <a:ext cx="503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s-CO" sz="2400"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g39439f1cb08_5_1"/>
          <p:cNvSpPr txBox="1"/>
          <p:nvPr/>
        </p:nvSpPr>
        <p:spPr>
          <a:xfrm>
            <a:off x="1129200" y="386425"/>
            <a:ext cx="9933600" cy="11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Mockups - Vista Entrenador</a:t>
            </a:r>
            <a:endParaRPr b="1" i="0" sz="36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210" name="Google Shape;210;g39439f1cb08_5_1"/>
          <p:cNvSpPr txBox="1"/>
          <p:nvPr/>
        </p:nvSpPr>
        <p:spPr>
          <a:xfrm>
            <a:off x="239875" y="6057825"/>
            <a:ext cx="6687900" cy="2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Link del Mockup</a:t>
            </a:r>
            <a:br>
              <a:rPr lang="es-CO"/>
            </a:br>
            <a:r>
              <a:rPr lang="es-CO" sz="17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https://balsamiq.cloud/s2cge75/p6q0pnr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1" name="Google Shape;211;g39439f1cb08_5_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83600" y="1396700"/>
            <a:ext cx="8970559" cy="4709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6"/>
          <p:cNvSpPr txBox="1"/>
          <p:nvPr/>
        </p:nvSpPr>
        <p:spPr>
          <a:xfrm>
            <a:off x="354975" y="2470350"/>
            <a:ext cx="6687900" cy="10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7" name="Google Shape;217;p16"/>
          <p:cNvCxnSpPr/>
          <p:nvPr/>
        </p:nvCxnSpPr>
        <p:spPr>
          <a:xfrm>
            <a:off x="828875" y="1220000"/>
            <a:ext cx="9933600" cy="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18" name="Google Shape;218;p16"/>
          <p:cNvSpPr txBox="1"/>
          <p:nvPr/>
        </p:nvSpPr>
        <p:spPr>
          <a:xfrm>
            <a:off x="11580534" y="6106250"/>
            <a:ext cx="503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s-CO" sz="2400"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16"/>
          <p:cNvSpPr txBox="1"/>
          <p:nvPr/>
        </p:nvSpPr>
        <p:spPr>
          <a:xfrm>
            <a:off x="1129200" y="386425"/>
            <a:ext cx="9933600" cy="11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Mockups - Vista Deportista</a:t>
            </a:r>
            <a:endParaRPr b="1" i="0" sz="36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220" name="Google Shape;220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20800" y="1418475"/>
            <a:ext cx="9061862" cy="487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7"/>
          <p:cNvSpPr txBox="1"/>
          <p:nvPr/>
        </p:nvSpPr>
        <p:spPr>
          <a:xfrm>
            <a:off x="1203451" y="2644049"/>
            <a:ext cx="97851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i="0" lang="es-CO" sz="4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Entregable N° 3 </a:t>
            </a:r>
            <a:endParaRPr b="1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i="0" lang="es-CO" sz="4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Fichas Técnicas</a:t>
            </a:r>
            <a:endParaRPr b="1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6" name="Google Shape;226;p17"/>
          <p:cNvCxnSpPr/>
          <p:nvPr/>
        </p:nvCxnSpPr>
        <p:spPr>
          <a:xfrm>
            <a:off x="2486575" y="4439200"/>
            <a:ext cx="7524600" cy="384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0"/>
          <p:cNvSpPr txBox="1"/>
          <p:nvPr/>
        </p:nvSpPr>
        <p:spPr>
          <a:xfrm>
            <a:off x="769796" y="296879"/>
            <a:ext cx="82083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Ficha Técnica - </a:t>
            </a:r>
            <a:r>
              <a:rPr b="1" lang="es-CO" sz="3600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Consolidado</a:t>
            </a:r>
            <a:endParaRPr b="1" i="0" sz="36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232" name="Google Shape;232;p20"/>
          <p:cNvCxnSpPr/>
          <p:nvPr/>
        </p:nvCxnSpPr>
        <p:spPr>
          <a:xfrm flipH="1" rot="10800000">
            <a:off x="319746" y="1097518"/>
            <a:ext cx="8919000" cy="2310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33" name="Google Shape;233;p20"/>
          <p:cNvSpPr txBox="1"/>
          <p:nvPr/>
        </p:nvSpPr>
        <p:spPr>
          <a:xfrm>
            <a:off x="11580534" y="6106250"/>
            <a:ext cx="503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s-CO" sz="2400"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4" name="Google Shape;234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0725" y="1193293"/>
            <a:ext cx="8915400" cy="525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1"/>
          <p:cNvSpPr txBox="1"/>
          <p:nvPr/>
        </p:nvSpPr>
        <p:spPr>
          <a:xfrm>
            <a:off x="-7" y="2544912"/>
            <a:ext cx="12438000" cy="14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i="0" lang="es-CO" sz="4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Entregable N°4 </a:t>
            </a:r>
            <a:endParaRPr b="1" i="0" sz="4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i="0" lang="es-CO" sz="4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Control de versiones</a:t>
            </a:r>
            <a:endParaRPr b="1" i="0" sz="4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0" name="Google Shape;240;p21"/>
          <p:cNvCxnSpPr/>
          <p:nvPr/>
        </p:nvCxnSpPr>
        <p:spPr>
          <a:xfrm>
            <a:off x="1983725" y="4152450"/>
            <a:ext cx="8896200" cy="384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2"/>
          <p:cNvSpPr txBox="1"/>
          <p:nvPr/>
        </p:nvSpPr>
        <p:spPr>
          <a:xfrm>
            <a:off x="504300" y="511175"/>
            <a:ext cx="11183400" cy="58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3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Control de versiones - GitHub</a:t>
            </a:r>
            <a:endParaRPr b="1" i="0" sz="33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246" name="Google Shape;246;p22"/>
          <p:cNvCxnSpPr/>
          <p:nvPr/>
        </p:nvCxnSpPr>
        <p:spPr>
          <a:xfrm flipH="1" rot="10800000">
            <a:off x="419346" y="1241918"/>
            <a:ext cx="9896100" cy="3390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47" name="Google Shape;247;p22"/>
          <p:cNvSpPr txBox="1"/>
          <p:nvPr/>
        </p:nvSpPr>
        <p:spPr>
          <a:xfrm>
            <a:off x="11580534" y="6106250"/>
            <a:ext cx="503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s-CO" sz="2400"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