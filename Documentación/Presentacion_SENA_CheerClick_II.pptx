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Work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gEi3wkTB3VY2Xkfsor/dlsW9yh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Work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WorkSans-italic.fntdata"/><Relationship Id="rId30" Type="http://schemas.openxmlformats.org/officeDocument/2006/relationships/font" Target="fonts/WorkSans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Work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620261515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9620261515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620261515_1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9620261515_1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620261515_1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9620261515_1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620261515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9620261515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620261515_2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9620261515_2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620261515_2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9620261515_2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620261515_1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9620261515_1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439f1cb08_5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39439f1cb08_5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hyperlink" Target="https://balsamiq.cloud/s2cge75/p6q0pnr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946700" y="1909950"/>
            <a:ext cx="72459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CO" sz="52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Sistema de información</a:t>
            </a:r>
            <a:endParaRPr b="1" i="0" sz="52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CO" sz="52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CheerClick Systems</a:t>
            </a:r>
            <a:endParaRPr b="1" i="0" sz="52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t/>
            </a:r>
            <a:endParaRPr b="1" i="0" sz="5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03875" y="4220151"/>
            <a:ext cx="1419425" cy="163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3443550" y="2169125"/>
            <a:ext cx="5304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APRENDICES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>
            <a:off x="4972228" y="3324314"/>
            <a:ext cx="2247544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" name="Google Shape;101;p2"/>
          <p:cNvSpPr txBox="1"/>
          <p:nvPr/>
        </p:nvSpPr>
        <p:spPr>
          <a:xfrm>
            <a:off x="4168816" y="3463724"/>
            <a:ext cx="3854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Juan Sebastian Serrano Luis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Leonardo Jara Molina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Karen Tatiana Martínez González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Amy Lee Aroca Español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3354284 - ADSO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/>
        </p:nvSpPr>
        <p:spPr>
          <a:xfrm>
            <a:off x="636850" y="546825"/>
            <a:ext cx="664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36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Tabla de Contenido</a:t>
            </a:r>
            <a:endParaRPr b="1" i="0" sz="36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7" name="Google Shape;107;p3"/>
          <p:cNvCxnSpPr/>
          <p:nvPr/>
        </p:nvCxnSpPr>
        <p:spPr>
          <a:xfrm flipH="1" rot="10800000">
            <a:off x="636853" y="1333364"/>
            <a:ext cx="6564000" cy="570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" name="Google Shape;108;p3"/>
          <p:cNvSpPr txBox="1"/>
          <p:nvPr/>
        </p:nvSpPr>
        <p:spPr>
          <a:xfrm>
            <a:off x="636850" y="2110625"/>
            <a:ext cx="6075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Planteamiento del Problema                                    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 General                                                             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Objetivos específicos 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Módulos - Roles                                                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Diagrama de Casos de Uso                                                      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Casos de Uso Extendido                                                     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Mockups - Vista General                                               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Mockups - Vista Administrador     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</a:t>
            </a:r>
            <a:r>
              <a:rPr b="1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Mockups - Vista Deportista     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Mockups - Vista Entrenador     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Ficha - Consolidado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de Versiones - GitHub                                                       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9752" y="1556417"/>
            <a:ext cx="3971309" cy="39713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6171900" y="2110625"/>
            <a:ext cx="12510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620261515_1_0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Planteamiento del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9620261515_1_0"/>
          <p:cNvSpPr txBox="1"/>
          <p:nvPr/>
        </p:nvSpPr>
        <p:spPr>
          <a:xfrm>
            <a:off x="11580535" y="6106250"/>
            <a:ext cx="61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9620261515_1_0"/>
          <p:cNvSpPr txBox="1"/>
          <p:nvPr/>
        </p:nvSpPr>
        <p:spPr>
          <a:xfrm>
            <a:off x="719300" y="1675075"/>
            <a:ext cx="8070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Club Deportivo “Blood Tigers Cheers” (Bosa Centro) es un equipo de competición de cheerleading que combina gimnasia, danza y porrismo. Su enfoque está en la velocidad y la conexión fluida de elementos acrobáticos. Utiliza una técnica por niveles para asegurar el fortalecimiento y el cuidado del cuerpo, buscando la excelencia en la ejecución de cada deportista.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Actualmente el club presenta dificultades en la administración de sus actividades debido a que muchos procesos se realizan de forma manual y poco organizada esto afecta la organización de los horarios, el seguimiento del rendimiento de los atletas, las inscripciones de los deportistas y el control de los elementos deportivos además, la falta de un canal formal de PQRS limita la comunicación entre los deportistas, acudientes y la institución generando desorden en la información y un manejo poco eficiente de los recursos del club.</a:t>
            </a:r>
            <a:endParaRPr b="1" baseline="3000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g39620261515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39700" y="2449338"/>
            <a:ext cx="2366026" cy="2366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620261515_1_11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9620261515_1_11"/>
          <p:cNvSpPr txBox="1"/>
          <p:nvPr/>
        </p:nvSpPr>
        <p:spPr>
          <a:xfrm>
            <a:off x="11580535" y="6106250"/>
            <a:ext cx="61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9620261515_1_11"/>
          <p:cNvSpPr txBox="1"/>
          <p:nvPr/>
        </p:nvSpPr>
        <p:spPr>
          <a:xfrm>
            <a:off x="541975" y="2019950"/>
            <a:ext cx="7065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19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CO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 sistema de información web y móvil para el club deportivo </a:t>
            </a:r>
            <a:r>
              <a:rPr b="0" i="1" lang="es-CO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Blood Tigers Cheers</a:t>
            </a:r>
            <a:r>
              <a:rPr b="0" i="0" lang="es-CO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permita optimizar los procesos relacionados</a:t>
            </a:r>
            <a:r>
              <a:rPr lang="es-CO" sz="1700">
                <a:solidFill>
                  <a:schemeClr val="dk1"/>
                </a:solidFill>
              </a:rPr>
              <a:t> con</a:t>
            </a:r>
            <a:r>
              <a:rPr b="0" i="0" lang="es-CO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organización de horarios de </a:t>
            </a:r>
            <a:r>
              <a:rPr lang="es-CO" sz="1700">
                <a:solidFill>
                  <a:schemeClr val="dk1"/>
                </a:solidFill>
              </a:rPr>
              <a:t> </a:t>
            </a:r>
            <a:r>
              <a:rPr b="0" i="0" lang="es-CO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entrenamientos, el registro y gestión de PQRS, el seguimiento y calificación del rendimiento de los atletas, así como el control de los </a:t>
            </a:r>
            <a:r>
              <a:rPr lang="es-CO" sz="1700">
                <a:solidFill>
                  <a:schemeClr val="dk1"/>
                </a:solidFill>
              </a:rPr>
              <a:t>imp</a:t>
            </a:r>
            <a:r>
              <a:rPr b="0" i="0" lang="es-CO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lementos deportivos. Con el fin de mejorar la organización, el seguimiento de la información y la eficiencia en el desarrollo de estas actividades dentro del club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39620261515_1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5425" y="2088922"/>
            <a:ext cx="3552075" cy="25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620261515_1_19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9620261515_1_19"/>
          <p:cNvSpPr txBox="1"/>
          <p:nvPr/>
        </p:nvSpPr>
        <p:spPr>
          <a:xfrm>
            <a:off x="11580535" y="6106250"/>
            <a:ext cx="61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g39620261515_1_19" title="Objetivos Especificos - visual selection (1).png"/>
          <p:cNvPicPr preferRelativeResize="0"/>
          <p:nvPr/>
        </p:nvPicPr>
        <p:blipFill rotWithShape="1">
          <a:blip r:embed="rId4">
            <a:alphaModFix/>
          </a:blip>
          <a:srcRect b="7399" l="0" r="3670" t="0"/>
          <a:stretch/>
        </p:blipFill>
        <p:spPr>
          <a:xfrm>
            <a:off x="628225" y="1098825"/>
            <a:ext cx="10952299" cy="546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620261515_1_28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Módulos Y Roles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9620261515_1_28"/>
          <p:cNvSpPr txBox="1"/>
          <p:nvPr/>
        </p:nvSpPr>
        <p:spPr>
          <a:xfrm>
            <a:off x="11580535" y="6106250"/>
            <a:ext cx="61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g39620261515_1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3325" y="944575"/>
            <a:ext cx="3521600" cy="576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9620261515_1_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30950" y="2042825"/>
            <a:ext cx="3792476" cy="373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620261515_2_3"/>
          <p:cNvSpPr txBox="1"/>
          <p:nvPr/>
        </p:nvSpPr>
        <p:spPr>
          <a:xfrm>
            <a:off x="421986" y="1940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Requisitos Funcionales - Gestión de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9620261515_2_3"/>
          <p:cNvSpPr txBox="1"/>
          <p:nvPr/>
        </p:nvSpPr>
        <p:spPr>
          <a:xfrm>
            <a:off x="11580535" y="6106250"/>
            <a:ext cx="61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9620261515_2_3"/>
          <p:cNvSpPr txBox="1"/>
          <p:nvPr/>
        </p:nvSpPr>
        <p:spPr>
          <a:xfrm>
            <a:off x="381900" y="1547950"/>
            <a:ext cx="11428200" cy="3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RF-001- Registro de Usuarios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el registro de nuevos usuarios mediante el ingreso de información básica como nombre, correo electrónico, contraseña y rol asignado.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RF-002- Inicio de Sesión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a los usuarios autenticarse mediante correo electrónico y contraseña.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RF-003- Control de Intentos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implementar autenticación mediante correo electrónico y contraseña, permitiendo un máximo de 3 intentos fallidos consecutivos antes de bloquear temporalmente la cuenta del usuario.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RF-004- Administración de Cuentas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al administrador crear, modificar, activar o desactivar cuentas de usuarios.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RF-005- Registro de PQRS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a los usuarios registrar peticiones, quejas, reclamos o sugerencias dentro de la plataforma.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RF-006- Gestión de PQRS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al administrador consultar y responder las solicitudes registradas por los usuarios.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620261515_2_13"/>
          <p:cNvSpPr txBox="1"/>
          <p:nvPr/>
        </p:nvSpPr>
        <p:spPr>
          <a:xfrm>
            <a:off x="421986" y="1940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Requisitos Funcionales - Gestión de horarios y rendimiento deportivo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9620261515_2_13"/>
          <p:cNvSpPr txBox="1"/>
          <p:nvPr/>
        </p:nvSpPr>
        <p:spPr>
          <a:xfrm>
            <a:off x="11580535" y="6106250"/>
            <a:ext cx="61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9620261515_2_13"/>
          <p:cNvSpPr txBox="1"/>
          <p:nvPr/>
        </p:nvSpPr>
        <p:spPr>
          <a:xfrm>
            <a:off x="316350" y="1981250"/>
            <a:ext cx="115593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RF- 007 Definición de Cronograma 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configurar los días y franjas horarias de entrenamiento para cada categoría y nivel, confirmando que no existan coincidencias en el uso de espacio.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RF- 008 Consultar Horarios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generar un calendario interactivo para cada categoría, filtrando únicamente las sesiones de entrenamiento y eventos que correspondan a cada usuario.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 - 009 Modificación de Horarios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realizar cambios o cancelar los horarios de entrenamiento y torneos  por parte de los entrenadores y del administrador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 - 010 Notificación de Cambio de Horarios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realizar cambios o cancelar los horarios de entrenamiento y torneos  por parte de los entrenadores y del administrador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 - 011 Evaluación del Desempeño del Atleta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al entrenador evaluar y registrar el desempeño al igual que el progreso deportivo de cada atleta.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 - 012 Registro de Asistencia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registrar la asistencia, inasistencia o retardo de los atletas en cada sesión de entrenamiento o en caso de un torneo.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 - 013 Consulta de Progreso Deportivo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a los clientes consultar el progreso deportivo del atleta mediante el historial de evaluaciones registradas.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620261515_1_36"/>
          <p:cNvSpPr txBox="1"/>
          <p:nvPr/>
        </p:nvSpPr>
        <p:spPr>
          <a:xfrm>
            <a:off x="413436" y="117014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Requisitos Funcionales - Elementos deportivos y Inscripciones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9620261515_1_36"/>
          <p:cNvSpPr txBox="1"/>
          <p:nvPr/>
        </p:nvSpPr>
        <p:spPr>
          <a:xfrm>
            <a:off x="11580535" y="6106250"/>
            <a:ext cx="61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9620261515_1_36"/>
          <p:cNvSpPr txBox="1"/>
          <p:nvPr/>
        </p:nvSpPr>
        <p:spPr>
          <a:xfrm>
            <a:off x="276425" y="1301375"/>
            <a:ext cx="11805900" cy="56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 - 014 Registro de elementos Deportivos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registrar los elementos deportivos utilizados en el club, incluyendo nombre del elemento, cantidad disponible y estado.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 - 015 Registro de Movimiento de elementos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registrar solicitudes y  entregas de elementos deportivos utilizados en los entrenamientos.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 - 016 Solicitud de elementos Deportivos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que los clientes soliciten elementos deportivos para los entrenamientos.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 - 017 Registro de Entrada de Elementos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registrar la entrega de los elementos solicitados para los entrenamientos.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 - 018 Consulta Historial de solicitudes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consultar el historial de solicitudes de elementos deportivos realizadas en el club.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 - 019 Registro de Inscripciones</a:t>
            </a:r>
            <a:b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registrar la inscripción de un nuevo atleta mediante el ingreso de información personal y datos de contacto.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 - 020 Confirmación y Asignación Automática</a:t>
            </a:r>
            <a:b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notificar la confirmación de la inscripción del atleta y mostrar automáticamente el cronograma de entrenamiento respectivo a su categoría.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 - 021 Cancelación de Matrícula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cancelar la matrícula cuando sea requerida, por motivos personales o administrativos.</a:t>
            </a:r>
            <a:b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 - 022 Consultar inscripciones</a:t>
            </a:r>
            <a:b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consultar la lista de atletas que han realizado su proceso de  inscripción en el club.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 - 023 Estado de Pago de Mensualidades</a:t>
            </a:r>
            <a:br>
              <a:rPr b="1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debe permitir al cliente consultar el estado de pago de las mensualidades, visualizar los meses pendientes y recibir notificaciones relacionadas.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"/>
          <p:cNvSpPr/>
          <p:nvPr/>
        </p:nvSpPr>
        <p:spPr>
          <a:xfrm>
            <a:off x="3423628" y="3954050"/>
            <a:ext cx="534474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2288450" y="2644050"/>
            <a:ext cx="8214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Entregable N°1 </a:t>
            </a:r>
            <a:endParaRPr b="1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Diagrama de casos de Uso</a:t>
            </a:r>
            <a:endParaRPr b="1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4"/>
          <p:cNvCxnSpPr/>
          <p:nvPr/>
        </p:nvCxnSpPr>
        <p:spPr>
          <a:xfrm>
            <a:off x="2493500" y="4175550"/>
            <a:ext cx="7524600" cy="384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Diagrama de Casos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11580535" y="6106250"/>
            <a:ext cx="61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5" title="Diagrama casos de uso CheerClick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5475" y="1504299"/>
            <a:ext cx="6915425" cy="482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 txBox="1"/>
          <p:nvPr/>
        </p:nvSpPr>
        <p:spPr>
          <a:xfrm>
            <a:off x="456236" y="416690"/>
            <a:ext cx="9815809" cy="527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Casos de Uso Extendidos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11370869" y="6106250"/>
            <a:ext cx="55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6"/>
          <p:cNvPicPr preferRelativeResize="0"/>
          <p:nvPr/>
        </p:nvPicPr>
        <p:blipFill rotWithShape="1">
          <a:blip r:embed="rId4">
            <a:alphaModFix/>
          </a:blip>
          <a:srcRect b="27326" l="0" r="0" t="0"/>
          <a:stretch/>
        </p:blipFill>
        <p:spPr>
          <a:xfrm>
            <a:off x="980825" y="2225547"/>
            <a:ext cx="4678875" cy="407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7725" y="2133549"/>
            <a:ext cx="4282925" cy="434654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 txBox="1"/>
          <p:nvPr/>
        </p:nvSpPr>
        <p:spPr>
          <a:xfrm>
            <a:off x="235950" y="1406050"/>
            <a:ext cx="64431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Autenticar Usuario-CU002 </a:t>
            </a:r>
            <a:endParaRPr b="1" i="0" sz="3600" u="none" cap="none" strike="noStrike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/>
        </p:nvSpPr>
        <p:spPr>
          <a:xfrm>
            <a:off x="2693025" y="2644050"/>
            <a:ext cx="7054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Entregable N° 2 Mockups</a:t>
            </a:r>
            <a:endParaRPr b="1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12"/>
          <p:cNvCxnSpPr/>
          <p:nvPr/>
        </p:nvCxnSpPr>
        <p:spPr>
          <a:xfrm>
            <a:off x="2458125" y="4239975"/>
            <a:ext cx="7524600" cy="384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/>
          <p:nvPr/>
        </p:nvSpPr>
        <p:spPr>
          <a:xfrm>
            <a:off x="828875" y="296875"/>
            <a:ext cx="9933600" cy="1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Mockups - Vista principal</a:t>
            </a:r>
            <a:endParaRPr b="1" i="0" sz="3600" u="none" cap="none" strike="noStrike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354975" y="2470350"/>
            <a:ext cx="66879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13"/>
          <p:cNvCxnSpPr>
            <a:stCxn id="196" idx="1"/>
            <a:endCxn id="196" idx="3"/>
          </p:cNvCxnSpPr>
          <p:nvPr/>
        </p:nvCxnSpPr>
        <p:spPr>
          <a:xfrm>
            <a:off x="828875" y="855025"/>
            <a:ext cx="9933600" cy="0"/>
          </a:xfrm>
          <a:prstGeom prst="straightConnector1">
            <a:avLst/>
          </a:prstGeom>
          <a:noFill/>
          <a:ln cap="flat" cmpd="sng" w="12700">
            <a:solidFill>
              <a:srgbClr val="4D4D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9" name="Google Shape;199;p13"/>
          <p:cNvSpPr txBox="1"/>
          <p:nvPr/>
        </p:nvSpPr>
        <p:spPr>
          <a:xfrm>
            <a:off x="11354144" y="6106250"/>
            <a:ext cx="57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7125" y="1045700"/>
            <a:ext cx="8653475" cy="522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/>
        </p:nvSpPr>
        <p:spPr>
          <a:xfrm>
            <a:off x="354975" y="2470350"/>
            <a:ext cx="66879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15"/>
          <p:cNvCxnSpPr/>
          <p:nvPr/>
        </p:nvCxnSpPr>
        <p:spPr>
          <a:xfrm>
            <a:off x="828875" y="1220000"/>
            <a:ext cx="9933600" cy="0"/>
          </a:xfrm>
          <a:prstGeom prst="straightConnector1">
            <a:avLst/>
          </a:prstGeom>
          <a:noFill/>
          <a:ln cap="flat" cmpd="sng" w="12700">
            <a:solidFill>
              <a:srgbClr val="4D4D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7" name="Google Shape;207;p15"/>
          <p:cNvSpPr txBox="1"/>
          <p:nvPr/>
        </p:nvSpPr>
        <p:spPr>
          <a:xfrm>
            <a:off x="11580534" y="6106250"/>
            <a:ext cx="503613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1800" y="1502725"/>
            <a:ext cx="9138675" cy="491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5"/>
          <p:cNvSpPr txBox="1"/>
          <p:nvPr/>
        </p:nvSpPr>
        <p:spPr>
          <a:xfrm>
            <a:off x="1129200" y="386425"/>
            <a:ext cx="9933600" cy="1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Mockups - Vista Administrador</a:t>
            </a:r>
            <a:endParaRPr b="1" i="0" sz="3600" u="none" cap="none" strike="noStrike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 txBox="1"/>
          <p:nvPr/>
        </p:nvSpPr>
        <p:spPr>
          <a:xfrm>
            <a:off x="354975" y="2470350"/>
            <a:ext cx="66879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16"/>
          <p:cNvCxnSpPr/>
          <p:nvPr/>
        </p:nvCxnSpPr>
        <p:spPr>
          <a:xfrm>
            <a:off x="828875" y="1220000"/>
            <a:ext cx="9933600" cy="0"/>
          </a:xfrm>
          <a:prstGeom prst="straightConnector1">
            <a:avLst/>
          </a:prstGeom>
          <a:noFill/>
          <a:ln cap="flat" cmpd="sng" w="12700">
            <a:solidFill>
              <a:srgbClr val="4D4D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6" name="Google Shape;216;p16"/>
          <p:cNvSpPr txBox="1"/>
          <p:nvPr/>
        </p:nvSpPr>
        <p:spPr>
          <a:xfrm>
            <a:off x="11580534" y="6106250"/>
            <a:ext cx="50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1100" y="1502725"/>
            <a:ext cx="8958626" cy="471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6"/>
          <p:cNvSpPr txBox="1"/>
          <p:nvPr/>
        </p:nvSpPr>
        <p:spPr>
          <a:xfrm>
            <a:off x="1129200" y="386425"/>
            <a:ext cx="9933600" cy="1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Mockups - Vista Deportista</a:t>
            </a:r>
            <a:endParaRPr b="1" i="0" sz="3600" u="none" cap="none" strike="noStrike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439f1cb08_5_1"/>
          <p:cNvSpPr txBox="1"/>
          <p:nvPr/>
        </p:nvSpPr>
        <p:spPr>
          <a:xfrm>
            <a:off x="354975" y="2470350"/>
            <a:ext cx="66879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g39439f1cb08_5_1"/>
          <p:cNvCxnSpPr/>
          <p:nvPr/>
        </p:nvCxnSpPr>
        <p:spPr>
          <a:xfrm>
            <a:off x="828875" y="1220000"/>
            <a:ext cx="9933600" cy="0"/>
          </a:xfrm>
          <a:prstGeom prst="straightConnector1">
            <a:avLst/>
          </a:prstGeom>
          <a:noFill/>
          <a:ln cap="flat" cmpd="sng" w="12700">
            <a:solidFill>
              <a:srgbClr val="4D4D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5" name="Google Shape;225;g39439f1cb08_5_1"/>
          <p:cNvSpPr txBox="1"/>
          <p:nvPr/>
        </p:nvSpPr>
        <p:spPr>
          <a:xfrm>
            <a:off x="11580534" y="6106250"/>
            <a:ext cx="50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g39439f1cb08_5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7275" y="1326775"/>
            <a:ext cx="8957901" cy="473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9439f1cb08_5_1"/>
          <p:cNvSpPr txBox="1"/>
          <p:nvPr/>
        </p:nvSpPr>
        <p:spPr>
          <a:xfrm>
            <a:off x="1129200" y="386425"/>
            <a:ext cx="9933600" cy="1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Mockups - Vista Entrenador</a:t>
            </a:r>
            <a:endParaRPr b="1" i="0" sz="3600" u="none" cap="none" strike="noStrike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8" name="Google Shape;228;g39439f1cb08_5_1"/>
          <p:cNvSpPr txBox="1"/>
          <p:nvPr/>
        </p:nvSpPr>
        <p:spPr>
          <a:xfrm>
            <a:off x="239875" y="6057825"/>
            <a:ext cx="66879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 del Mockup</a:t>
            </a:r>
            <a:b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CO" sz="17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https://balsamiq.cloud/s2cge75/p6q0pnr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"/>
          <p:cNvSpPr txBox="1"/>
          <p:nvPr/>
        </p:nvSpPr>
        <p:spPr>
          <a:xfrm>
            <a:off x="1203451" y="2644049"/>
            <a:ext cx="9785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Entregable N° 3 </a:t>
            </a:r>
            <a:endParaRPr b="1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Fichas Técnicas</a:t>
            </a:r>
            <a:endParaRPr b="1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17"/>
          <p:cNvCxnSpPr/>
          <p:nvPr/>
        </p:nvCxnSpPr>
        <p:spPr>
          <a:xfrm>
            <a:off x="2486575" y="4439200"/>
            <a:ext cx="7524600" cy="384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 txBox="1"/>
          <p:nvPr/>
        </p:nvSpPr>
        <p:spPr>
          <a:xfrm>
            <a:off x="769796" y="296879"/>
            <a:ext cx="8208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Ficha Técnica - Consolidado</a:t>
            </a:r>
            <a:endParaRPr b="1" i="0" sz="3600" u="none" cap="none" strike="noStrike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240" name="Google Shape;240;p20"/>
          <p:cNvCxnSpPr/>
          <p:nvPr/>
        </p:nvCxnSpPr>
        <p:spPr>
          <a:xfrm flipH="1" rot="10800000">
            <a:off x="319746" y="1097518"/>
            <a:ext cx="8919000" cy="23100"/>
          </a:xfrm>
          <a:prstGeom prst="straightConnector1">
            <a:avLst/>
          </a:prstGeom>
          <a:noFill/>
          <a:ln cap="flat" cmpd="sng" w="12700">
            <a:solidFill>
              <a:srgbClr val="4D4D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1" name="Google Shape;241;p20"/>
          <p:cNvSpPr txBox="1"/>
          <p:nvPr/>
        </p:nvSpPr>
        <p:spPr>
          <a:xfrm>
            <a:off x="11580534" y="6106250"/>
            <a:ext cx="50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0025" y="1296393"/>
            <a:ext cx="8919904" cy="5432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 txBox="1"/>
          <p:nvPr/>
        </p:nvSpPr>
        <p:spPr>
          <a:xfrm>
            <a:off x="-7" y="2544912"/>
            <a:ext cx="124380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Entregable N°4 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de versiones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p21"/>
          <p:cNvCxnSpPr/>
          <p:nvPr/>
        </p:nvCxnSpPr>
        <p:spPr>
          <a:xfrm>
            <a:off x="1983725" y="4152450"/>
            <a:ext cx="8896200" cy="384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 txBox="1"/>
          <p:nvPr/>
        </p:nvSpPr>
        <p:spPr>
          <a:xfrm>
            <a:off x="504300" y="511175"/>
            <a:ext cx="111834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3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Control de versiones - Git Hub</a:t>
            </a:r>
            <a:endParaRPr b="1" i="0" sz="3300" u="none" cap="none" strike="noStrike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254" name="Google Shape;254;p22"/>
          <p:cNvCxnSpPr/>
          <p:nvPr/>
        </p:nvCxnSpPr>
        <p:spPr>
          <a:xfrm flipH="1" rot="10800000">
            <a:off x="419346" y="1241918"/>
            <a:ext cx="9896100" cy="33900"/>
          </a:xfrm>
          <a:prstGeom prst="straightConnector1">
            <a:avLst/>
          </a:prstGeom>
          <a:noFill/>
          <a:ln cap="flat" cmpd="sng" w="12700">
            <a:solidFill>
              <a:srgbClr val="4D4D4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5" name="Google Shape;255;p22"/>
          <p:cNvSpPr txBox="1"/>
          <p:nvPr/>
        </p:nvSpPr>
        <p:spPr>
          <a:xfrm>
            <a:off x="11580534" y="6106250"/>
            <a:ext cx="50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22"/>
          <p:cNvPicPr preferRelativeResize="0"/>
          <p:nvPr/>
        </p:nvPicPr>
        <p:blipFill rotWithShape="1">
          <a:blip r:embed="rId4">
            <a:alphaModFix/>
          </a:blip>
          <a:srcRect b="0" l="0" r="19035" t="0"/>
          <a:stretch/>
        </p:blipFill>
        <p:spPr>
          <a:xfrm>
            <a:off x="1640275" y="1488250"/>
            <a:ext cx="8803675" cy="488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